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embeddedFontLst>
    <p:embeddedFont>
      <p:font typeface="Cambria Math" panose="02040503050406030204" pitchFamily="18" charset="0"/>
      <p:regular r:id="rId41"/>
    </p:embeddedFont>
    <p:embeddedFont>
      <p:font typeface="Gill Sans" panose="020B0600000101010101" charset="0"/>
      <p:regular r:id="rId42"/>
      <p:bold r:id="rId43"/>
    </p:embeddedFont>
    <p:embeddedFont>
      <p:font typeface="Teko" panose="020B0600000101010101" charset="0"/>
      <p:regular r:id="rId44"/>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eaXH1tgZIwc4/AcQpvs/d/8fa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2CD171-C7B8-4654-8026-8EFD334CF92D}">
  <a:tblStyle styleId="{8A2CD171-C7B8-4654-8026-8EFD334CF92D}" styleName="Table_0">
    <a:wholeTbl>
      <a:tcTxStyle b="off" i="off">
        <a:font>
          <a:latin typeface="Gill Sans MT"/>
          <a:ea typeface="Gill Sans MT"/>
          <a:cs typeface="Gill Sans MT"/>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144" d="100"/>
          <a:sy n="144" d="100"/>
        </p:scale>
        <p:origin x="108"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My presentation is divided into 5 parts:</a:t>
            </a:r>
            <a:endParaRPr/>
          </a:p>
          <a:p>
            <a:pPr marL="0" lvl="0" indent="0" algn="l" rtl="0">
              <a:spcBef>
                <a:spcPts val="0"/>
              </a:spcBef>
              <a:spcAft>
                <a:spcPts val="0"/>
              </a:spcAft>
              <a:buNone/>
            </a:pPr>
            <a:r>
              <a:rPr lang="en-US"/>
              <a:t>First, Introduction: Overview about network inference in biological system</a:t>
            </a:r>
            <a:endParaRPr/>
          </a:p>
          <a:p>
            <a:pPr marL="0" lvl="0" indent="0" algn="l" rtl="0">
              <a:spcBef>
                <a:spcPts val="0"/>
              </a:spcBef>
              <a:spcAft>
                <a:spcPts val="0"/>
              </a:spcAft>
              <a:buNone/>
            </a:pPr>
            <a:r>
              <a:rPr lang="en-US"/>
              <a:t>Second….</a:t>
            </a:r>
            <a:endParaRPr/>
          </a:p>
          <a:p>
            <a:pPr marL="0" lvl="0" indent="0" algn="l" rtl="0">
              <a:spcBef>
                <a:spcPts val="0"/>
              </a:spcBef>
              <a:spcAft>
                <a:spcPts val="0"/>
              </a:spcAft>
              <a:buNone/>
            </a:pPr>
            <a:r>
              <a:rPr lang="en-US"/>
              <a:t>My presentation will last about 25 minutes, if you have any questions,  please, leave all questions at the end…</a:t>
            </a:r>
            <a:endParaRPr/>
          </a:p>
        </p:txBody>
      </p:sp>
      <p:sp>
        <p:nvSpPr>
          <p:cNvPr id="119" name="Google Shape;11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en-US"/>
              <a:t>Gene regulatory networks determine the ensemble of underlying interactions among genes</a:t>
            </a:r>
            <a:endParaRPr/>
          </a:p>
          <a:p>
            <a:pPr marL="171450" lvl="0" indent="-171450" algn="l" rtl="0">
              <a:spcBef>
                <a:spcPts val="0"/>
              </a:spcBef>
              <a:spcAft>
                <a:spcPts val="0"/>
              </a:spcAft>
              <a:buClr>
                <a:schemeClr val="dk1"/>
              </a:buClr>
              <a:buSzPts val="1200"/>
              <a:buFont typeface="Calibri"/>
              <a:buChar char="-"/>
            </a:pPr>
            <a:r>
              <a:rPr lang="en-US" sz="1200">
                <a:latin typeface="Calibri"/>
                <a:ea typeface="Calibri"/>
                <a:cs typeface="Calibri"/>
                <a:sym typeface="Calibri"/>
              </a:rPr>
              <a:t>The clarification of GRNs is extensively important to understand the functioning and pathology of organisms and it remains one of the major challenges of systems biology.</a:t>
            </a:r>
            <a:endParaRPr/>
          </a:p>
          <a:p>
            <a:pPr marL="171450" lvl="0" indent="-171450" algn="l" rtl="0">
              <a:spcBef>
                <a:spcPts val="0"/>
              </a:spcBef>
              <a:spcAft>
                <a:spcPts val="0"/>
              </a:spcAft>
              <a:buClr>
                <a:schemeClr val="dk1"/>
              </a:buClr>
              <a:buSzPts val="1200"/>
              <a:buFont typeface="Calibri"/>
              <a:buChar char="-"/>
            </a:pPr>
            <a:r>
              <a:rPr lang="en-US" sz="1200">
                <a:latin typeface="Calibri"/>
                <a:ea typeface="Calibri"/>
                <a:cs typeface="Calibri"/>
                <a:sym typeface="Calibri"/>
              </a:rPr>
              <a:t>When high throughput technology begins being exploded many methods have been proposed and have reached some maturity, but their performance remain so far from optimal. So, it needed a permanent improvement of both inference result and running time.</a:t>
            </a:r>
            <a:endParaRPr/>
          </a:p>
        </p:txBody>
      </p:sp>
      <p:sp>
        <p:nvSpPr>
          <p:cNvPr id="127" name="Google Shape;12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en-US"/>
              <a:t>Given a two-dimension micro array of real values as an input. This values are observed from real biological experiments. Look at the picture: x-axis are genes, y-axis is time-steps of observation. Example here. </a:t>
            </a:r>
            <a:endParaRPr/>
          </a:p>
          <a:p>
            <a:pPr marL="171450" lvl="0" indent="-171450" algn="l" rtl="0">
              <a:spcBef>
                <a:spcPts val="0"/>
              </a:spcBef>
              <a:spcAft>
                <a:spcPts val="0"/>
              </a:spcAft>
              <a:buClr>
                <a:schemeClr val="dk1"/>
              </a:buClr>
              <a:buSzPts val="1200"/>
              <a:buFont typeface="Calibri"/>
              <a:buChar char="-"/>
            </a:pPr>
            <a:r>
              <a:rPr lang="en-US"/>
              <a:t>The output of this system is prediction network structure. This mean we try to know which gene or group of genes are regulated by another gene or group of genes. Beside prediction of the network structure. The output also is a set of rules (functions) that explain mechanism of transformation from genes to genes.</a:t>
            </a:r>
            <a:endParaRPr/>
          </a:p>
          <a:p>
            <a:pPr marL="171450" marR="0" lvl="0" indent="-171450" algn="l" rtl="0">
              <a:lnSpc>
                <a:spcPct val="100000"/>
              </a:lnSpc>
              <a:spcBef>
                <a:spcPts val="0"/>
              </a:spcBef>
              <a:spcAft>
                <a:spcPts val="0"/>
              </a:spcAft>
              <a:buClr>
                <a:schemeClr val="dk1"/>
              </a:buClr>
              <a:buSzPts val="1200"/>
              <a:buFont typeface="Calibri"/>
              <a:buChar char="-"/>
            </a:pPr>
            <a:r>
              <a:rPr lang="en-US"/>
              <a:t>To achieve the output many different approaches from tree base methods to AI techniques are applied. </a:t>
            </a:r>
            <a:endParaRPr/>
          </a:p>
        </p:txBody>
      </p:sp>
      <p:sp>
        <p:nvSpPr>
          <p:cNvPr id="135" name="Google Shape;13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According to processing data type, it can be divided into 2 groups:</a:t>
            </a:r>
            <a:endParaRPr/>
          </a:p>
          <a:p>
            <a:pPr marL="171450" lvl="0" indent="-171450" algn="l" rtl="0">
              <a:spcBef>
                <a:spcPts val="0"/>
              </a:spcBef>
              <a:spcAft>
                <a:spcPts val="0"/>
              </a:spcAft>
              <a:buClr>
                <a:schemeClr val="dk1"/>
              </a:buClr>
              <a:buSzPts val="1200"/>
              <a:buFont typeface="Calibri"/>
              <a:buChar char="-"/>
            </a:pPr>
            <a:r>
              <a:rPr lang="en-US"/>
              <a:t>Real value used methods: In this group there are some well-known methods such as GENIE3, MRNET, TIGRESS or NARROMI. This approaches uses directly continuous values, so don’t need any representative data methods, so that there is no information loss in this kind of approaches. However, this models costs inference time and are sensitive to data noise.</a:t>
            </a:r>
            <a:endParaRPr/>
          </a:p>
          <a:p>
            <a:pPr marL="171450" lvl="0" indent="-171450" algn="l" rtl="0">
              <a:spcBef>
                <a:spcPts val="0"/>
              </a:spcBef>
              <a:spcAft>
                <a:spcPts val="0"/>
              </a:spcAft>
              <a:buClr>
                <a:schemeClr val="dk1"/>
              </a:buClr>
              <a:buSzPts val="1200"/>
              <a:buFont typeface="Calibri"/>
              <a:buChar char="-"/>
            </a:pPr>
            <a:r>
              <a:rPr lang="en-US"/>
              <a:t>To speed up the inference process and handling the noise sensitivity, Boolean models are widely used when real valued data are represented by 0 and 1. 0 mean off or inhibition state, 1 denotes on or activation state. Some well-known methods can be mentioned like MIBNI, or GABNI. These models costs less inference time and less sensitive to data noise. But the main drawback is information loss due to simplicity of data representation. </a:t>
            </a:r>
            <a:endParaRPr/>
          </a:p>
        </p:txBody>
      </p:sp>
      <p:sp>
        <p:nvSpPr>
          <p:cNvPr id="167" name="Google Shape;16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To handle all mentioned above problems, a new approach is needed, and this also leads to our method motivation.</a:t>
            </a:r>
            <a:endParaRPr/>
          </a:p>
          <a:p>
            <a:pPr marL="0" marR="0" lvl="0" indent="0" algn="l" rtl="0">
              <a:lnSpc>
                <a:spcPct val="100000"/>
              </a:lnSpc>
              <a:spcBef>
                <a:spcPts val="0"/>
              </a:spcBef>
              <a:spcAft>
                <a:spcPts val="0"/>
              </a:spcAft>
              <a:buClr>
                <a:schemeClr val="dk1"/>
              </a:buClr>
              <a:buSzPts val="1200"/>
              <a:buFont typeface="Calibri"/>
              <a:buNone/>
            </a:pPr>
            <a:r>
              <a:rPr lang="en-US"/>
              <a:t>First, The new method should speed up…</a:t>
            </a:r>
            <a:endParaRPr/>
          </a:p>
          <a:p>
            <a:pPr marL="0" marR="0" lvl="0" indent="0" algn="l" rtl="0">
              <a:lnSpc>
                <a:spcPct val="100000"/>
              </a:lnSpc>
              <a:spcBef>
                <a:spcPts val="0"/>
              </a:spcBef>
              <a:spcAft>
                <a:spcPts val="0"/>
              </a:spcAft>
              <a:buClr>
                <a:schemeClr val="dk1"/>
              </a:buClr>
              <a:buSzPts val="1200"/>
              <a:buFont typeface="Calibri"/>
              <a:buNone/>
            </a:pPr>
            <a:r>
              <a:rPr lang="en-US"/>
              <a:t>Second, the new method should overcome information loss in Boolean models</a:t>
            </a:r>
            <a:endParaRPr/>
          </a:p>
          <a:p>
            <a:pPr marL="0" marR="0" lvl="0" indent="0" algn="l" rtl="0">
              <a:lnSpc>
                <a:spcPct val="100000"/>
              </a:lnSpc>
              <a:spcBef>
                <a:spcPts val="0"/>
              </a:spcBef>
              <a:spcAft>
                <a:spcPts val="0"/>
              </a:spcAft>
              <a:buClr>
                <a:schemeClr val="dk1"/>
              </a:buClr>
              <a:buSzPts val="1200"/>
              <a:buFont typeface="Calibri"/>
              <a:buNone/>
            </a:pPr>
            <a:r>
              <a:rPr lang="en-US"/>
              <a:t>And finally, the method should enhance…</a:t>
            </a:r>
            <a:endParaRPr/>
          </a:p>
        </p:txBody>
      </p:sp>
      <p:sp>
        <p:nvSpPr>
          <p:cNvPr id="204" name="Google Shape;20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Our proposed model can be described as consisting of 3 stages:</a:t>
            </a:r>
            <a:endParaRPr/>
          </a:p>
          <a:p>
            <a:pPr marL="0" lvl="0" indent="0" algn="l" rtl="0">
              <a:spcBef>
                <a:spcPts val="0"/>
              </a:spcBef>
              <a:spcAft>
                <a:spcPts val="0"/>
              </a:spcAft>
              <a:buNone/>
            </a:pPr>
            <a:r>
              <a:rPr lang="en-US"/>
              <a:t>First, we will present the discretization network model</a:t>
            </a:r>
            <a:endParaRPr/>
          </a:p>
          <a:p>
            <a:pPr marL="0" lvl="0" indent="0" algn="l" rtl="0">
              <a:spcBef>
                <a:spcPts val="0"/>
              </a:spcBef>
              <a:spcAft>
                <a:spcPts val="0"/>
              </a:spcAft>
              <a:buNone/>
            </a:pPr>
            <a:r>
              <a:rPr lang="en-US"/>
              <a:t>Second, Inference algorithm</a:t>
            </a:r>
            <a:endParaRPr/>
          </a:p>
          <a:p>
            <a:pPr marL="0" lvl="0" indent="0" algn="l" rtl="0">
              <a:spcBef>
                <a:spcPts val="0"/>
              </a:spcBef>
              <a:spcAft>
                <a:spcPts val="0"/>
              </a:spcAft>
              <a:buNone/>
            </a:pPr>
            <a:r>
              <a:rPr lang="en-US"/>
              <a:t>And the last is evaluation modules</a:t>
            </a:r>
            <a:endParaRPr/>
          </a:p>
        </p:txBody>
      </p:sp>
      <p:sp>
        <p:nvSpPr>
          <p:cNvPr id="224" name="Google Shape;22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Before going to our model, we have a quick look at discretization network model, some basic concepts:</a:t>
            </a:r>
            <a:endParaRPr/>
          </a:p>
          <a:p>
            <a:pPr marL="171450" lvl="0" indent="-171450" algn="l" rtl="0">
              <a:spcBef>
                <a:spcPts val="0"/>
              </a:spcBef>
              <a:spcAft>
                <a:spcPts val="0"/>
              </a:spcAft>
              <a:buClr>
                <a:schemeClr val="dk1"/>
              </a:buClr>
              <a:buSzPts val="1200"/>
              <a:buFont typeface="Calibri"/>
              <a:buChar char="-"/>
            </a:pPr>
            <a:r>
              <a:rPr lang="en-US"/>
              <a:t>A discretized network is represented by a directed graph as you see at the picture on the right hand. </a:t>
            </a:r>
            <a:endParaRPr/>
          </a:p>
          <a:p>
            <a:pPr marL="171450" lvl="0" indent="-171450" algn="l" rtl="0">
              <a:spcBef>
                <a:spcPts val="0"/>
              </a:spcBef>
              <a:spcAft>
                <a:spcPts val="0"/>
              </a:spcAft>
              <a:buClr>
                <a:schemeClr val="dk1"/>
              </a:buClr>
              <a:buSzPts val="1200"/>
              <a:buFont typeface="Calibri"/>
              <a:buChar char="-"/>
            </a:pPr>
            <a:r>
              <a:rPr lang="en-US"/>
              <a:t>We have a set V, that contains all nodes of the network</a:t>
            </a:r>
            <a:endParaRPr/>
          </a:p>
          <a:p>
            <a:pPr marL="171450" lvl="0" indent="-171450" algn="l" rtl="0">
              <a:spcBef>
                <a:spcPts val="0"/>
              </a:spcBef>
              <a:spcAft>
                <a:spcPts val="0"/>
              </a:spcAft>
              <a:buClr>
                <a:schemeClr val="dk1"/>
              </a:buClr>
              <a:buSzPts val="1200"/>
              <a:buFont typeface="Calibri"/>
              <a:buChar char="-"/>
            </a:pPr>
            <a:r>
              <a:rPr lang="en-US"/>
              <a:t>a set A that is a set of interactions between nodes. </a:t>
            </a:r>
            <a:endParaRPr/>
          </a:p>
          <a:p>
            <a:pPr marL="171450" lvl="0" indent="-171450" algn="l" rtl="0">
              <a:spcBef>
                <a:spcPts val="0"/>
              </a:spcBef>
              <a:spcAft>
                <a:spcPts val="0"/>
              </a:spcAft>
              <a:buClr>
                <a:schemeClr val="dk1"/>
              </a:buClr>
              <a:buSzPts val="1200"/>
              <a:buFont typeface="Calibri"/>
              <a:buChar char="-"/>
            </a:pPr>
            <a:r>
              <a:rPr lang="en-US"/>
              <a:t>A state value of node g at time t is represented by l discrete values ranging from 0 to l-1</a:t>
            </a:r>
            <a:endParaRPr/>
          </a:p>
          <a:p>
            <a:pPr marL="171450" lvl="0" indent="-171450" algn="l" rtl="0">
              <a:spcBef>
                <a:spcPts val="0"/>
              </a:spcBef>
              <a:spcAft>
                <a:spcPts val="0"/>
              </a:spcAft>
              <a:buClr>
                <a:schemeClr val="dk1"/>
              </a:buClr>
              <a:buSzPts val="1200"/>
              <a:buFont typeface="Calibri"/>
              <a:buChar char="-"/>
            </a:pPr>
            <a:r>
              <a:rPr lang="en-US"/>
              <a:t>Supposed a target node g which is regulated by k other genes from u1 to uk. So the value node g at time t+1 is updated by a discrete function as showing on the screen. </a:t>
            </a:r>
            <a:endParaRPr/>
          </a:p>
        </p:txBody>
      </p:sp>
      <p:sp>
        <p:nvSpPr>
          <p:cNvPr id="232" name="Google Shape;23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The inference performance can be evaluated by comparing the trajectory generated by the inferred network and the observed time-series gene expression. Let </a:t>
            </a:r>
            <a:r>
              <a:rPr lang="en-US" sz="1800" i="0">
                <a:latin typeface="Cambria Math"/>
                <a:ea typeface="Cambria Math"/>
                <a:cs typeface="Cambria Math"/>
                <a:sym typeface="Cambria Math"/>
              </a:rPr>
              <a:t>𝑣′(𝑡)</a:t>
            </a:r>
            <a:r>
              <a:rPr lang="en-US" sz="1800">
                <a:latin typeface="Times New Roman"/>
                <a:ea typeface="Times New Roman"/>
                <a:cs typeface="Times New Roman"/>
                <a:sym typeface="Times New Roman"/>
              </a:rPr>
              <a:t> the predicted value of the gene </a:t>
            </a:r>
            <a:r>
              <a:rPr lang="en-US" sz="1800" i="0">
                <a:latin typeface="Cambria Math"/>
                <a:ea typeface="Cambria Math"/>
                <a:cs typeface="Cambria Math"/>
                <a:sym typeface="Cambria Math"/>
              </a:rPr>
              <a:t>𝑣</a:t>
            </a:r>
            <a:r>
              <a:rPr lang="en-US" sz="1800">
                <a:latin typeface="Times New Roman"/>
                <a:ea typeface="Times New Roman"/>
                <a:cs typeface="Times New Roman"/>
                <a:sym typeface="Times New Roman"/>
              </a:rPr>
              <a:t> at time </a:t>
            </a:r>
            <a:r>
              <a:rPr lang="en-US" sz="1800" i="0">
                <a:latin typeface="Cambria Math"/>
                <a:ea typeface="Cambria Math"/>
                <a:cs typeface="Cambria Math"/>
                <a:sym typeface="Cambria Math"/>
              </a:rPr>
              <a:t>𝑡</a:t>
            </a:r>
            <a:r>
              <a:rPr lang="en-US" sz="1800">
                <a:latin typeface="Times New Roman"/>
                <a:ea typeface="Times New Roman"/>
                <a:cs typeface="Times New Roman"/>
                <a:sym typeface="Times New Roman"/>
              </a:rPr>
              <a:t> in the inferred discretization network. We define the gene-wise dynamics consistency </a:t>
            </a:r>
            <a:r>
              <a:rPr lang="en-US" sz="1800" i="0">
                <a:latin typeface="Cambria Math"/>
                <a:ea typeface="Cambria Math"/>
                <a:cs typeface="Cambria Math"/>
                <a:sym typeface="Cambria Math"/>
              </a:rPr>
              <a:t>𝐶(𝑣, 𝑣′)</a:t>
            </a:r>
            <a:r>
              <a:rPr lang="en-US" sz="1800">
                <a:latin typeface="Times New Roman"/>
                <a:ea typeface="Times New Roman"/>
                <a:cs typeface="Times New Roman"/>
                <a:sym typeface="Times New Roman"/>
              </a:rPr>
              <a:t> as the similarity between the discretization trajectories of the observed gene expression </a:t>
            </a:r>
            <a:r>
              <a:rPr lang="en-US" sz="1800" i="0">
                <a:latin typeface="Cambria Math"/>
                <a:ea typeface="Cambria Math"/>
                <a:cs typeface="Cambria Math"/>
                <a:sym typeface="Cambria Math"/>
              </a:rPr>
              <a:t>𝑣(𝑡)</a:t>
            </a:r>
            <a:r>
              <a:rPr lang="en-US" sz="1800">
                <a:latin typeface="Times New Roman"/>
                <a:ea typeface="Times New Roman"/>
                <a:cs typeface="Times New Roman"/>
                <a:sym typeface="Times New Roman"/>
              </a:rPr>
              <a:t> and the estimated gene expression </a:t>
            </a:r>
            <a:r>
              <a:rPr lang="en-US" sz="1800" i="0">
                <a:latin typeface="Cambria Math"/>
                <a:ea typeface="Cambria Math"/>
                <a:cs typeface="Cambria Math"/>
                <a:sym typeface="Cambria Math"/>
              </a:rPr>
              <a:t>𝑣′(𝑡)</a:t>
            </a:r>
            <a:r>
              <a:rPr lang="en-US" sz="1800">
                <a:latin typeface="Times New Roman"/>
                <a:ea typeface="Times New Roman"/>
                <a:cs typeface="Times New Roman"/>
                <a:sym typeface="Times New Roman"/>
              </a:rPr>
              <a:t>, as follows:</a:t>
            </a:r>
            <a:endParaRPr/>
          </a:p>
          <a:p>
            <a:pPr marL="0" lvl="0" indent="0" algn="l" rtl="0">
              <a:spcBef>
                <a:spcPts val="0"/>
              </a:spcBef>
              <a:spcAft>
                <a:spcPts val="0"/>
              </a:spcAft>
              <a:buNone/>
            </a:pPr>
            <a:endParaRPr/>
          </a:p>
        </p:txBody>
      </p:sp>
      <p:sp>
        <p:nvSpPr>
          <p:cNvPr id="264" name="Google Shape;26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two dimension-micro array of real values as an input observed from the input network(this network is unseen). </a:t>
            </a:r>
            <a:endParaRPr/>
          </a:p>
          <a:p>
            <a:pPr marL="171450" lvl="0" indent="-171450" algn="l" rtl="0">
              <a:spcBef>
                <a:spcPts val="0"/>
              </a:spcBef>
              <a:spcAft>
                <a:spcPts val="0"/>
              </a:spcAft>
              <a:buClr>
                <a:schemeClr val="dk1"/>
              </a:buClr>
              <a:buSzPts val="1200"/>
              <a:buFont typeface="Calibri"/>
              <a:buChar char="-"/>
            </a:pPr>
            <a:r>
              <a:rPr lang="en-US"/>
              <a:t>This input array is converted into a discretized expression dataset using the K-means discretization algorithm. </a:t>
            </a:r>
            <a:endParaRPr/>
          </a:p>
          <a:p>
            <a:pPr marL="171450" lvl="0" indent="-171450" algn="l" rtl="0">
              <a:spcBef>
                <a:spcPts val="0"/>
              </a:spcBef>
              <a:spcAft>
                <a:spcPts val="0"/>
              </a:spcAft>
              <a:buClr>
                <a:schemeClr val="dk1"/>
              </a:buClr>
              <a:buSzPts val="1200"/>
              <a:buFont typeface="Calibri"/>
              <a:buChar char="-"/>
            </a:pPr>
            <a:r>
              <a:rPr lang="en-US"/>
              <a:t>K value is determined based on the validity index for each gene. In this study k might equal to 2 or three depending upon distribution of every gene.</a:t>
            </a:r>
            <a:endParaRPr/>
          </a:p>
          <a:p>
            <a:pPr marL="171450" lvl="0" indent="-171450" algn="l" rtl="0">
              <a:spcBef>
                <a:spcPts val="0"/>
              </a:spcBef>
              <a:spcAft>
                <a:spcPts val="0"/>
              </a:spcAft>
              <a:buClr>
                <a:schemeClr val="dk1"/>
              </a:buClr>
              <a:buSzPts val="1200"/>
              <a:buFont typeface="Calibri"/>
              <a:buChar char="-"/>
            </a:pPr>
            <a:r>
              <a:rPr lang="en-US"/>
              <a:t>The data is then fed into MIFS and SWAP subroutines. </a:t>
            </a:r>
            <a:endParaRPr/>
          </a:p>
          <a:p>
            <a:pPr marL="171450" lvl="0" indent="-171450" algn="l" rtl="0">
              <a:spcBef>
                <a:spcPts val="0"/>
              </a:spcBef>
              <a:spcAft>
                <a:spcPts val="0"/>
              </a:spcAft>
              <a:buClr>
                <a:schemeClr val="dk1"/>
              </a:buClr>
              <a:buSzPts val="1200"/>
              <a:buFont typeface="Calibri"/>
              <a:buChar char="-"/>
            </a:pPr>
            <a:r>
              <a:rPr lang="en-US"/>
              <a:t>The output is the sets of regulatory genes for genes of the input network. Based on this result, we will reconstruct the network as a prediction network. From this prediction network we also get inferred discretized values.</a:t>
            </a:r>
            <a:endParaRPr/>
          </a:p>
          <a:p>
            <a:pPr marL="171450" lvl="0" indent="-171450" algn="l" rtl="0">
              <a:spcBef>
                <a:spcPts val="0"/>
              </a:spcBef>
              <a:spcAft>
                <a:spcPts val="0"/>
              </a:spcAft>
              <a:buClr>
                <a:schemeClr val="dk1"/>
              </a:buClr>
              <a:buSzPts val="1200"/>
              <a:buFont typeface="Calibri"/>
              <a:buChar char="-"/>
            </a:pPr>
            <a:r>
              <a:rPr lang="en-US"/>
              <a:t>At the evaluation stage, we compares two network structures to get structural accuracy and for dynamics accuracy by comparing two matrices of discretized values </a:t>
            </a:r>
            <a:endParaRPr/>
          </a:p>
        </p:txBody>
      </p:sp>
      <p:sp>
        <p:nvSpPr>
          <p:cNvPr id="280" name="Google Shape;28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Calibri"/>
              <a:buChar char="-"/>
            </a:pPr>
            <a:r>
              <a:rPr lang="en-US"/>
              <a:t>As mentioned above, in our study, the level discretization of genes in the input network might be two or three. To determine the optimal this value the validity index is applied. And it is a ratio of Intra over Inter value.</a:t>
            </a:r>
            <a:endParaRPr/>
          </a:p>
          <a:p>
            <a:pPr marL="171450" marR="0" lvl="0" indent="-171450" algn="l" rtl="0">
              <a:lnSpc>
                <a:spcPct val="100000"/>
              </a:lnSpc>
              <a:spcBef>
                <a:spcPts val="0"/>
              </a:spcBef>
              <a:spcAft>
                <a:spcPts val="0"/>
              </a:spcAft>
              <a:buClr>
                <a:schemeClr val="dk1"/>
              </a:buClr>
              <a:buSzPts val="1200"/>
              <a:buFont typeface="Calibri"/>
              <a:buChar char="-"/>
            </a:pPr>
            <a:r>
              <a:rPr lang="en-US"/>
              <a:t>The Intra value is an average of distances between points and its centroids in power 2</a:t>
            </a:r>
            <a:endParaRPr/>
          </a:p>
          <a:p>
            <a:pPr marL="171450" marR="0" lvl="0" indent="-171450" algn="l" rtl="0">
              <a:lnSpc>
                <a:spcPct val="100000"/>
              </a:lnSpc>
              <a:spcBef>
                <a:spcPts val="0"/>
              </a:spcBef>
              <a:spcAft>
                <a:spcPts val="0"/>
              </a:spcAft>
              <a:buClr>
                <a:schemeClr val="dk1"/>
              </a:buClr>
              <a:buSzPts val="1200"/>
              <a:buFont typeface="Calibri"/>
              <a:buChar char="-"/>
            </a:pPr>
            <a:r>
              <a:rPr lang="en-US"/>
              <a:t>The Inter value is minimum of distance between two different centroids in power 2</a:t>
            </a:r>
            <a:endParaRPr/>
          </a:p>
          <a:p>
            <a:pPr marL="171450" marR="0" lvl="0" indent="-171450" algn="l" rtl="0">
              <a:lnSpc>
                <a:spcPct val="100000"/>
              </a:lnSpc>
              <a:spcBef>
                <a:spcPts val="0"/>
              </a:spcBef>
              <a:spcAft>
                <a:spcPts val="0"/>
              </a:spcAft>
              <a:buClr>
                <a:schemeClr val="dk1"/>
              </a:buClr>
              <a:buSzPts val="1200"/>
              <a:buFont typeface="Calibri"/>
              <a:buChar char="-"/>
            </a:pPr>
            <a:r>
              <a:rPr lang="en-US"/>
              <a:t>The optimal level discretization of gene will be chosen so that to minimize the validity index</a:t>
            </a: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357" name="Google Shape;35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en-US"/>
              <a:t>For each target gene g0, MIFS select a set of k potential regulator genes. The value K is a user determined-parameter. In this study, K maximum is 8.</a:t>
            </a:r>
            <a:endParaRPr/>
          </a:p>
          <a:p>
            <a:pPr marL="171450" lvl="0" indent="-171450" algn="l" rtl="0">
              <a:spcBef>
                <a:spcPts val="0"/>
              </a:spcBef>
              <a:spcAft>
                <a:spcPts val="0"/>
              </a:spcAft>
              <a:buClr>
                <a:schemeClr val="dk1"/>
              </a:buClr>
              <a:buSzPts val="1200"/>
              <a:buFont typeface="Calibri"/>
              <a:buChar char="-"/>
            </a:pPr>
            <a:r>
              <a:rPr lang="en-US"/>
              <a:t>MIFS can be described with 3 steps:</a:t>
            </a:r>
            <a:endParaRPr/>
          </a:p>
          <a:p>
            <a:pPr marL="628650" lvl="1" indent="-171450" algn="l" rtl="0">
              <a:spcBef>
                <a:spcPts val="0"/>
              </a:spcBef>
              <a:spcAft>
                <a:spcPts val="0"/>
              </a:spcAft>
              <a:buClr>
                <a:schemeClr val="dk1"/>
              </a:buClr>
              <a:buSzPts val="1200"/>
              <a:buFont typeface="Calibri"/>
              <a:buChar char="-"/>
            </a:pPr>
            <a:r>
              <a:rPr lang="en-US"/>
              <a:t>Step1: select a gene that maximizes the mutual information with g0</a:t>
            </a:r>
            <a:endParaRPr/>
          </a:p>
          <a:p>
            <a:pPr marL="628650" lvl="1" indent="-171450" algn="l" rtl="0">
              <a:spcBef>
                <a:spcPts val="0"/>
              </a:spcBef>
              <a:spcAft>
                <a:spcPts val="0"/>
              </a:spcAft>
              <a:buClr>
                <a:schemeClr val="dk1"/>
              </a:buClr>
              <a:buSzPts val="1200"/>
              <a:buFont typeface="Calibri"/>
              <a:buChar char="-"/>
            </a:pPr>
            <a:r>
              <a:rPr lang="en-US"/>
              <a:t>Next gene that have maximizes this equation, the first one is mutual information between the next candidate and the target gene, and second one is the approximate dependency of the next candidate and the set of already selected candidates</a:t>
            </a:r>
            <a:endParaRPr/>
          </a:p>
          <a:p>
            <a:pPr marL="628650" lvl="1" indent="-171450" algn="l" rtl="0">
              <a:spcBef>
                <a:spcPts val="0"/>
              </a:spcBef>
              <a:spcAft>
                <a:spcPts val="0"/>
              </a:spcAft>
              <a:buClr>
                <a:schemeClr val="dk1"/>
              </a:buClr>
              <a:buSzPts val="1200"/>
              <a:buFont typeface="Calibri"/>
              <a:buChar char="-"/>
            </a:pPr>
            <a:r>
              <a:rPr lang="en-US"/>
              <a:t>Repeat step 2 until the desired number k candidate has been chosen.</a:t>
            </a:r>
            <a:endParaRPr/>
          </a:p>
        </p:txBody>
      </p:sp>
      <p:sp>
        <p:nvSpPr>
          <p:cNvPr id="369" name="Google Shape;36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en-US"/>
              <a:t>The main drawback of MIFS subroutine is that it does not compute the exact multivariate mutual information, and it often fails to find the optimal set of regulatory variables.</a:t>
            </a:r>
            <a:endParaRPr/>
          </a:p>
          <a:p>
            <a:pPr marL="171450" lvl="0" indent="-171450" algn="l" rtl="0">
              <a:spcBef>
                <a:spcPts val="0"/>
              </a:spcBef>
              <a:spcAft>
                <a:spcPts val="0"/>
              </a:spcAft>
              <a:buClr>
                <a:schemeClr val="dk1"/>
              </a:buClr>
              <a:buSzPts val="1200"/>
              <a:buFont typeface="Calibri"/>
              <a:buChar char="-"/>
            </a:pPr>
            <a:r>
              <a:rPr lang="en-US"/>
              <a:t>To overcome this problem, we propose a simple iterative SWAP subroutine to improve the dynamics accuracy by swapping the same number of variables between the sets of selected and unselected variables.</a:t>
            </a:r>
            <a:endParaRPr/>
          </a:p>
          <a:p>
            <a:pPr marL="171450" lvl="0" indent="-171450" algn="l" rtl="0">
              <a:spcBef>
                <a:spcPts val="0"/>
              </a:spcBef>
              <a:spcAft>
                <a:spcPts val="0"/>
              </a:spcAft>
              <a:buClr>
                <a:schemeClr val="dk1"/>
              </a:buClr>
              <a:buSzPts val="1200"/>
              <a:buFont typeface="Calibri"/>
              <a:buChar char="-"/>
            </a:pPr>
            <a:r>
              <a:rPr lang="en-US"/>
              <a:t>The swapping process is repeated until the gene-wise dynamics consistency reaching 1.0 (mean there is no more improvement) or the number of potential candidates in the selected set equals k</a:t>
            </a:r>
            <a:endParaRPr/>
          </a:p>
        </p:txBody>
      </p:sp>
      <p:sp>
        <p:nvSpPr>
          <p:cNvPr id="377" name="Google Shape;37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en-US"/>
              <a:t>All modules were implemented entirely in Python and C#</a:t>
            </a:r>
            <a:endParaRPr/>
          </a:p>
          <a:p>
            <a:pPr marL="171450" lvl="0" indent="-171450" algn="l" rtl="0">
              <a:spcBef>
                <a:spcPts val="0"/>
              </a:spcBef>
              <a:spcAft>
                <a:spcPts val="0"/>
              </a:spcAft>
              <a:buClr>
                <a:schemeClr val="dk1"/>
              </a:buClr>
              <a:buSzPts val="1200"/>
              <a:buFont typeface="Calibri"/>
              <a:buChar char="-"/>
            </a:pPr>
            <a:r>
              <a:rPr lang="en-US"/>
              <a:t>And all source code files are now available online at..</a:t>
            </a:r>
            <a:endParaRPr/>
          </a:p>
        </p:txBody>
      </p:sp>
      <p:sp>
        <p:nvSpPr>
          <p:cNvPr id="409" name="Google Shape;40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 name="Google Shape;424;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en-US"/>
              <a:t>We first examined the proportion of three-level discretized genes in the networks. </a:t>
            </a:r>
            <a:endParaRPr/>
          </a:p>
          <a:p>
            <a:pPr marL="171450" lvl="0" indent="-171450" algn="l" rtl="0">
              <a:spcBef>
                <a:spcPts val="0"/>
              </a:spcBef>
              <a:spcAft>
                <a:spcPts val="0"/>
              </a:spcAft>
              <a:buClr>
                <a:schemeClr val="dk1"/>
              </a:buClr>
              <a:buSzPts val="1200"/>
              <a:buFont typeface="Calibri"/>
              <a:buChar char="-"/>
            </a:pPr>
            <a:r>
              <a:rPr lang="en-US"/>
              <a:t>As shown in the figure, the proportions of the binarized and three-level discretized genes are considerably similar to each other.</a:t>
            </a:r>
            <a:endParaRPr/>
          </a:p>
          <a:p>
            <a:pPr marL="171450" lvl="0" indent="-171450" algn="l" rtl="0">
              <a:spcBef>
                <a:spcPts val="0"/>
              </a:spcBef>
              <a:spcAft>
                <a:spcPts val="0"/>
              </a:spcAft>
              <a:buClr>
                <a:schemeClr val="dk1"/>
              </a:buClr>
              <a:buSzPts val="1200"/>
              <a:buFont typeface="Calibri"/>
              <a:buChar char="-"/>
            </a:pPr>
            <a:r>
              <a:rPr lang="en-US"/>
              <a:t>This implies that three-level discretization is observed as frequently as two-level discretization in our method.</a:t>
            </a:r>
            <a:endParaRPr/>
          </a:p>
        </p:txBody>
      </p:sp>
      <p:sp>
        <p:nvSpPr>
          <p:cNvPr id="425" name="Google Shape;425;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3" name="Google Shape;43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en-US"/>
              <a:t>This figure shows the method performance on artificial discretized dataset with four evaluation metrics:</a:t>
            </a:r>
            <a:endParaRPr/>
          </a:p>
          <a:p>
            <a:pPr marL="171450" lvl="0" indent="-171450" algn="l" rtl="0">
              <a:spcBef>
                <a:spcPts val="0"/>
              </a:spcBef>
              <a:spcAft>
                <a:spcPts val="0"/>
              </a:spcAft>
              <a:buClr>
                <a:schemeClr val="dk1"/>
              </a:buClr>
              <a:buSzPts val="1200"/>
              <a:buFont typeface="Calibri"/>
              <a:buChar char="-"/>
            </a:pPr>
            <a:r>
              <a:rPr lang="en-US"/>
              <a:t>X-axis means the network size from 10 to 200, y-axis shows the average of each performance metric.</a:t>
            </a:r>
            <a:endParaRPr/>
          </a:p>
          <a:p>
            <a:pPr marL="171450" lvl="0" indent="-171450" algn="l" rtl="0">
              <a:spcBef>
                <a:spcPts val="0"/>
              </a:spcBef>
              <a:spcAft>
                <a:spcPts val="0"/>
              </a:spcAft>
              <a:buClr>
                <a:schemeClr val="dk1"/>
              </a:buClr>
              <a:buSzPts val="1200"/>
              <a:buFont typeface="Calibri"/>
              <a:buChar char="-"/>
            </a:pPr>
            <a:r>
              <a:rPr lang="en-US"/>
              <a:t>Look at the figure we can se that:</a:t>
            </a:r>
            <a:endParaRPr/>
          </a:p>
          <a:p>
            <a:pPr marL="628650" lvl="1" indent="-171450" algn="l" rtl="0">
              <a:spcBef>
                <a:spcPts val="0"/>
              </a:spcBef>
              <a:spcAft>
                <a:spcPts val="0"/>
              </a:spcAft>
              <a:buClr>
                <a:schemeClr val="dk1"/>
              </a:buClr>
              <a:buSzPts val="1200"/>
              <a:buFont typeface="Calibri"/>
              <a:buChar char="-"/>
            </a:pPr>
            <a:r>
              <a:rPr lang="en-US"/>
              <a:t>Dynamics accuracy always reached perfectly at 1.0 within all network sizes</a:t>
            </a:r>
            <a:endParaRPr/>
          </a:p>
          <a:p>
            <a:pPr marL="628650" lvl="1" indent="-171450" algn="l" rtl="0">
              <a:spcBef>
                <a:spcPts val="0"/>
              </a:spcBef>
              <a:spcAft>
                <a:spcPts val="0"/>
              </a:spcAft>
              <a:buClr>
                <a:schemeClr val="dk1"/>
              </a:buClr>
              <a:buSzPts val="1200"/>
              <a:buFont typeface="Calibri"/>
              <a:buChar char="-"/>
            </a:pPr>
            <a:r>
              <a:rPr lang="en-US"/>
              <a:t>Structural accuracy is over 0.9</a:t>
            </a:r>
            <a:endParaRPr/>
          </a:p>
          <a:p>
            <a:pPr marL="628650" lvl="1" indent="-171450" algn="l" rtl="0">
              <a:spcBef>
                <a:spcPts val="0"/>
              </a:spcBef>
              <a:spcAft>
                <a:spcPts val="0"/>
              </a:spcAft>
              <a:buClr>
                <a:schemeClr val="dk1"/>
              </a:buClr>
              <a:buSzPts val="1200"/>
              <a:buFont typeface="Calibri"/>
              <a:buChar char="-"/>
            </a:pPr>
            <a:r>
              <a:rPr lang="en-US"/>
              <a:t>Precision and recall decreased while the network size increasing but they are over 0.5 by network size of 200.</a:t>
            </a:r>
            <a:endParaRPr/>
          </a:p>
          <a:p>
            <a:pPr marL="171450" lvl="0" indent="-171450" algn="l" rtl="0">
              <a:spcBef>
                <a:spcPts val="0"/>
              </a:spcBef>
              <a:spcAft>
                <a:spcPts val="0"/>
              </a:spcAft>
              <a:buClr>
                <a:schemeClr val="dk1"/>
              </a:buClr>
              <a:buSzPts val="1200"/>
              <a:buFont typeface="Calibri"/>
              <a:buChar char="-"/>
            </a:pPr>
            <a:r>
              <a:rPr lang="en-US"/>
              <a:t>In sort, our method show a reliable result on this dataset.</a:t>
            </a:r>
            <a:endParaRPr/>
          </a:p>
        </p:txBody>
      </p:sp>
      <p:sp>
        <p:nvSpPr>
          <p:cNvPr id="434" name="Google Shape;43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Clr>
                <a:schemeClr val="dk1"/>
              </a:buClr>
              <a:buSzPts val="1400"/>
              <a:buFont typeface="Times New Roman"/>
              <a:buChar char="-"/>
            </a:pPr>
            <a:r>
              <a:rPr lang="en-US" sz="1400" i="0">
                <a:solidFill>
                  <a:schemeClr val="dk1"/>
                </a:solidFill>
                <a:latin typeface="Times New Roman"/>
                <a:ea typeface="Times New Roman"/>
                <a:cs typeface="Times New Roman"/>
                <a:sym typeface="Times New Roman"/>
              </a:rPr>
              <a:t>We also show the performance on this dataset by grouping the number of regulatory genes for each target gene in the gold-standard network as showing on this slide.</a:t>
            </a:r>
            <a:endParaRPr/>
          </a:p>
          <a:p>
            <a:pPr marL="285750" lvl="0" indent="-285750" algn="l" rtl="0">
              <a:spcBef>
                <a:spcPts val="0"/>
              </a:spcBef>
              <a:spcAft>
                <a:spcPts val="0"/>
              </a:spcAft>
              <a:buClr>
                <a:schemeClr val="dk1"/>
              </a:buClr>
              <a:buSzPts val="1400"/>
              <a:buFont typeface="Times New Roman"/>
              <a:buChar char="-"/>
            </a:pPr>
            <a:r>
              <a:rPr lang="en-US" sz="1400" i="0">
                <a:solidFill>
                  <a:schemeClr val="dk1"/>
                </a:solidFill>
                <a:latin typeface="Times New Roman"/>
                <a:ea typeface="Times New Roman"/>
                <a:cs typeface="Times New Roman"/>
                <a:sym typeface="Times New Roman"/>
              </a:rPr>
              <a:t>As the number of incoming links increases, the performance metrics decrease because the number of incoming links means the difficulty of inference problems.</a:t>
            </a:r>
            <a:endParaRPr/>
          </a:p>
          <a:p>
            <a:pPr marL="285750" lvl="0" indent="-285750" algn="l" rtl="0">
              <a:spcBef>
                <a:spcPts val="0"/>
              </a:spcBef>
              <a:spcAft>
                <a:spcPts val="0"/>
              </a:spcAft>
              <a:buClr>
                <a:schemeClr val="dk1"/>
              </a:buClr>
              <a:buSzPts val="1400"/>
              <a:buFont typeface="Times New Roman"/>
              <a:buChar char="-"/>
            </a:pPr>
            <a:r>
              <a:rPr lang="en-US" sz="1400" i="0">
                <a:solidFill>
                  <a:schemeClr val="dk1"/>
                </a:solidFill>
                <a:latin typeface="Times New Roman"/>
                <a:ea typeface="Times New Roman"/>
                <a:cs typeface="Times New Roman"/>
                <a:sym typeface="Times New Roman"/>
              </a:rPr>
              <a:t>As showing in this figure:</a:t>
            </a:r>
            <a:endParaRPr/>
          </a:p>
          <a:p>
            <a:pPr marL="742950" lvl="1" indent="-285750" algn="l" rtl="0">
              <a:spcBef>
                <a:spcPts val="0"/>
              </a:spcBef>
              <a:spcAft>
                <a:spcPts val="0"/>
              </a:spcAft>
              <a:buClr>
                <a:schemeClr val="dk1"/>
              </a:buClr>
              <a:buSzPts val="1400"/>
              <a:buFont typeface="Times New Roman"/>
              <a:buChar char="-"/>
            </a:pPr>
            <a:r>
              <a:rPr lang="en-US" sz="1400" i="0">
                <a:solidFill>
                  <a:schemeClr val="dk1"/>
                </a:solidFill>
                <a:latin typeface="Times New Roman"/>
                <a:ea typeface="Times New Roman"/>
                <a:cs typeface="Times New Roman"/>
                <a:sym typeface="Times New Roman"/>
              </a:rPr>
              <a:t>dynamics accuracy almost remains stable although in the most difficult case when the number of incoming links = 8. </a:t>
            </a:r>
            <a:endParaRPr/>
          </a:p>
          <a:p>
            <a:pPr marL="742950" lvl="1" indent="-285750" algn="l" rtl="0">
              <a:spcBef>
                <a:spcPts val="0"/>
              </a:spcBef>
              <a:spcAft>
                <a:spcPts val="0"/>
              </a:spcAft>
              <a:buClr>
                <a:schemeClr val="dk1"/>
              </a:buClr>
              <a:buSzPts val="1400"/>
              <a:buFont typeface="Times New Roman"/>
              <a:buChar char="-"/>
            </a:pPr>
            <a:r>
              <a:rPr lang="en-US" sz="1400" i="0">
                <a:solidFill>
                  <a:schemeClr val="dk1"/>
                </a:solidFill>
                <a:latin typeface="Times New Roman"/>
                <a:ea typeface="Times New Roman"/>
                <a:cs typeface="Times New Roman"/>
                <a:sym typeface="Times New Roman"/>
              </a:rPr>
              <a:t>And precision and recall metrics stop still over 0.4</a:t>
            </a:r>
            <a:endParaRPr/>
          </a:p>
        </p:txBody>
      </p:sp>
      <p:sp>
        <p:nvSpPr>
          <p:cNvPr id="443" name="Google Shape;443;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800"/>
              <a:buFont typeface="Arial"/>
              <a:buChar char="•"/>
            </a:pPr>
            <a:r>
              <a:rPr lang="en-US" sz="800"/>
              <a:t>This slide shows the structural accuracy of method and four comparison methods on 4 group network size: 50, 100, 200 and 300</a:t>
            </a:r>
            <a:endParaRPr/>
          </a:p>
          <a:p>
            <a:pPr marL="171450" lvl="0" indent="-171450" algn="l" rtl="0">
              <a:spcBef>
                <a:spcPts val="0"/>
              </a:spcBef>
              <a:spcAft>
                <a:spcPts val="0"/>
              </a:spcAft>
              <a:buClr>
                <a:schemeClr val="dk1"/>
              </a:buClr>
              <a:buSzPts val="800"/>
              <a:buFont typeface="Arial"/>
              <a:buChar char="•"/>
            </a:pPr>
            <a:r>
              <a:rPr lang="en-US" sz="800"/>
              <a:t>Overall, MIDNI performance is better than others</a:t>
            </a:r>
            <a:endParaRPr/>
          </a:p>
          <a:p>
            <a:pPr marL="171450" lvl="0" indent="-171450" algn="l" rtl="0">
              <a:spcBef>
                <a:spcPts val="0"/>
              </a:spcBef>
              <a:spcAft>
                <a:spcPts val="0"/>
              </a:spcAft>
              <a:buClr>
                <a:schemeClr val="dk1"/>
              </a:buClr>
              <a:buSzPts val="800"/>
              <a:buFont typeface="Arial"/>
              <a:buChar char="•"/>
            </a:pPr>
            <a:r>
              <a:rPr lang="en-US" sz="800"/>
              <a:t>Furthermore, on 4 group network sizes when the number of incoming links equals 1 or 2, the performance of all methods is not different to each other, however, when the number of incoming links increases, our method shows much better than others. This implies that the efficiency of our method in a large-scale and difficult-to-solve inference problem.</a:t>
            </a:r>
            <a:endParaRPr/>
          </a:p>
        </p:txBody>
      </p:sp>
      <p:sp>
        <p:nvSpPr>
          <p:cNvPr id="452" name="Google Shape;452;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050"/>
              <a:buFont typeface="Calibri"/>
              <a:buChar char="-"/>
            </a:pPr>
            <a:r>
              <a:rPr lang="en-US" sz="1050"/>
              <a:t>Here shows dynamics accuracy of all methods on groups network size: 50, 100, 200 and 300.</a:t>
            </a:r>
            <a:endParaRPr sz="800"/>
          </a:p>
          <a:p>
            <a:pPr marL="171450" lvl="0" indent="-171450" algn="l" rtl="0">
              <a:spcBef>
                <a:spcPts val="0"/>
              </a:spcBef>
              <a:spcAft>
                <a:spcPts val="0"/>
              </a:spcAft>
              <a:buClr>
                <a:schemeClr val="dk1"/>
              </a:buClr>
              <a:buSzPts val="800"/>
              <a:buFont typeface="Calibri"/>
              <a:buChar char="-"/>
            </a:pPr>
            <a:r>
              <a:rPr lang="en-US" sz="800"/>
              <a:t>As structural accuracy, the dynamics accuracy of proposed method is over others, especially in larger networks: size 200 and 300.</a:t>
            </a:r>
            <a:endParaRPr/>
          </a:p>
          <a:p>
            <a:pPr marL="171450" lvl="0" indent="-171450" algn="l" rtl="0">
              <a:spcBef>
                <a:spcPts val="0"/>
              </a:spcBef>
              <a:spcAft>
                <a:spcPts val="0"/>
              </a:spcAft>
              <a:buClr>
                <a:schemeClr val="dk1"/>
              </a:buClr>
              <a:buSzPts val="1050"/>
              <a:buFont typeface="Calibri"/>
              <a:buChar char="-"/>
            </a:pPr>
            <a:r>
              <a:rPr lang="en-US" sz="1050"/>
              <a:t>Taken together, MIDNI outperforms comparison methods in terms of both structural and dynamics accuracies.</a:t>
            </a:r>
            <a:endParaRPr/>
          </a:p>
        </p:txBody>
      </p:sp>
      <p:sp>
        <p:nvSpPr>
          <p:cNvPr id="461" name="Google Shape;461;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a:buChar char="-"/>
            </a:pPr>
            <a:r>
              <a:rPr lang="en-US"/>
              <a:t>We also conducted a comparison with running time among the methods. The result is shown on this figure.</a:t>
            </a:r>
            <a:endParaRPr/>
          </a:p>
          <a:p>
            <a:pPr marL="171450" lvl="0" indent="-171450" algn="l" rtl="0">
              <a:spcBef>
                <a:spcPts val="0"/>
              </a:spcBef>
              <a:spcAft>
                <a:spcPts val="0"/>
              </a:spcAft>
              <a:buClr>
                <a:schemeClr val="dk1"/>
              </a:buClr>
              <a:buSzPts val="1200"/>
              <a:buFont typeface="Calibri"/>
              <a:buChar char="-"/>
            </a:pPr>
            <a:r>
              <a:rPr lang="en-US"/>
              <a:t>Look at the chart, our method is comparable to others except dbn method.</a:t>
            </a:r>
            <a:endParaRPr/>
          </a:p>
          <a:p>
            <a:pPr marL="171450" lvl="0" indent="-171450" algn="l" rtl="0">
              <a:spcBef>
                <a:spcPts val="0"/>
              </a:spcBef>
              <a:spcAft>
                <a:spcPts val="0"/>
              </a:spcAft>
              <a:buClr>
                <a:schemeClr val="dk1"/>
              </a:buClr>
              <a:buSzPts val="1200"/>
              <a:buFont typeface="Calibri"/>
              <a:buChar char="-"/>
            </a:pPr>
            <a:r>
              <a:rPr lang="en-US"/>
              <a:t>Briefly, MIDNI is a promising tool for predicting both the structure and the dynamics of a gene regulatory network, especially for large-scale and dense input networks.</a:t>
            </a:r>
            <a:endParaRPr/>
          </a:p>
          <a:p>
            <a:pPr marL="0" lvl="0" indent="0" algn="l" rtl="0">
              <a:spcBef>
                <a:spcPts val="0"/>
              </a:spcBef>
              <a:spcAft>
                <a:spcPts val="0"/>
              </a:spcAft>
              <a:buNone/>
            </a:pPr>
            <a:endParaRPr/>
          </a:p>
        </p:txBody>
      </p:sp>
      <p:sp>
        <p:nvSpPr>
          <p:cNvPr id="470" name="Google Shape;470;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8" name="Google Shape;478;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Conclusion:</a:t>
            </a:r>
            <a:endParaRPr/>
          </a:p>
          <a:p>
            <a:pPr marL="171450" lvl="0" indent="-171450" algn="l" rtl="0">
              <a:spcBef>
                <a:spcPts val="0"/>
              </a:spcBef>
              <a:spcAft>
                <a:spcPts val="0"/>
              </a:spcAft>
              <a:buClr>
                <a:schemeClr val="dk1"/>
              </a:buClr>
              <a:buSzPts val="1200"/>
              <a:buFont typeface="Calibri"/>
              <a:buChar char="-"/>
            </a:pPr>
            <a:r>
              <a:rPr lang="en-US"/>
              <a:t>Our method infer…</a:t>
            </a:r>
            <a:endParaRPr/>
          </a:p>
          <a:p>
            <a:pPr marL="171450" lvl="0" indent="-171450" algn="l" rtl="0">
              <a:spcBef>
                <a:spcPts val="0"/>
              </a:spcBef>
              <a:spcAft>
                <a:spcPts val="0"/>
              </a:spcAft>
              <a:buClr>
                <a:schemeClr val="dk1"/>
              </a:buClr>
              <a:buSzPts val="1200"/>
              <a:buFont typeface="Calibri"/>
              <a:buChar char="-"/>
            </a:pPr>
            <a:r>
              <a:rPr lang="en-US"/>
              <a:t>It…, especially with dense and large network</a:t>
            </a:r>
            <a:endParaRPr/>
          </a:p>
          <a:p>
            <a:pPr marL="171450" lvl="0" indent="-171450" algn="l" rtl="0">
              <a:spcBef>
                <a:spcPts val="0"/>
              </a:spcBef>
              <a:spcAft>
                <a:spcPts val="0"/>
              </a:spcAft>
              <a:buClr>
                <a:schemeClr val="dk1"/>
              </a:buClr>
              <a:buSzPts val="1200"/>
              <a:buFont typeface="Calibri"/>
              <a:buChar char="-"/>
            </a:pPr>
            <a:r>
              <a:rPr lang="en-US"/>
              <a:t>And the it is …</a:t>
            </a:r>
            <a:endParaRPr/>
          </a:p>
          <a:p>
            <a:pPr marL="171450" lvl="0" indent="-171450" algn="l" rtl="0">
              <a:spcBef>
                <a:spcPts val="0"/>
              </a:spcBef>
              <a:spcAft>
                <a:spcPts val="0"/>
              </a:spcAft>
              <a:buClr>
                <a:schemeClr val="dk1"/>
              </a:buClr>
              <a:buSzPts val="1200"/>
              <a:buFont typeface="Calibri"/>
              <a:buChar char="-"/>
            </a:pPr>
            <a:r>
              <a:rPr lang="en-US"/>
              <a:t>The finally, like other methods, proposed method also come out with its limitation:</a:t>
            </a:r>
            <a:endParaRPr/>
          </a:p>
          <a:p>
            <a:pPr marL="628650" lvl="1" indent="-171450" algn="l" rtl="0">
              <a:spcBef>
                <a:spcPts val="0"/>
              </a:spcBef>
              <a:spcAft>
                <a:spcPts val="0"/>
              </a:spcAft>
              <a:buClr>
                <a:schemeClr val="dk1"/>
              </a:buClr>
              <a:buSzPts val="1200"/>
              <a:buFont typeface="Calibri"/>
              <a:buChar char="-"/>
            </a:pPr>
            <a:r>
              <a:rPr lang="en-US"/>
              <a:t>First, it used…</a:t>
            </a:r>
            <a:endParaRPr/>
          </a:p>
          <a:p>
            <a:pPr marL="628650" lvl="1" indent="-171450" algn="l" rtl="0">
              <a:spcBef>
                <a:spcPts val="0"/>
              </a:spcBef>
              <a:spcAft>
                <a:spcPts val="0"/>
              </a:spcAft>
              <a:buClr>
                <a:schemeClr val="dk1"/>
              </a:buClr>
              <a:buSzPts val="1200"/>
              <a:buFont typeface="Calibri"/>
              <a:buChar char="-"/>
            </a:pPr>
            <a:r>
              <a:rPr lang="en-US"/>
              <a:t>MIFS and SWAP…</a:t>
            </a:r>
            <a:endParaRPr/>
          </a:p>
          <a:p>
            <a:pPr marL="457200" lvl="1" indent="0" algn="l" rtl="0">
              <a:spcBef>
                <a:spcPts val="0"/>
              </a:spcBef>
              <a:spcAft>
                <a:spcPts val="0"/>
              </a:spcAft>
              <a:buClr>
                <a:schemeClr val="dk1"/>
              </a:buClr>
              <a:buSzPts val="1200"/>
              <a:buFont typeface="Calibri"/>
              <a:buNone/>
            </a:pPr>
            <a:endParaRPr/>
          </a:p>
        </p:txBody>
      </p:sp>
      <p:sp>
        <p:nvSpPr>
          <p:cNvPr id="479" name="Google Shape;479;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6" name="Google Shape;486;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brings us to the end of my presentation, thanks</a:t>
            </a:r>
            <a:endParaRPr/>
          </a:p>
        </p:txBody>
      </p:sp>
      <p:sp>
        <p:nvSpPr>
          <p:cNvPr id="487" name="Google Shape;487;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1" name="Google Shape;50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0" name="Google Shape;51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1" name="Google Shape;511;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5" name="Google Shape;555;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6" name="Google Shape;556;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5" name="Google Shape;565;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3" name="Google Shape;573;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real-valued time-series gene expression dataset is converted into a discretized expression dataset using the K-means discretization algorithm. K value is determined based on the validity index for each gene. The data is then fed into MIFS and SWAP subroutines. The result is the sets of regulatory genes for genes of the input network. Based on this result, we will reconstruct the network as a predictive network.</a:t>
            </a:r>
            <a:endParaRPr/>
          </a:p>
        </p:txBody>
      </p:sp>
      <p:sp>
        <p:nvSpPr>
          <p:cNvPr id="583" name="Google Shape;583;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40"/>
          <p:cNvSpPr txBox="1">
            <a:spLocks noGrp="1"/>
          </p:cNvSpPr>
          <p:nvPr>
            <p:ph type="ctrTitle"/>
          </p:nvPr>
        </p:nvSpPr>
        <p:spPr>
          <a:xfrm>
            <a:off x="2417779" y="802298"/>
            <a:ext cx="8637073" cy="2541431"/>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0"/>
          <p:cNvSpPr txBox="1">
            <a:spLocks noGrp="1"/>
          </p:cNvSpPr>
          <p:nvPr>
            <p:ph type="subTitle" idx="1"/>
          </p:nvPr>
        </p:nvSpPr>
        <p:spPr>
          <a:xfrm>
            <a:off x="2417780" y="3531204"/>
            <a:ext cx="8637072" cy="977621"/>
          </a:xfrm>
          <a:prstGeom prst="rect">
            <a:avLst/>
          </a:prstGeom>
          <a:noFill/>
          <a:ln>
            <a:noFill/>
          </a:ln>
        </p:spPr>
        <p:txBody>
          <a:bodyPr spcFirstLastPara="1" wrap="square" lIns="91425" tIns="91425" rIns="91425" bIns="91425" anchor="t" anchorCtr="0">
            <a:normAutofit/>
          </a:bodyPr>
          <a:lstStyle>
            <a:lvl1pPr lvl="0" algn="l">
              <a:lnSpc>
                <a:spcPct val="120000"/>
              </a:lnSpc>
              <a:spcBef>
                <a:spcPts val="1000"/>
              </a:spcBef>
              <a:spcAft>
                <a:spcPts val="0"/>
              </a:spcAft>
              <a:buSzPts val="1800"/>
              <a:buNone/>
              <a:defRPr sz="1800" b="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a:endParaRPr/>
          </a:p>
        </p:txBody>
      </p:sp>
      <p:sp>
        <p:nvSpPr>
          <p:cNvPr id="21" name="Google Shape;21;p40"/>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0"/>
          <p:cNvSpPr txBox="1">
            <a:spLocks noGrp="1"/>
          </p:cNvSpPr>
          <p:nvPr>
            <p:ph type="ftr" idx="11"/>
          </p:nvPr>
        </p:nvSpPr>
        <p:spPr>
          <a:xfrm>
            <a:off x="2416500" y="329307"/>
            <a:ext cx="4973915"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0"/>
          <p:cNvSpPr txBox="1">
            <a:spLocks noGrp="1"/>
          </p:cNvSpPr>
          <p:nvPr>
            <p:ph type="sldNum" idx="12"/>
          </p:nvPr>
        </p:nvSpPr>
        <p:spPr>
          <a:xfrm>
            <a:off x="11464505" y="5647020"/>
            <a:ext cx="549279" cy="425976"/>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2000" b="0" i="0" u="none" strike="noStrike" cap="none">
                <a:solidFill>
                  <a:srgbClr val="0070C0"/>
                </a:solidFill>
                <a:latin typeface="Gill Sans"/>
                <a:ea typeface="Gill Sans"/>
                <a:cs typeface="Gill Sans"/>
                <a:sym typeface="Gill Sans"/>
              </a:defRPr>
            </a:lvl1pPr>
            <a:lvl2pPr marL="0" lvl="1" indent="0" algn="r">
              <a:spcBef>
                <a:spcPts val="0"/>
              </a:spcBef>
              <a:buNone/>
              <a:defRPr sz="2000" b="0" i="0" u="none" strike="noStrike" cap="none">
                <a:solidFill>
                  <a:srgbClr val="0070C0"/>
                </a:solidFill>
                <a:latin typeface="Gill Sans"/>
                <a:ea typeface="Gill Sans"/>
                <a:cs typeface="Gill Sans"/>
                <a:sym typeface="Gill Sans"/>
              </a:defRPr>
            </a:lvl2pPr>
            <a:lvl3pPr marL="0" lvl="2" indent="0" algn="r">
              <a:spcBef>
                <a:spcPts val="0"/>
              </a:spcBef>
              <a:buNone/>
              <a:defRPr sz="2000" b="0" i="0" u="none" strike="noStrike" cap="none">
                <a:solidFill>
                  <a:srgbClr val="0070C0"/>
                </a:solidFill>
                <a:latin typeface="Gill Sans"/>
                <a:ea typeface="Gill Sans"/>
                <a:cs typeface="Gill Sans"/>
                <a:sym typeface="Gill Sans"/>
              </a:defRPr>
            </a:lvl3pPr>
            <a:lvl4pPr marL="0" lvl="3" indent="0" algn="r">
              <a:spcBef>
                <a:spcPts val="0"/>
              </a:spcBef>
              <a:buNone/>
              <a:defRPr sz="2000" b="0" i="0" u="none" strike="noStrike" cap="none">
                <a:solidFill>
                  <a:srgbClr val="0070C0"/>
                </a:solidFill>
                <a:latin typeface="Gill Sans"/>
                <a:ea typeface="Gill Sans"/>
                <a:cs typeface="Gill Sans"/>
                <a:sym typeface="Gill Sans"/>
              </a:defRPr>
            </a:lvl4pPr>
            <a:lvl5pPr marL="0" lvl="4" indent="0" algn="r">
              <a:spcBef>
                <a:spcPts val="0"/>
              </a:spcBef>
              <a:buNone/>
              <a:defRPr sz="2000" b="0" i="0" u="none" strike="noStrike" cap="none">
                <a:solidFill>
                  <a:srgbClr val="0070C0"/>
                </a:solidFill>
                <a:latin typeface="Gill Sans"/>
                <a:ea typeface="Gill Sans"/>
                <a:cs typeface="Gill Sans"/>
                <a:sym typeface="Gill Sans"/>
              </a:defRPr>
            </a:lvl5pPr>
            <a:lvl6pPr marL="0" lvl="5" indent="0" algn="r">
              <a:spcBef>
                <a:spcPts val="0"/>
              </a:spcBef>
              <a:buNone/>
              <a:defRPr sz="2000" b="0" i="0" u="none" strike="noStrike" cap="none">
                <a:solidFill>
                  <a:srgbClr val="0070C0"/>
                </a:solidFill>
                <a:latin typeface="Gill Sans"/>
                <a:ea typeface="Gill Sans"/>
                <a:cs typeface="Gill Sans"/>
                <a:sym typeface="Gill Sans"/>
              </a:defRPr>
            </a:lvl6pPr>
            <a:lvl7pPr marL="0" lvl="6" indent="0" algn="r">
              <a:spcBef>
                <a:spcPts val="0"/>
              </a:spcBef>
              <a:buNone/>
              <a:defRPr sz="2000" b="0" i="0" u="none" strike="noStrike" cap="none">
                <a:solidFill>
                  <a:srgbClr val="0070C0"/>
                </a:solidFill>
                <a:latin typeface="Gill Sans"/>
                <a:ea typeface="Gill Sans"/>
                <a:cs typeface="Gill Sans"/>
                <a:sym typeface="Gill Sans"/>
              </a:defRPr>
            </a:lvl7pPr>
            <a:lvl8pPr marL="0" lvl="7" indent="0" algn="r">
              <a:spcBef>
                <a:spcPts val="0"/>
              </a:spcBef>
              <a:buNone/>
              <a:defRPr sz="2000" b="0" i="0" u="none" strike="noStrike" cap="none">
                <a:solidFill>
                  <a:srgbClr val="0070C0"/>
                </a:solidFill>
                <a:latin typeface="Gill Sans"/>
                <a:ea typeface="Gill Sans"/>
                <a:cs typeface="Gill Sans"/>
                <a:sym typeface="Gill Sans"/>
              </a:defRPr>
            </a:lvl8pPr>
            <a:lvl9pPr marL="0" lvl="8" indent="0" algn="r">
              <a:spcBef>
                <a:spcPts val="0"/>
              </a:spcBef>
              <a:buNone/>
              <a:defRPr sz="2000" b="0" i="0" u="none" strike="noStrike" cap="none">
                <a:solidFill>
                  <a:srgbClr val="0070C0"/>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cxnSp>
        <p:nvCxnSpPr>
          <p:cNvPr id="24" name="Google Shape;24;p40"/>
          <p:cNvCxnSpPr/>
          <p:nvPr/>
        </p:nvCxnSpPr>
        <p:spPr>
          <a:xfrm>
            <a:off x="2417780" y="3528542"/>
            <a:ext cx="863707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1"/>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28" name="Google Shape;28;p41"/>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1"/>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1"/>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2000" b="0" i="0" u="none" strike="noStrike" cap="none">
                <a:solidFill>
                  <a:srgbClr val="0070C0"/>
                </a:solidFill>
                <a:latin typeface="Arial"/>
                <a:ea typeface="Arial"/>
                <a:cs typeface="Arial"/>
                <a:sym typeface="Arial"/>
              </a:defRPr>
            </a:lvl1pPr>
            <a:lvl2pPr marL="0" lvl="1" indent="0" algn="r">
              <a:spcBef>
                <a:spcPts val="0"/>
              </a:spcBef>
              <a:buNone/>
              <a:defRPr sz="2000" b="0" i="0" u="none" strike="noStrike" cap="none">
                <a:solidFill>
                  <a:srgbClr val="0070C0"/>
                </a:solidFill>
                <a:latin typeface="Arial"/>
                <a:ea typeface="Arial"/>
                <a:cs typeface="Arial"/>
                <a:sym typeface="Arial"/>
              </a:defRPr>
            </a:lvl2pPr>
            <a:lvl3pPr marL="0" lvl="2" indent="0" algn="r">
              <a:spcBef>
                <a:spcPts val="0"/>
              </a:spcBef>
              <a:buNone/>
              <a:defRPr sz="2000" b="0" i="0" u="none" strike="noStrike" cap="none">
                <a:solidFill>
                  <a:srgbClr val="0070C0"/>
                </a:solidFill>
                <a:latin typeface="Arial"/>
                <a:ea typeface="Arial"/>
                <a:cs typeface="Arial"/>
                <a:sym typeface="Arial"/>
              </a:defRPr>
            </a:lvl3pPr>
            <a:lvl4pPr marL="0" lvl="3" indent="0" algn="r">
              <a:spcBef>
                <a:spcPts val="0"/>
              </a:spcBef>
              <a:buNone/>
              <a:defRPr sz="2000" b="0" i="0" u="none" strike="noStrike" cap="none">
                <a:solidFill>
                  <a:srgbClr val="0070C0"/>
                </a:solidFill>
                <a:latin typeface="Arial"/>
                <a:ea typeface="Arial"/>
                <a:cs typeface="Arial"/>
                <a:sym typeface="Arial"/>
              </a:defRPr>
            </a:lvl4pPr>
            <a:lvl5pPr marL="0" lvl="4" indent="0" algn="r">
              <a:spcBef>
                <a:spcPts val="0"/>
              </a:spcBef>
              <a:buNone/>
              <a:defRPr sz="2000" b="0" i="0" u="none" strike="noStrike" cap="none">
                <a:solidFill>
                  <a:srgbClr val="0070C0"/>
                </a:solidFill>
                <a:latin typeface="Arial"/>
                <a:ea typeface="Arial"/>
                <a:cs typeface="Arial"/>
                <a:sym typeface="Arial"/>
              </a:defRPr>
            </a:lvl5pPr>
            <a:lvl6pPr marL="0" lvl="5" indent="0" algn="r">
              <a:spcBef>
                <a:spcPts val="0"/>
              </a:spcBef>
              <a:buNone/>
              <a:defRPr sz="2000" b="0" i="0" u="none" strike="noStrike" cap="none">
                <a:solidFill>
                  <a:srgbClr val="0070C0"/>
                </a:solidFill>
                <a:latin typeface="Arial"/>
                <a:ea typeface="Arial"/>
                <a:cs typeface="Arial"/>
                <a:sym typeface="Arial"/>
              </a:defRPr>
            </a:lvl6pPr>
            <a:lvl7pPr marL="0" lvl="6" indent="0" algn="r">
              <a:spcBef>
                <a:spcPts val="0"/>
              </a:spcBef>
              <a:buNone/>
              <a:defRPr sz="2000" b="0" i="0" u="none" strike="noStrike" cap="none">
                <a:solidFill>
                  <a:srgbClr val="0070C0"/>
                </a:solidFill>
                <a:latin typeface="Arial"/>
                <a:ea typeface="Arial"/>
                <a:cs typeface="Arial"/>
                <a:sym typeface="Arial"/>
              </a:defRPr>
            </a:lvl7pPr>
            <a:lvl8pPr marL="0" lvl="7" indent="0" algn="r">
              <a:spcBef>
                <a:spcPts val="0"/>
              </a:spcBef>
              <a:buNone/>
              <a:defRPr sz="2000" b="0" i="0" u="none" strike="noStrike" cap="none">
                <a:solidFill>
                  <a:srgbClr val="0070C0"/>
                </a:solidFill>
                <a:latin typeface="Arial"/>
                <a:ea typeface="Arial"/>
                <a:cs typeface="Arial"/>
                <a:sym typeface="Arial"/>
              </a:defRPr>
            </a:lvl8pPr>
            <a:lvl9pPr marL="0" lvl="8" indent="0" algn="r">
              <a:spcBef>
                <a:spcPts val="0"/>
              </a:spcBef>
              <a:buNone/>
              <a:defRPr sz="2000" b="0" i="0" u="none" strike="noStrike" cap="none">
                <a:solidFill>
                  <a:srgbClr val="0070C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1" name="Google Shape;31;p41"/>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pic>
        <p:nvPicPr>
          <p:cNvPr id="32" name="Google Shape;32;p41" descr="Bioinformatician Interview – Offbeat, unusual, unconventional &amp;amp; interesting  career interviews"/>
          <p:cNvPicPr preferRelativeResize="0"/>
          <p:nvPr/>
        </p:nvPicPr>
        <p:blipFill rotWithShape="1">
          <a:blip r:embed="rId2">
            <a:alphaModFix amt="85000"/>
          </a:blip>
          <a:srcRect/>
          <a:stretch/>
        </p:blipFill>
        <p:spPr>
          <a:xfrm>
            <a:off x="10170543" y="6148893"/>
            <a:ext cx="2021457" cy="708500"/>
          </a:xfrm>
          <a:prstGeom prst="rect">
            <a:avLst/>
          </a:prstGeom>
          <a:noFill/>
          <a:ln>
            <a:noFill/>
          </a:ln>
        </p:spPr>
      </p:pic>
      <p:sp>
        <p:nvSpPr>
          <p:cNvPr id="33" name="Google Shape;33;p41"/>
          <p:cNvSpPr txBox="1"/>
          <p:nvPr/>
        </p:nvSpPr>
        <p:spPr>
          <a:xfrm>
            <a:off x="7116502" y="6303088"/>
            <a:ext cx="305404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u="none" strike="noStrike" cap="none">
                <a:solidFill>
                  <a:srgbClr val="0070C0"/>
                </a:solidFill>
                <a:latin typeface="Teko"/>
                <a:ea typeface="Teko"/>
                <a:cs typeface="Teko"/>
                <a:sym typeface="Teko"/>
              </a:rPr>
              <a:t>Complex Systems Computing Lab</a:t>
            </a:r>
            <a:endParaRPr sz="2000" i="1">
              <a:solidFill>
                <a:srgbClr val="0070C0"/>
              </a:solidFill>
              <a:latin typeface="Teko"/>
              <a:ea typeface="Teko"/>
              <a:cs typeface="Teko"/>
              <a:sym typeface="Tek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4"/>
        <p:cNvGrpSpPr/>
        <p:nvPr/>
      </p:nvGrpSpPr>
      <p:grpSpPr>
        <a:xfrm>
          <a:off x="0" y="0"/>
          <a:ext cx="0" cy="0"/>
          <a:chOff x="0" y="0"/>
          <a:chExt cx="0" cy="0"/>
        </a:xfrm>
      </p:grpSpPr>
      <p:sp>
        <p:nvSpPr>
          <p:cNvPr id="35" name="Google Shape;35;p42"/>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2"/>
          <p:cNvSpPr txBox="1">
            <a:spLocks noGrp="1"/>
          </p:cNvSpPr>
          <p:nvPr>
            <p:ph type="body" idx="1"/>
          </p:nvPr>
        </p:nvSpPr>
        <p:spPr>
          <a:xfrm>
            <a:off x="1451579" y="1751556"/>
            <a:ext cx="9603275" cy="371479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dirty="0"/>
          </a:p>
        </p:txBody>
      </p:sp>
      <p:sp>
        <p:nvSpPr>
          <p:cNvPr id="37" name="Google Shape;37;p42"/>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2000">
                <a:solidFill>
                  <a:srgbClr val="0070C0"/>
                </a:solidFill>
                <a:latin typeface="Gill Sans"/>
                <a:ea typeface="Gill Sans"/>
                <a:cs typeface="Gill Sans"/>
                <a:sym typeface="Gill Sans"/>
              </a:defRPr>
            </a:lvl1pPr>
            <a:lvl2pPr marL="0" lvl="1" indent="0" algn="r">
              <a:spcBef>
                <a:spcPts val="0"/>
              </a:spcBef>
              <a:buNone/>
              <a:defRPr sz="2000">
                <a:solidFill>
                  <a:srgbClr val="0070C0"/>
                </a:solidFill>
                <a:latin typeface="Gill Sans"/>
                <a:ea typeface="Gill Sans"/>
                <a:cs typeface="Gill Sans"/>
                <a:sym typeface="Gill Sans"/>
              </a:defRPr>
            </a:lvl2pPr>
            <a:lvl3pPr marL="0" lvl="2" indent="0" algn="r">
              <a:spcBef>
                <a:spcPts val="0"/>
              </a:spcBef>
              <a:buNone/>
              <a:defRPr sz="2000">
                <a:solidFill>
                  <a:srgbClr val="0070C0"/>
                </a:solidFill>
                <a:latin typeface="Gill Sans"/>
                <a:ea typeface="Gill Sans"/>
                <a:cs typeface="Gill Sans"/>
                <a:sym typeface="Gill Sans"/>
              </a:defRPr>
            </a:lvl3pPr>
            <a:lvl4pPr marL="0" lvl="3" indent="0" algn="r">
              <a:spcBef>
                <a:spcPts val="0"/>
              </a:spcBef>
              <a:buNone/>
              <a:defRPr sz="2000">
                <a:solidFill>
                  <a:srgbClr val="0070C0"/>
                </a:solidFill>
                <a:latin typeface="Gill Sans"/>
                <a:ea typeface="Gill Sans"/>
                <a:cs typeface="Gill Sans"/>
                <a:sym typeface="Gill Sans"/>
              </a:defRPr>
            </a:lvl4pPr>
            <a:lvl5pPr marL="0" lvl="4" indent="0" algn="r">
              <a:spcBef>
                <a:spcPts val="0"/>
              </a:spcBef>
              <a:buNone/>
              <a:defRPr sz="2000">
                <a:solidFill>
                  <a:srgbClr val="0070C0"/>
                </a:solidFill>
                <a:latin typeface="Gill Sans"/>
                <a:ea typeface="Gill Sans"/>
                <a:cs typeface="Gill Sans"/>
                <a:sym typeface="Gill Sans"/>
              </a:defRPr>
            </a:lvl5pPr>
            <a:lvl6pPr marL="0" lvl="5" indent="0" algn="r">
              <a:spcBef>
                <a:spcPts val="0"/>
              </a:spcBef>
              <a:buNone/>
              <a:defRPr sz="2000">
                <a:solidFill>
                  <a:srgbClr val="0070C0"/>
                </a:solidFill>
                <a:latin typeface="Gill Sans"/>
                <a:ea typeface="Gill Sans"/>
                <a:cs typeface="Gill Sans"/>
                <a:sym typeface="Gill Sans"/>
              </a:defRPr>
            </a:lvl6pPr>
            <a:lvl7pPr marL="0" lvl="6" indent="0" algn="r">
              <a:spcBef>
                <a:spcPts val="0"/>
              </a:spcBef>
              <a:buNone/>
              <a:defRPr sz="2000">
                <a:solidFill>
                  <a:srgbClr val="0070C0"/>
                </a:solidFill>
                <a:latin typeface="Gill Sans"/>
                <a:ea typeface="Gill Sans"/>
                <a:cs typeface="Gill Sans"/>
                <a:sym typeface="Gill Sans"/>
              </a:defRPr>
            </a:lvl7pPr>
            <a:lvl8pPr marL="0" lvl="7" indent="0" algn="r">
              <a:spcBef>
                <a:spcPts val="0"/>
              </a:spcBef>
              <a:buNone/>
              <a:defRPr sz="2000">
                <a:solidFill>
                  <a:srgbClr val="0070C0"/>
                </a:solidFill>
                <a:latin typeface="Gill Sans"/>
                <a:ea typeface="Gill Sans"/>
                <a:cs typeface="Gill Sans"/>
                <a:sym typeface="Gill Sans"/>
              </a:defRPr>
            </a:lvl8pPr>
            <a:lvl9pPr marL="0" lvl="8" indent="0" algn="r">
              <a:spcBef>
                <a:spcPts val="0"/>
              </a:spcBef>
              <a:buNone/>
              <a:defRPr sz="2000">
                <a:solidFill>
                  <a:srgbClr val="0070C0"/>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cxnSp>
        <p:nvCxnSpPr>
          <p:cNvPr id="38" name="Google Shape;38;p42"/>
          <p:cNvCxnSpPr/>
          <p:nvPr/>
        </p:nvCxnSpPr>
        <p:spPr>
          <a:xfrm>
            <a:off x="1451579" y="1253199"/>
            <a:ext cx="9607522" cy="0"/>
          </a:xfrm>
          <a:prstGeom prst="straightConnector1">
            <a:avLst/>
          </a:prstGeom>
          <a:noFill/>
          <a:ln w="31750" cap="flat" cmpd="sng">
            <a:solidFill>
              <a:schemeClr val="accent1"/>
            </a:solidFill>
            <a:prstDash val="solid"/>
            <a:round/>
            <a:headEnd type="none" w="sm" len="sm"/>
            <a:tailEnd type="none" w="sm" len="sm"/>
          </a:ln>
        </p:spPr>
      </p:cxnSp>
      <p:pic>
        <p:nvPicPr>
          <p:cNvPr id="39" name="Google Shape;39;p42" descr="Bioinformatician Interview – Offbeat, unusual, unconventional &amp;amp; interesting  career interviews"/>
          <p:cNvPicPr preferRelativeResize="0"/>
          <p:nvPr/>
        </p:nvPicPr>
        <p:blipFill rotWithShape="1">
          <a:blip r:embed="rId2">
            <a:alphaModFix amt="85000"/>
            <a:extLst>
              <a:ext uri="{BEBA8EAE-BF5A-486C-A8C5-ECC9F3942E4B}">
                <a14:imgProps xmlns:a14="http://schemas.microsoft.com/office/drawing/2010/main">
                  <a14:imgLayer r:embed="rId3">
                    <a14:imgEffect>
                      <a14:backgroundRemoval t="10000" b="90000" l="10000" r="90000"/>
                    </a14:imgEffect>
                    <a14:imgEffect>
                      <a14:brightnessContrast bright="40000" contrast="40000"/>
                    </a14:imgEffect>
                  </a14:imgLayer>
                </a14:imgProps>
              </a:ext>
            </a:extLst>
          </a:blip>
          <a:srcRect/>
          <a:stretch/>
        </p:blipFill>
        <p:spPr>
          <a:xfrm>
            <a:off x="10044125" y="6149500"/>
            <a:ext cx="2021457" cy="708500"/>
          </a:xfrm>
          <a:prstGeom prst="rect">
            <a:avLst/>
          </a:prstGeom>
          <a:noFill/>
          <a:ln>
            <a:noFill/>
          </a:ln>
          <a:effectLst>
            <a:reflection endPos="0" dist="50800" dir="5400000" sy="-100000" algn="bl" rotWithShape="0"/>
          </a:effectLst>
        </p:spPr>
      </p:pic>
      <p:sp>
        <p:nvSpPr>
          <p:cNvPr id="40" name="Google Shape;40;p42"/>
          <p:cNvSpPr txBox="1"/>
          <p:nvPr/>
        </p:nvSpPr>
        <p:spPr>
          <a:xfrm>
            <a:off x="6541168" y="6303088"/>
            <a:ext cx="362937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dirty="0">
                <a:solidFill>
                  <a:schemeClr val="accent2"/>
                </a:solidFill>
                <a:latin typeface="Teko"/>
                <a:ea typeface="Teko"/>
                <a:cs typeface="Teko"/>
                <a:sym typeface="Teko"/>
              </a:rPr>
              <a:t>Complex Systems Computing Lab</a:t>
            </a:r>
            <a:endParaRPr sz="2000" i="1" dirty="0">
              <a:solidFill>
                <a:schemeClr val="accent2"/>
              </a:solidFill>
              <a:latin typeface="Teko"/>
              <a:ea typeface="Teko"/>
              <a:cs typeface="Teko"/>
              <a:sym typeface="Tek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43"/>
          <p:cNvSpPr txBox="1">
            <a:spLocks noGrp="1"/>
          </p:cNvSpPr>
          <p:nvPr>
            <p:ph type="title"/>
          </p:nvPr>
        </p:nvSpPr>
        <p:spPr>
          <a:xfrm>
            <a:off x="1454239" y="1756130"/>
            <a:ext cx="8643154" cy="18879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3"/>
          <p:cNvSpPr txBox="1">
            <a:spLocks noGrp="1"/>
          </p:cNvSpPr>
          <p:nvPr>
            <p:ph type="body" idx="1"/>
          </p:nvPr>
        </p:nvSpPr>
        <p:spPr>
          <a:xfrm>
            <a:off x="1454239" y="3806195"/>
            <a:ext cx="8630446" cy="1012929"/>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1000"/>
              </a:spcBef>
              <a:spcAft>
                <a:spcPts val="0"/>
              </a:spcAft>
              <a:buSzPts val="1800"/>
              <a:buNone/>
              <a:defRPr sz="1800">
                <a:solidFill>
                  <a:schemeClr val="dk1"/>
                </a:solidFill>
              </a:defRPr>
            </a:lvl1pPr>
            <a:lvl2pPr marL="914400" lvl="1" indent="-228600" algn="l">
              <a:lnSpc>
                <a:spcPct val="120000"/>
              </a:lnSpc>
              <a:spcBef>
                <a:spcPts val="500"/>
              </a:spcBef>
              <a:spcAft>
                <a:spcPts val="0"/>
              </a:spcAft>
              <a:buSzPts val="1800"/>
              <a:buNone/>
              <a:defRPr sz="1800">
                <a:solidFill>
                  <a:srgbClr val="888888"/>
                </a:solidFill>
              </a:defRPr>
            </a:lvl2pPr>
            <a:lvl3pPr marL="1371600" lvl="2" indent="-228600" algn="l">
              <a:lnSpc>
                <a:spcPct val="120000"/>
              </a:lnSpc>
              <a:spcBef>
                <a:spcPts val="500"/>
              </a:spcBef>
              <a:spcAft>
                <a:spcPts val="0"/>
              </a:spcAft>
              <a:buSzPts val="1800"/>
              <a:buNone/>
              <a:defRPr sz="1800">
                <a:solidFill>
                  <a:srgbClr val="888888"/>
                </a:solidFill>
              </a:defRPr>
            </a:lvl3pPr>
            <a:lvl4pPr marL="1828800" lvl="3" indent="-228600" algn="l">
              <a:lnSpc>
                <a:spcPct val="120000"/>
              </a:lnSpc>
              <a:spcBef>
                <a:spcPts val="500"/>
              </a:spcBef>
              <a:spcAft>
                <a:spcPts val="0"/>
              </a:spcAft>
              <a:buSzPts val="1600"/>
              <a:buNone/>
              <a:defRPr sz="1600">
                <a:solidFill>
                  <a:srgbClr val="888888"/>
                </a:solidFill>
              </a:defRPr>
            </a:lvl4pPr>
            <a:lvl5pPr marL="2286000" lvl="4" indent="-228600" algn="l">
              <a:lnSpc>
                <a:spcPct val="120000"/>
              </a:lnSpc>
              <a:spcBef>
                <a:spcPts val="500"/>
              </a:spcBef>
              <a:spcAft>
                <a:spcPts val="0"/>
              </a:spcAft>
              <a:buSzPts val="1600"/>
              <a:buNone/>
              <a:defRPr sz="1600">
                <a:solidFill>
                  <a:srgbClr val="888888"/>
                </a:solidFill>
              </a:defRPr>
            </a:lvl5pPr>
            <a:lvl6pPr marL="2743200" lvl="5" indent="-228600" algn="l">
              <a:lnSpc>
                <a:spcPct val="120000"/>
              </a:lnSpc>
              <a:spcBef>
                <a:spcPts val="500"/>
              </a:spcBef>
              <a:spcAft>
                <a:spcPts val="0"/>
              </a:spcAft>
              <a:buSzPts val="1600"/>
              <a:buNone/>
              <a:defRPr sz="1600">
                <a:solidFill>
                  <a:srgbClr val="888888"/>
                </a:solidFill>
              </a:defRPr>
            </a:lvl6pPr>
            <a:lvl7pPr marL="3200400" lvl="6" indent="-228600" algn="l">
              <a:lnSpc>
                <a:spcPct val="120000"/>
              </a:lnSpc>
              <a:spcBef>
                <a:spcPts val="500"/>
              </a:spcBef>
              <a:spcAft>
                <a:spcPts val="0"/>
              </a:spcAft>
              <a:buSzPts val="1600"/>
              <a:buNone/>
              <a:defRPr sz="1600">
                <a:solidFill>
                  <a:srgbClr val="888888"/>
                </a:solidFill>
              </a:defRPr>
            </a:lvl7pPr>
            <a:lvl8pPr marL="3657600" lvl="7" indent="-228600" algn="l">
              <a:lnSpc>
                <a:spcPct val="120000"/>
              </a:lnSpc>
              <a:spcBef>
                <a:spcPts val="500"/>
              </a:spcBef>
              <a:spcAft>
                <a:spcPts val="0"/>
              </a:spcAft>
              <a:buSzPts val="1600"/>
              <a:buNone/>
              <a:defRPr sz="1600">
                <a:solidFill>
                  <a:srgbClr val="888888"/>
                </a:solidFill>
              </a:defRPr>
            </a:lvl8pPr>
            <a:lvl9pPr marL="4114800" lvl="8" indent="-228600" algn="l">
              <a:lnSpc>
                <a:spcPct val="120000"/>
              </a:lnSpc>
              <a:spcBef>
                <a:spcPts val="500"/>
              </a:spcBef>
              <a:spcAft>
                <a:spcPts val="0"/>
              </a:spcAft>
              <a:buSzPts val="1600"/>
              <a:buNone/>
              <a:defRPr sz="1600">
                <a:solidFill>
                  <a:srgbClr val="888888"/>
                </a:solidFill>
              </a:defRPr>
            </a:lvl9pPr>
          </a:lstStyle>
          <a:p>
            <a:endParaRPr/>
          </a:p>
        </p:txBody>
      </p:sp>
      <p:sp>
        <p:nvSpPr>
          <p:cNvPr id="44" name="Google Shape;44;p43"/>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3"/>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3"/>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7" name="Google Shape;47;p43"/>
          <p:cNvCxnSpPr/>
          <p:nvPr/>
        </p:nvCxnSpPr>
        <p:spPr>
          <a:xfrm>
            <a:off x="1454239" y="3804985"/>
            <a:ext cx="863044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44"/>
          <p:cNvSpPr txBox="1">
            <a:spLocks noGrp="1"/>
          </p:cNvSpPr>
          <p:nvPr>
            <p:ph type="title"/>
          </p:nvPr>
        </p:nvSpPr>
        <p:spPr>
          <a:xfrm>
            <a:off x="1449217" y="804889"/>
            <a:ext cx="9605635" cy="105930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44"/>
          <p:cNvSpPr txBox="1">
            <a:spLocks noGrp="1"/>
          </p:cNvSpPr>
          <p:nvPr>
            <p:ph type="body" idx="1"/>
          </p:nvPr>
        </p:nvSpPr>
        <p:spPr>
          <a:xfrm>
            <a:off x="1447331" y="2010878"/>
            <a:ext cx="4645152" cy="344859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51" name="Google Shape;51;p44"/>
          <p:cNvSpPr txBox="1">
            <a:spLocks noGrp="1"/>
          </p:cNvSpPr>
          <p:nvPr>
            <p:ph type="body" idx="2"/>
          </p:nvPr>
        </p:nvSpPr>
        <p:spPr>
          <a:xfrm>
            <a:off x="6413771" y="2017343"/>
            <a:ext cx="4645152" cy="344152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52" name="Google Shape;52;p44"/>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4"/>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4"/>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55" name="Google Shape;55;p44"/>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45"/>
          <p:cNvSpPr txBox="1">
            <a:spLocks noGrp="1"/>
          </p:cNvSpPr>
          <p:nvPr>
            <p:ph type="title"/>
          </p:nvPr>
        </p:nvSpPr>
        <p:spPr>
          <a:xfrm>
            <a:off x="1447191" y="804163"/>
            <a:ext cx="9607661" cy="105631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45"/>
          <p:cNvSpPr txBox="1">
            <a:spLocks noGrp="1"/>
          </p:cNvSpPr>
          <p:nvPr>
            <p:ph type="body" idx="1"/>
          </p:nvPr>
        </p:nvSpPr>
        <p:spPr>
          <a:xfrm>
            <a:off x="1447191" y="2019549"/>
            <a:ext cx="4645152" cy="80194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59" name="Google Shape;59;p45"/>
          <p:cNvSpPr txBox="1">
            <a:spLocks noGrp="1"/>
          </p:cNvSpPr>
          <p:nvPr>
            <p:ph type="body" idx="2"/>
          </p:nvPr>
        </p:nvSpPr>
        <p:spPr>
          <a:xfrm>
            <a:off x="1447191" y="2824269"/>
            <a:ext cx="4645152" cy="264445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60" name="Google Shape;60;p45"/>
          <p:cNvSpPr txBox="1">
            <a:spLocks noGrp="1"/>
          </p:cNvSpPr>
          <p:nvPr>
            <p:ph type="body" idx="3"/>
          </p:nvPr>
        </p:nvSpPr>
        <p:spPr>
          <a:xfrm>
            <a:off x="6412362" y="2023003"/>
            <a:ext cx="4645152" cy="80223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61" name="Google Shape;61;p45"/>
          <p:cNvSpPr txBox="1">
            <a:spLocks noGrp="1"/>
          </p:cNvSpPr>
          <p:nvPr>
            <p:ph type="body" idx="4"/>
          </p:nvPr>
        </p:nvSpPr>
        <p:spPr>
          <a:xfrm>
            <a:off x="6412362" y="2821491"/>
            <a:ext cx="4645152" cy="263737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62" name="Google Shape;62;p45"/>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5"/>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5"/>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65" name="Google Shape;65;p45"/>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sp>
        <p:nvSpPr>
          <p:cNvPr id="67" name="Google Shape;67;p4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46"/>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6"/>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6"/>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71" name="Google Shape;71;p46"/>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47"/>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7"/>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7"/>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48"/>
          <p:cNvSpPr txBox="1">
            <a:spLocks noGrp="1"/>
          </p:cNvSpPr>
          <p:nvPr>
            <p:ph type="title"/>
          </p:nvPr>
        </p:nvSpPr>
        <p:spPr>
          <a:xfrm>
            <a:off x="1444671" y="798973"/>
            <a:ext cx="3273099" cy="22471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48"/>
          <p:cNvSpPr txBox="1">
            <a:spLocks noGrp="1"/>
          </p:cNvSpPr>
          <p:nvPr>
            <p:ph type="body" idx="1"/>
          </p:nvPr>
        </p:nvSpPr>
        <p:spPr>
          <a:xfrm>
            <a:off x="5043714" y="798974"/>
            <a:ext cx="6012470" cy="4658826"/>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79" name="Google Shape;79;p48"/>
          <p:cNvSpPr txBox="1">
            <a:spLocks noGrp="1"/>
          </p:cNvSpPr>
          <p:nvPr>
            <p:ph type="body" idx="2"/>
          </p:nvPr>
        </p:nvSpPr>
        <p:spPr>
          <a:xfrm>
            <a:off x="1444671" y="3205491"/>
            <a:ext cx="3275013" cy="2248181"/>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80" name="Google Shape;80;p48"/>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8"/>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8"/>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83" name="Google Shape;83;p48"/>
          <p:cNvCxnSpPr/>
          <p:nvPr/>
        </p:nvCxnSpPr>
        <p:spPr>
          <a:xfrm>
            <a:off x="1448280" y="3205491"/>
            <a:ext cx="326949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grpSp>
        <p:nvGrpSpPr>
          <p:cNvPr id="85" name="Google Shape;85;p49"/>
          <p:cNvGrpSpPr/>
          <p:nvPr/>
        </p:nvGrpSpPr>
        <p:grpSpPr>
          <a:xfrm>
            <a:off x="7477387" y="482170"/>
            <a:ext cx="4074533" cy="5149101"/>
            <a:chOff x="7477387" y="482170"/>
            <a:chExt cx="4074533" cy="5149101"/>
          </a:xfrm>
        </p:grpSpPr>
        <p:sp>
          <p:nvSpPr>
            <p:cNvPr id="86" name="Google Shape;86;p49"/>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9"/>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9"/>
          <p:cNvSpPr txBox="1">
            <a:spLocks noGrp="1"/>
          </p:cNvSpPr>
          <p:nvPr>
            <p:ph type="title"/>
          </p:nvPr>
        </p:nvSpPr>
        <p:spPr>
          <a:xfrm>
            <a:off x="1451206" y="1129513"/>
            <a:ext cx="5532328" cy="18305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49"/>
          <p:cNvSpPr>
            <a:spLocks noGrp="1"/>
          </p:cNvSpPr>
          <p:nvPr>
            <p:ph type="pic" idx="2"/>
          </p:nvPr>
        </p:nvSpPr>
        <p:spPr>
          <a:xfrm>
            <a:off x="8124389" y="1122542"/>
            <a:ext cx="2791171" cy="3866327"/>
          </a:xfrm>
          <a:prstGeom prst="rect">
            <a:avLst/>
          </a:prstGeom>
          <a:solidFill>
            <a:srgbClr val="D8D8D8"/>
          </a:solidFill>
          <a:ln>
            <a:noFill/>
          </a:ln>
        </p:spPr>
      </p:sp>
      <p:sp>
        <p:nvSpPr>
          <p:cNvPr id="90" name="Google Shape;90;p49"/>
          <p:cNvSpPr txBox="1">
            <a:spLocks noGrp="1"/>
          </p:cNvSpPr>
          <p:nvPr>
            <p:ph type="body" idx="1"/>
          </p:nvPr>
        </p:nvSpPr>
        <p:spPr>
          <a:xfrm>
            <a:off x="1450329" y="3145992"/>
            <a:ext cx="5524404" cy="200374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800"/>
              <a:buNone/>
              <a:defRPr sz="18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91" name="Google Shape;91;p49"/>
          <p:cNvSpPr txBox="1">
            <a:spLocks noGrp="1"/>
          </p:cNvSpPr>
          <p:nvPr>
            <p:ph type="dt" idx="10"/>
          </p:nvPr>
        </p:nvSpPr>
        <p:spPr>
          <a:xfrm>
            <a:off x="1447382" y="5469856"/>
            <a:ext cx="5527351" cy="32012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49"/>
          <p:cNvSpPr txBox="1">
            <a:spLocks noGrp="1"/>
          </p:cNvSpPr>
          <p:nvPr>
            <p:ph type="ftr" idx="11"/>
          </p:nvPr>
        </p:nvSpPr>
        <p:spPr>
          <a:xfrm>
            <a:off x="1447382" y="318640"/>
            <a:ext cx="5541004" cy="32093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49"/>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94" name="Google Shape;94;p49"/>
          <p:cNvCxnSpPr/>
          <p:nvPr/>
        </p:nvCxnSpPr>
        <p:spPr>
          <a:xfrm>
            <a:off x="1447382" y="3143605"/>
            <a:ext cx="552735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5"/>
        <p:cNvGrpSpPr/>
        <p:nvPr/>
      </p:nvGrpSpPr>
      <p:grpSpPr>
        <a:xfrm>
          <a:off x="0" y="0"/>
          <a:ext cx="0" cy="0"/>
          <a:chOff x="0" y="0"/>
          <a:chExt cx="0" cy="0"/>
        </a:xfrm>
      </p:grpSpPr>
      <p:sp>
        <p:nvSpPr>
          <p:cNvPr id="96" name="Google Shape;96;p5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50"/>
          <p:cNvSpPr txBox="1">
            <a:spLocks noGrp="1"/>
          </p:cNvSpPr>
          <p:nvPr>
            <p:ph type="body" idx="1"/>
          </p:nvPr>
        </p:nvSpPr>
        <p:spPr>
          <a:xfrm rot="5400000">
            <a:off x="4527910" y="-1060599"/>
            <a:ext cx="3450613" cy="960327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98" name="Google Shape;98;p50"/>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50"/>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50"/>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01" name="Google Shape;101;p50"/>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2"/>
        <p:cNvGrpSpPr/>
        <p:nvPr/>
      </p:nvGrpSpPr>
      <p:grpSpPr>
        <a:xfrm>
          <a:off x="0" y="0"/>
          <a:ext cx="0" cy="0"/>
          <a:chOff x="0" y="0"/>
          <a:chExt cx="0" cy="0"/>
        </a:xfrm>
      </p:grpSpPr>
      <p:sp>
        <p:nvSpPr>
          <p:cNvPr id="103" name="Google Shape;103;p51"/>
          <p:cNvSpPr txBox="1">
            <a:spLocks noGrp="1"/>
          </p:cNvSpPr>
          <p:nvPr>
            <p:ph type="title"/>
          </p:nvPr>
        </p:nvSpPr>
        <p:spPr>
          <a:xfrm rot="5400000">
            <a:off x="7917038" y="2321047"/>
            <a:ext cx="4659889" cy="161574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51"/>
          <p:cNvSpPr txBox="1">
            <a:spLocks noGrp="1"/>
          </p:cNvSpPr>
          <p:nvPr>
            <p:ph type="body" idx="1"/>
          </p:nvPr>
        </p:nvSpPr>
        <p:spPr>
          <a:xfrm rot="5400000">
            <a:off x="3029143" y="-785498"/>
            <a:ext cx="4659889" cy="782883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05" name="Google Shape;105;p51"/>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51"/>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51"/>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08" name="Google Shape;108;p51"/>
          <p:cNvCxnSpPr/>
          <p:nvPr/>
        </p:nvCxnSpPr>
        <p:spPr>
          <a:xfrm>
            <a:off x="9439111" y="798973"/>
            <a:ext cx="0" cy="4659889"/>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8F7F4"/>
            </a:gs>
            <a:gs pos="100000">
              <a:srgbClr val="D7D5CB"/>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39"/>
          <p:cNvSpPr/>
          <p:nvPr/>
        </p:nvSpPr>
        <p:spPr>
          <a:xfrm>
            <a:off x="0" y="2019476"/>
            <a:ext cx="12192000" cy="4105941"/>
          </a:xfrm>
          <a:prstGeom prst="rect">
            <a:avLst/>
          </a:prstGeom>
          <a:gradFill>
            <a:gsLst>
              <a:gs pos="0">
                <a:srgbClr val="EEECE1">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11;p39"/>
          <p:cNvPicPr preferRelativeResize="0"/>
          <p:nvPr/>
        </p:nvPicPr>
        <p:blipFill rotWithShape="1">
          <a:blip r:embed="rId14">
            <a:alphaModFix/>
          </a:blip>
          <a:srcRect t="1538" b="-1538"/>
          <a:stretch/>
        </p:blipFill>
        <p:spPr>
          <a:xfrm>
            <a:off x="0" y="6126480"/>
            <a:ext cx="12192000" cy="742950"/>
          </a:xfrm>
          <a:prstGeom prst="rect">
            <a:avLst/>
          </a:prstGeom>
          <a:noFill/>
          <a:ln>
            <a:noFill/>
          </a:ln>
        </p:spPr>
      </p:pic>
      <p:sp>
        <p:nvSpPr>
          <p:cNvPr id="12" name="Google Shape;12;p3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3200"/>
              <a:buFont typeface="Gill Sans"/>
              <a:buNone/>
              <a:defRPr sz="320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39"/>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4" name="Google Shape;14;p39"/>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rgbClr val="888888"/>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5" name="Google Shape;15;p39"/>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rgbClr val="888888"/>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6" name="Google Shape;16;p39"/>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2800" b="0" i="0" u="none" strike="noStrike" cap="none">
                <a:solidFill>
                  <a:schemeClr val="accent1"/>
                </a:solidFill>
                <a:latin typeface="Gill Sans"/>
                <a:ea typeface="Gill Sans"/>
                <a:cs typeface="Gill Sans"/>
                <a:sym typeface="Gill Sans"/>
              </a:defRPr>
            </a:lvl1pPr>
            <a:lvl2pPr marL="0" marR="0" lvl="1" indent="0" algn="r" rtl="0">
              <a:spcBef>
                <a:spcPts val="0"/>
              </a:spcBef>
              <a:buNone/>
              <a:defRPr sz="2800" b="0" i="0" u="none" strike="noStrike" cap="none">
                <a:solidFill>
                  <a:schemeClr val="accent1"/>
                </a:solidFill>
                <a:latin typeface="Gill Sans"/>
                <a:ea typeface="Gill Sans"/>
                <a:cs typeface="Gill Sans"/>
                <a:sym typeface="Gill Sans"/>
              </a:defRPr>
            </a:lvl2pPr>
            <a:lvl3pPr marL="0" marR="0" lvl="2" indent="0" algn="r" rtl="0">
              <a:spcBef>
                <a:spcPts val="0"/>
              </a:spcBef>
              <a:buNone/>
              <a:defRPr sz="2800" b="0" i="0" u="none" strike="noStrike" cap="none">
                <a:solidFill>
                  <a:schemeClr val="accent1"/>
                </a:solidFill>
                <a:latin typeface="Gill Sans"/>
                <a:ea typeface="Gill Sans"/>
                <a:cs typeface="Gill Sans"/>
                <a:sym typeface="Gill Sans"/>
              </a:defRPr>
            </a:lvl3pPr>
            <a:lvl4pPr marL="0" marR="0" lvl="3" indent="0" algn="r" rtl="0">
              <a:spcBef>
                <a:spcPts val="0"/>
              </a:spcBef>
              <a:buNone/>
              <a:defRPr sz="2800" b="0" i="0" u="none" strike="noStrike" cap="none">
                <a:solidFill>
                  <a:schemeClr val="accent1"/>
                </a:solidFill>
                <a:latin typeface="Gill Sans"/>
                <a:ea typeface="Gill Sans"/>
                <a:cs typeface="Gill Sans"/>
                <a:sym typeface="Gill Sans"/>
              </a:defRPr>
            </a:lvl4pPr>
            <a:lvl5pPr marL="0" marR="0" lvl="4" indent="0" algn="r" rtl="0">
              <a:spcBef>
                <a:spcPts val="0"/>
              </a:spcBef>
              <a:buNone/>
              <a:defRPr sz="2800" b="0" i="0" u="none" strike="noStrike" cap="none">
                <a:solidFill>
                  <a:schemeClr val="accent1"/>
                </a:solidFill>
                <a:latin typeface="Gill Sans"/>
                <a:ea typeface="Gill Sans"/>
                <a:cs typeface="Gill Sans"/>
                <a:sym typeface="Gill Sans"/>
              </a:defRPr>
            </a:lvl5pPr>
            <a:lvl6pPr marL="0" marR="0" lvl="5" indent="0" algn="r" rtl="0">
              <a:spcBef>
                <a:spcPts val="0"/>
              </a:spcBef>
              <a:buNone/>
              <a:defRPr sz="2800" b="0" i="0" u="none" strike="noStrike" cap="none">
                <a:solidFill>
                  <a:schemeClr val="accent1"/>
                </a:solidFill>
                <a:latin typeface="Gill Sans"/>
                <a:ea typeface="Gill Sans"/>
                <a:cs typeface="Gill Sans"/>
                <a:sym typeface="Gill Sans"/>
              </a:defRPr>
            </a:lvl6pPr>
            <a:lvl7pPr marL="0" marR="0" lvl="6" indent="0" algn="r" rtl="0">
              <a:spcBef>
                <a:spcPts val="0"/>
              </a:spcBef>
              <a:buNone/>
              <a:defRPr sz="2800" b="0" i="0" u="none" strike="noStrike" cap="none">
                <a:solidFill>
                  <a:schemeClr val="accent1"/>
                </a:solidFill>
                <a:latin typeface="Gill Sans"/>
                <a:ea typeface="Gill Sans"/>
                <a:cs typeface="Gill Sans"/>
                <a:sym typeface="Gill Sans"/>
              </a:defRPr>
            </a:lvl7pPr>
            <a:lvl8pPr marL="0" marR="0" lvl="7" indent="0" algn="r" rtl="0">
              <a:spcBef>
                <a:spcPts val="0"/>
              </a:spcBef>
              <a:buNone/>
              <a:defRPr sz="2800" b="0" i="0" u="none" strike="noStrike" cap="none">
                <a:solidFill>
                  <a:schemeClr val="accent1"/>
                </a:solidFill>
                <a:latin typeface="Gill Sans"/>
                <a:ea typeface="Gill Sans"/>
                <a:cs typeface="Gill Sans"/>
                <a:sym typeface="Gill Sans"/>
              </a:defRPr>
            </a:lvl8pPr>
            <a:lvl9pPr marL="0" marR="0" lvl="8" indent="0" algn="r" rtl="0">
              <a:spcBef>
                <a:spcPts val="0"/>
              </a:spcBef>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39"/>
          <p:cNvCxnSpPr/>
          <p:nvPr/>
        </p:nvCxnSpPr>
        <p:spPr>
          <a:xfrm>
            <a:off x="0" y="6128413"/>
            <a:ext cx="12192000" cy="0"/>
          </a:xfrm>
          <a:prstGeom prst="straightConnector1">
            <a:avLst/>
          </a:prstGeom>
          <a:noFill/>
          <a:ln w="12700" cap="flat" cmpd="sng">
            <a:solidFill>
              <a:srgbClr val="000001">
                <a:alpha val="20000"/>
              </a:srgbClr>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rontiersin.org/journals/cell-and-developmental-biology/articles/10.3389/fcell.2014.00038/ful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 Target="slide32.xml"/><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jp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0.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slide" Target="slide29.xml"/><Relationship Id="rId4" Type="http://schemas.openxmlformats.org/officeDocument/2006/relationships/slide" Target="slide30.xml"/></Relationships>
</file>

<file path=ppt/slides/_rels/slide17.xml.rels><?xml version="1.0" encoding="UTF-8" standalone="yes"?>
<Relationships xmlns="http://schemas.openxmlformats.org/package/2006/relationships"><Relationship Id="rId3" Type="http://schemas.openxmlformats.org/officeDocument/2006/relationships/hyperlink" Target="https://academic.oup.com/bioinformatics/article/21/1/71/212416?login=true" TargetMode="External"/><Relationship Id="rId7" Type="http://schemas.openxmlformats.org/officeDocument/2006/relationships/hyperlink" Target="https://journals.plos.org/plosone/article?id=10.1371/journal.pone.0171097"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hyperlink" Target="https://journals.plos.org/plosone/article?id=10.1371/journal.pone.0012776" TargetMode="External"/><Relationship Id="rId4" Type="http://schemas.openxmlformats.org/officeDocument/2006/relationships/hyperlink" Target="https://bmcsystbiol.biomedcentral.com/articles/10.1186/s12918-018-0635-1"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slide" Target="slide15.xml"/></Relationships>
</file>

<file path=ppt/slides/_rels/slide30.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slide" Target="slide15.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slide" Target="slide4.xml"/><Relationship Id="rId5" Type="http://schemas.openxmlformats.org/officeDocument/2006/relationships/image" Target="../media/image54.png"/><Relationship Id="rId4" Type="http://schemas.openxmlformats.org/officeDocument/2006/relationships/slide" Target="slide16.xml"/></Relationships>
</file>

<file path=ppt/slides/_rels/slide33.xml.rels><?xml version="1.0" encoding="UTF-8" standalone="yes"?>
<Relationships xmlns="http://schemas.openxmlformats.org/package/2006/relationships"><Relationship Id="rId3" Type="http://schemas.openxmlformats.org/officeDocument/2006/relationships/hyperlink" Target="https://dreamchallenges.org/"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slide" Target="slide17.xml"/><Relationship Id="rId4" Type="http://schemas.openxmlformats.org/officeDocument/2006/relationships/image" Target="../media/image58.png"/></Relationships>
</file>

<file path=ppt/slides/_rels/slide3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61.png"/><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63.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
          <p:cNvSpPr txBox="1">
            <a:spLocks noGrp="1"/>
          </p:cNvSpPr>
          <p:nvPr>
            <p:ph type="ctrTitle"/>
          </p:nvPr>
        </p:nvSpPr>
        <p:spPr>
          <a:xfrm>
            <a:off x="2417779" y="1653309"/>
            <a:ext cx="8637073" cy="1690420"/>
          </a:xfrm>
          <a:prstGeom prst="rect">
            <a:avLst/>
          </a:prstGeom>
          <a:noFill/>
          <a:ln>
            <a:noFill/>
          </a:ln>
        </p:spPr>
        <p:txBody>
          <a:bodyPr spcFirstLastPara="1" wrap="square" lIns="91425" tIns="45700" rIns="91425" bIns="0" anchor="b" anchorCtr="0">
            <a:normAutofit/>
          </a:bodyPr>
          <a:lstStyle/>
          <a:p>
            <a:pPr marL="0" lvl="0" indent="0" algn="ctr" rtl="0">
              <a:lnSpc>
                <a:spcPct val="90000"/>
              </a:lnSpc>
              <a:spcBef>
                <a:spcPts val="0"/>
              </a:spcBef>
              <a:spcAft>
                <a:spcPts val="0"/>
              </a:spcAft>
              <a:buClr>
                <a:schemeClr val="dk1"/>
              </a:buClr>
              <a:buSzPts val="2400"/>
              <a:buFont typeface="Gill Sans"/>
              <a:buNone/>
            </a:pPr>
            <a:r>
              <a:rPr lang="en-US" sz="2400" dirty="0"/>
              <a:t>A MUTUAL INFORMATION-BASED MULTIPLE LEVEL</a:t>
            </a:r>
            <a:br>
              <a:rPr lang="en-US" sz="2400" dirty="0"/>
            </a:br>
            <a:r>
              <a:rPr lang="en-US" sz="2400" dirty="0"/>
              <a:t>DISCRETIZATION NETWORK INFERENCE FROM TIME-SERIES</a:t>
            </a:r>
            <a:br>
              <a:rPr lang="en-US" sz="2400" dirty="0"/>
            </a:br>
            <a:r>
              <a:rPr lang="en-US" sz="2400" dirty="0"/>
              <a:t>GENE EXPRESSION PROFILES</a:t>
            </a:r>
            <a:endParaRPr dirty="0"/>
          </a:p>
        </p:txBody>
      </p:sp>
      <p:sp>
        <p:nvSpPr>
          <p:cNvPr id="115" name="Google Shape;115;p1"/>
          <p:cNvSpPr txBox="1">
            <a:spLocks noGrp="1"/>
          </p:cNvSpPr>
          <p:nvPr>
            <p:ph type="subTitle" idx="1"/>
          </p:nvPr>
        </p:nvSpPr>
        <p:spPr>
          <a:xfrm>
            <a:off x="5854700" y="4546600"/>
            <a:ext cx="6337300" cy="15875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20000"/>
              </a:lnSpc>
              <a:spcBef>
                <a:spcPts val="0"/>
              </a:spcBef>
              <a:spcAft>
                <a:spcPts val="0"/>
              </a:spcAft>
              <a:buSzPct val="100000"/>
              <a:buNone/>
            </a:pPr>
            <a:r>
              <a:rPr lang="en-US" sz="1800" b="1" i="0" u="none" strike="noStrike" cap="none" dirty="0">
                <a:solidFill>
                  <a:srgbClr val="F38915"/>
                </a:solidFill>
                <a:latin typeface="Courier New"/>
                <a:ea typeface="Courier New"/>
                <a:cs typeface="Courier New"/>
                <a:sym typeface="Courier New"/>
              </a:rPr>
              <a:t>class</a:t>
            </a:r>
            <a:r>
              <a:rPr lang="en-US" sz="1800" b="1" i="0" u="none" strike="noStrike" cap="none" dirty="0">
                <a:solidFill>
                  <a:srgbClr val="94558D"/>
                </a:solidFill>
                <a:latin typeface="Courier New"/>
                <a:ea typeface="Courier New"/>
                <a:cs typeface="Courier New"/>
                <a:sym typeface="Courier New"/>
              </a:rPr>
              <a:t> </a:t>
            </a:r>
            <a:r>
              <a:rPr lang="en-US" sz="1800" b="1" i="0" u="none" strike="noStrike" cap="none" dirty="0">
                <a:solidFill>
                  <a:srgbClr val="7030A0"/>
                </a:solidFill>
                <a:latin typeface="Courier New"/>
                <a:ea typeface="Courier New"/>
                <a:cs typeface="Courier New"/>
                <a:sym typeface="Courier New"/>
              </a:rPr>
              <a:t>Information</a:t>
            </a:r>
            <a:r>
              <a:rPr lang="en-US" sz="1800" b="1" i="0" u="none" strike="noStrike" cap="none" dirty="0">
                <a:solidFill>
                  <a:srgbClr val="94558D"/>
                </a:solidFill>
                <a:latin typeface="Courier New"/>
                <a:ea typeface="Courier New"/>
                <a:cs typeface="Courier New"/>
                <a:sym typeface="Courier New"/>
              </a:rPr>
              <a:t>:</a:t>
            </a:r>
            <a:endParaRPr dirty="0">
              <a:latin typeface="Courier New"/>
              <a:ea typeface="Courier New"/>
              <a:cs typeface="Courier New"/>
              <a:sym typeface="Courier New"/>
            </a:endParaRPr>
          </a:p>
          <a:p>
            <a:pPr marL="406400" lvl="0" indent="0" algn="l" rtl="0">
              <a:lnSpc>
                <a:spcPct val="120000"/>
              </a:lnSpc>
              <a:spcBef>
                <a:spcPts val="1000"/>
              </a:spcBef>
              <a:spcAft>
                <a:spcPts val="0"/>
              </a:spcAft>
              <a:buSzPct val="100000"/>
              <a:buNone/>
            </a:pPr>
            <a:r>
              <a:rPr lang="en-US" b="1" i="0" u="none" strike="noStrike" cap="none" dirty="0" err="1">
                <a:solidFill>
                  <a:srgbClr val="94558D"/>
                </a:solidFill>
                <a:latin typeface="Courier New"/>
                <a:ea typeface="Courier New"/>
                <a:cs typeface="Courier New"/>
                <a:sym typeface="Courier New"/>
              </a:rPr>
              <a:t>self</a:t>
            </a:r>
            <a:r>
              <a:rPr lang="en-US" b="1" i="0" u="none" strike="noStrike" cap="none" dirty="0" err="1">
                <a:latin typeface="Courier New"/>
                <a:ea typeface="Courier New"/>
                <a:cs typeface="Courier New"/>
                <a:sym typeface="Courier New"/>
              </a:rPr>
              <a:t>.</a:t>
            </a:r>
            <a:r>
              <a:rPr lang="en-US" i="1" dirty="0" err="1">
                <a:solidFill>
                  <a:srgbClr val="7F7F7F"/>
                </a:solidFill>
                <a:latin typeface="Courier New"/>
                <a:ea typeface="Courier New"/>
                <a:cs typeface="Courier New"/>
                <a:sym typeface="Courier New"/>
              </a:rPr>
              <a:t>STUDENT</a:t>
            </a:r>
            <a:r>
              <a:rPr lang="en-US" i="1" dirty="0">
                <a:latin typeface="Courier New"/>
                <a:ea typeface="Courier New"/>
                <a:cs typeface="Courier New"/>
                <a:sym typeface="Courier New"/>
              </a:rPr>
              <a:t>  = </a:t>
            </a:r>
            <a:r>
              <a:rPr lang="en-US" i="1" dirty="0">
                <a:solidFill>
                  <a:srgbClr val="17951A"/>
                </a:solidFill>
                <a:latin typeface="Courier New"/>
                <a:ea typeface="Courier New"/>
                <a:cs typeface="Courier New"/>
                <a:sym typeface="Courier New"/>
              </a:rPr>
              <a:t>“</a:t>
            </a:r>
            <a:r>
              <a:rPr lang="en-US" dirty="0">
                <a:solidFill>
                  <a:srgbClr val="17951A"/>
                </a:solidFill>
                <a:latin typeface="Courier New"/>
                <a:ea typeface="Courier New"/>
                <a:cs typeface="Courier New"/>
                <a:sym typeface="Courier New"/>
              </a:rPr>
              <a:t>CAO TUAN ANH”</a:t>
            </a:r>
            <a:br>
              <a:rPr lang="en-US" dirty="0">
                <a:solidFill>
                  <a:srgbClr val="17951A"/>
                </a:solidFill>
                <a:latin typeface="Courier New"/>
                <a:ea typeface="Courier New"/>
                <a:cs typeface="Courier New"/>
                <a:sym typeface="Courier New"/>
              </a:rPr>
            </a:br>
            <a:r>
              <a:rPr lang="en-US" b="1" i="0" u="none" strike="noStrike" cap="none" dirty="0" err="1">
                <a:solidFill>
                  <a:srgbClr val="94558D"/>
                </a:solidFill>
                <a:latin typeface="Courier New"/>
                <a:ea typeface="Courier New"/>
                <a:cs typeface="Courier New"/>
                <a:sym typeface="Courier New"/>
              </a:rPr>
              <a:t>self</a:t>
            </a:r>
            <a:r>
              <a:rPr lang="en-US" b="1" i="0" u="none" strike="noStrike" cap="none" dirty="0" err="1">
                <a:latin typeface="Courier New"/>
                <a:ea typeface="Courier New"/>
                <a:cs typeface="Courier New"/>
                <a:sym typeface="Courier New"/>
              </a:rPr>
              <a:t>.</a:t>
            </a:r>
            <a:r>
              <a:rPr lang="en-US" i="1" dirty="0" err="1">
                <a:solidFill>
                  <a:srgbClr val="7F7F7F"/>
                </a:solidFill>
                <a:latin typeface="Courier New"/>
                <a:ea typeface="Courier New"/>
                <a:cs typeface="Courier New"/>
                <a:sym typeface="Courier New"/>
              </a:rPr>
              <a:t>SUPERVISOR</a:t>
            </a:r>
            <a:r>
              <a:rPr lang="en-US" i="1" dirty="0">
                <a:latin typeface="Courier New"/>
                <a:ea typeface="Courier New"/>
                <a:cs typeface="Courier New"/>
                <a:sym typeface="Courier New"/>
              </a:rPr>
              <a:t>  = </a:t>
            </a:r>
            <a:r>
              <a:rPr lang="en-US" i="1" dirty="0">
                <a:solidFill>
                  <a:srgbClr val="17951A"/>
                </a:solidFill>
                <a:latin typeface="Courier New"/>
                <a:ea typeface="Courier New"/>
                <a:cs typeface="Courier New"/>
                <a:sym typeface="Courier New"/>
              </a:rPr>
              <a:t>“</a:t>
            </a:r>
            <a:r>
              <a:rPr lang="en-US" dirty="0">
                <a:solidFill>
                  <a:srgbClr val="17951A"/>
                </a:solidFill>
                <a:latin typeface="Courier New"/>
                <a:ea typeface="Courier New"/>
                <a:cs typeface="Courier New"/>
                <a:sym typeface="Courier New"/>
              </a:rPr>
              <a:t>PROF. YUNG-KEUN KWON”</a:t>
            </a:r>
            <a:endParaRPr dirty="0">
              <a:latin typeface="Courier New"/>
              <a:ea typeface="Courier New"/>
              <a:cs typeface="Courier New"/>
              <a:sym typeface="Courier New"/>
            </a:endParaRPr>
          </a:p>
          <a:p>
            <a:pPr marL="406400" lvl="0" indent="0" algn="l" rtl="0">
              <a:lnSpc>
                <a:spcPct val="120000"/>
              </a:lnSpc>
              <a:spcBef>
                <a:spcPts val="1000"/>
              </a:spcBef>
              <a:spcAft>
                <a:spcPts val="0"/>
              </a:spcAft>
              <a:buSzPct val="100000"/>
              <a:buNone/>
            </a:pPr>
            <a:r>
              <a:rPr lang="en-US" b="1" cap="none" dirty="0">
                <a:solidFill>
                  <a:srgbClr val="A5A5A5"/>
                </a:solidFill>
                <a:latin typeface="Courier New"/>
                <a:ea typeface="Courier New"/>
                <a:cs typeface="Courier New"/>
                <a:sym typeface="Courier New"/>
              </a:rPr>
              <a:t>### </a:t>
            </a:r>
            <a:r>
              <a:rPr lang="en-US" b="1" i="1" cap="none" dirty="0">
                <a:solidFill>
                  <a:srgbClr val="A5A5A5"/>
                </a:solidFill>
                <a:latin typeface="Courier New"/>
                <a:ea typeface="Courier New"/>
                <a:cs typeface="Courier New"/>
                <a:sym typeface="Courier New"/>
              </a:rPr>
              <a:t>the last execution on 19/11/2021</a:t>
            </a:r>
            <a:endParaRPr dirty="0">
              <a:latin typeface="Courier New"/>
              <a:ea typeface="Courier New"/>
              <a:cs typeface="Courier New"/>
              <a:sym typeface="Courier New"/>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CONTENT</a:t>
            </a:r>
            <a:endParaRPr/>
          </a:p>
        </p:txBody>
      </p:sp>
      <p:sp>
        <p:nvSpPr>
          <p:cNvPr id="122" name="Google Shape;122;p2"/>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Introduction</a:t>
            </a:r>
            <a:endParaRPr/>
          </a:p>
          <a:p>
            <a:pPr marL="228600" lvl="0" indent="-228600" algn="l" rtl="0">
              <a:lnSpc>
                <a:spcPct val="120000"/>
              </a:lnSpc>
              <a:spcBef>
                <a:spcPts val="1000"/>
              </a:spcBef>
              <a:spcAft>
                <a:spcPts val="0"/>
              </a:spcAft>
              <a:buSzPts val="2000"/>
              <a:buChar char="•"/>
            </a:pPr>
            <a:r>
              <a:rPr lang="en-US"/>
              <a:t>Motivation</a:t>
            </a:r>
            <a:endParaRPr/>
          </a:p>
          <a:p>
            <a:pPr marL="228600" lvl="0" indent="-228600" algn="l" rtl="0">
              <a:lnSpc>
                <a:spcPct val="120000"/>
              </a:lnSpc>
              <a:spcBef>
                <a:spcPts val="1000"/>
              </a:spcBef>
              <a:spcAft>
                <a:spcPts val="0"/>
              </a:spcAft>
              <a:buSzPts val="2000"/>
              <a:buChar char="•"/>
            </a:pPr>
            <a:r>
              <a:rPr lang="en-US"/>
              <a:t>Proposed model</a:t>
            </a:r>
            <a:endParaRPr/>
          </a:p>
          <a:p>
            <a:pPr marL="228600" lvl="0" indent="-228600" algn="l" rtl="0">
              <a:lnSpc>
                <a:spcPct val="120000"/>
              </a:lnSpc>
              <a:spcBef>
                <a:spcPts val="1000"/>
              </a:spcBef>
              <a:spcAft>
                <a:spcPts val="0"/>
              </a:spcAft>
              <a:buSzPts val="2000"/>
              <a:buChar char="•"/>
            </a:pPr>
            <a:r>
              <a:rPr lang="en-US"/>
              <a:t>Experiments and results</a:t>
            </a:r>
            <a:endParaRPr/>
          </a:p>
          <a:p>
            <a:pPr marL="228600" lvl="0" indent="-228600" algn="l" rtl="0">
              <a:lnSpc>
                <a:spcPct val="120000"/>
              </a:lnSpc>
              <a:spcBef>
                <a:spcPts val="1000"/>
              </a:spcBef>
              <a:spcAft>
                <a:spcPts val="0"/>
              </a:spcAft>
              <a:buSzPts val="2000"/>
              <a:buChar char="•"/>
            </a:pPr>
            <a:r>
              <a:rPr lang="en-US"/>
              <a:t>Conclusion and Future works</a:t>
            </a:r>
            <a:endParaRPr/>
          </a:p>
        </p:txBody>
      </p:sp>
      <p:sp>
        <p:nvSpPr>
          <p:cNvPr id="123" name="Google Shape;123;p2"/>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INTRODUCTION</a:t>
            </a:r>
            <a:endParaRPr/>
          </a:p>
        </p:txBody>
      </p:sp>
      <p:sp>
        <p:nvSpPr>
          <p:cNvPr id="130" name="Google Shape;130;p3"/>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US" sz="1800" dirty="0">
                <a:latin typeface="Calibri"/>
                <a:ea typeface="Calibri"/>
                <a:cs typeface="Calibri"/>
                <a:sym typeface="Calibri"/>
                <a:hlinkClick r:id="rId3"/>
              </a:rPr>
              <a:t>https://www.frontiersin.org/journals/cell-and-developmental-biology/articles/10.3389/fcell.2014.00038/full</a:t>
            </a:r>
            <a:endParaRPr lang="en-US" sz="1800" dirty="0">
              <a:latin typeface="Calibri"/>
              <a:ea typeface="Calibri"/>
              <a:cs typeface="Calibri"/>
              <a:sym typeface="Calibri"/>
            </a:endParaRPr>
          </a:p>
          <a:p>
            <a:pPr marL="228600" lvl="0" indent="-228600" algn="l" rtl="0">
              <a:lnSpc>
                <a:spcPct val="120000"/>
              </a:lnSpc>
              <a:spcBef>
                <a:spcPts val="0"/>
              </a:spcBef>
              <a:spcAft>
                <a:spcPts val="0"/>
              </a:spcAft>
              <a:buSzPts val="1800"/>
              <a:buChar char="•"/>
            </a:pPr>
            <a:r>
              <a:rPr lang="en-US" sz="1800" dirty="0">
                <a:latin typeface="Calibri"/>
                <a:ea typeface="Calibri"/>
                <a:cs typeface="Calibri"/>
                <a:sym typeface="Calibri"/>
              </a:rPr>
              <a:t>Gene regulatory networks (GRNs) determine the ensemble of underlying interactions among genes that carries out their expression. </a:t>
            </a:r>
            <a:endParaRPr dirty="0"/>
          </a:p>
          <a:p>
            <a:pPr marL="228600" lvl="0" indent="-228600" algn="l" rtl="0">
              <a:lnSpc>
                <a:spcPct val="120000"/>
              </a:lnSpc>
              <a:spcBef>
                <a:spcPts val="1000"/>
              </a:spcBef>
              <a:spcAft>
                <a:spcPts val="0"/>
              </a:spcAft>
              <a:buSzPts val="1800"/>
              <a:buChar char="•"/>
            </a:pPr>
            <a:r>
              <a:rPr lang="en-US" sz="1800" dirty="0">
                <a:latin typeface="Calibri"/>
                <a:ea typeface="Calibri"/>
                <a:cs typeface="Calibri"/>
                <a:sym typeface="Calibri"/>
              </a:rPr>
              <a:t>The clarification of GRNs is extensively important to understand the functioning and pathology of organisms and it remains one of the major challenges of systems biology.</a:t>
            </a:r>
            <a:endParaRPr dirty="0"/>
          </a:p>
          <a:p>
            <a:pPr marL="228600" lvl="0" indent="-228600" algn="l" rtl="0">
              <a:lnSpc>
                <a:spcPct val="120000"/>
              </a:lnSpc>
              <a:spcBef>
                <a:spcPts val="1000"/>
              </a:spcBef>
              <a:spcAft>
                <a:spcPts val="0"/>
              </a:spcAft>
              <a:buSzPts val="1800"/>
              <a:buChar char="•"/>
            </a:pPr>
            <a:r>
              <a:rPr lang="en-US" sz="1800" dirty="0">
                <a:latin typeface="Calibri"/>
                <a:ea typeface="Calibri"/>
                <a:cs typeface="Calibri"/>
                <a:sym typeface="Calibri"/>
              </a:rPr>
              <a:t>While these exist network inference methods have reached some maturity, their performance on real datasets remains far from optimal and calls for the permanent improvement of both inference result as well as computational speed.</a:t>
            </a:r>
            <a:endParaRPr dirty="0"/>
          </a:p>
        </p:txBody>
      </p:sp>
      <p:sp>
        <p:nvSpPr>
          <p:cNvPr id="131" name="Google Shape;131;p3"/>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4"/>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PROBLEM FORMULATION</a:t>
            </a:r>
            <a:endParaRPr/>
          </a:p>
        </p:txBody>
      </p:sp>
      <p:sp>
        <p:nvSpPr>
          <p:cNvPr id="138" name="Google Shape;138;p4"/>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139" name="Google Shape;139;p4"/>
          <p:cNvSpPr txBox="1"/>
          <p:nvPr/>
        </p:nvSpPr>
        <p:spPr>
          <a:xfrm>
            <a:off x="1760925" y="2890836"/>
            <a:ext cx="225886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u="sng">
                <a:solidFill>
                  <a:srgbClr val="0070C0"/>
                </a:solidFill>
                <a:latin typeface="Times New Roman"/>
                <a:ea typeface="Times New Roman"/>
                <a:cs typeface="Times New Roman"/>
                <a:sym typeface="Times New Roman"/>
                <a:hlinkClick r:id="rId3" action="ppaction://hlinksldjump">
                  <a:extLst>
                    <a:ext uri="{A12FA001-AC4F-418D-AE19-62706E023703}">
                      <ahyp:hlinkClr xmlns:ahyp="http://schemas.microsoft.com/office/drawing/2018/hyperlinkcolor" val="tx"/>
                    </a:ext>
                  </a:extLst>
                </a:hlinkClick>
              </a:rPr>
              <a:t>Time-series gene expression</a:t>
            </a:r>
            <a:endParaRPr sz="1200" b="1">
              <a:solidFill>
                <a:srgbClr val="0070C0"/>
              </a:solidFill>
              <a:latin typeface="Times New Roman"/>
              <a:ea typeface="Times New Roman"/>
              <a:cs typeface="Times New Roman"/>
              <a:sym typeface="Times New Roman"/>
            </a:endParaRPr>
          </a:p>
        </p:txBody>
      </p:sp>
      <p:sp>
        <p:nvSpPr>
          <p:cNvPr id="140" name="Google Shape;140;p4"/>
          <p:cNvSpPr txBox="1"/>
          <p:nvPr/>
        </p:nvSpPr>
        <p:spPr>
          <a:xfrm>
            <a:off x="7886902" y="1757027"/>
            <a:ext cx="225886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0C0"/>
                </a:solidFill>
                <a:latin typeface="Times New Roman"/>
                <a:ea typeface="Times New Roman"/>
                <a:cs typeface="Times New Roman"/>
                <a:sym typeface="Times New Roman"/>
              </a:rPr>
              <a:t>Prediction network structure</a:t>
            </a:r>
            <a:endParaRPr/>
          </a:p>
        </p:txBody>
      </p:sp>
      <p:graphicFrame>
        <p:nvGraphicFramePr>
          <p:cNvPr id="141" name="Google Shape;141;p4"/>
          <p:cNvGraphicFramePr/>
          <p:nvPr/>
        </p:nvGraphicFramePr>
        <p:xfrm>
          <a:off x="1968098" y="3281451"/>
          <a:ext cx="1572450" cy="2194620"/>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2050">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0.5631</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0.2465</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0.6158</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0.5778</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0.0124</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0.0915</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0.1949</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0.2306</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0.1854</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42" name="Google Shape;142;p4"/>
          <p:cNvSpPr/>
          <p:nvPr/>
        </p:nvSpPr>
        <p:spPr>
          <a:xfrm>
            <a:off x="4172799" y="2643161"/>
            <a:ext cx="2894204" cy="2623320"/>
          </a:xfrm>
          <a:prstGeom prst="roundRect">
            <a:avLst>
              <a:gd name="adj" fmla="val 16667"/>
            </a:avLst>
          </a:prstGeom>
          <a:noFill/>
          <a:ln w="2540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43" name="Google Shape;143;p4"/>
          <p:cNvSpPr/>
          <p:nvPr/>
        </p:nvSpPr>
        <p:spPr>
          <a:xfrm>
            <a:off x="7957325" y="2060789"/>
            <a:ext cx="2171058" cy="1981468"/>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44" name="Google Shape;144;p4"/>
          <p:cNvSpPr/>
          <p:nvPr/>
        </p:nvSpPr>
        <p:spPr>
          <a:xfrm>
            <a:off x="8043920" y="2315766"/>
            <a:ext cx="568100" cy="501368"/>
          </a:xfrm>
          <a:prstGeom prst="flowChartConnector">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145" name="Google Shape;145;p4"/>
          <p:cNvSpPr/>
          <p:nvPr/>
        </p:nvSpPr>
        <p:spPr>
          <a:xfrm>
            <a:off x="8065646" y="3438004"/>
            <a:ext cx="568100" cy="501368"/>
          </a:xfrm>
          <a:prstGeom prst="flowChartConnector">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146" name="Google Shape;146;p4"/>
          <p:cNvSpPr/>
          <p:nvPr/>
        </p:nvSpPr>
        <p:spPr>
          <a:xfrm>
            <a:off x="9357773" y="2308151"/>
            <a:ext cx="568100" cy="501368"/>
          </a:xfrm>
          <a:prstGeom prst="flowChartConnector">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147" name="Google Shape;147;p4"/>
          <p:cNvSpPr/>
          <p:nvPr/>
        </p:nvSpPr>
        <p:spPr>
          <a:xfrm>
            <a:off x="9357773" y="3435259"/>
            <a:ext cx="568100" cy="501368"/>
          </a:xfrm>
          <a:prstGeom prst="flowChartConnector">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148" name="Google Shape;148;p4"/>
          <p:cNvSpPr/>
          <p:nvPr/>
        </p:nvSpPr>
        <p:spPr>
          <a:xfrm>
            <a:off x="8719864" y="2890836"/>
            <a:ext cx="568100" cy="501368"/>
          </a:xfrm>
          <a:prstGeom prst="flowChartConnector">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cxnSp>
        <p:nvCxnSpPr>
          <p:cNvPr id="149" name="Google Shape;149;p4"/>
          <p:cNvCxnSpPr>
            <a:stCxn id="148" idx="7"/>
            <a:endCxn id="146" idx="3"/>
          </p:cNvCxnSpPr>
          <p:nvPr/>
        </p:nvCxnSpPr>
        <p:spPr>
          <a:xfrm rot="10800000" flipH="1">
            <a:off x="9204768" y="2735960"/>
            <a:ext cx="236100" cy="228300"/>
          </a:xfrm>
          <a:prstGeom prst="straightConnector1">
            <a:avLst/>
          </a:prstGeom>
          <a:noFill/>
          <a:ln w="19050" cap="flat" cmpd="sng">
            <a:solidFill>
              <a:srgbClr val="3C0FF9"/>
            </a:solidFill>
            <a:prstDash val="solid"/>
            <a:round/>
            <a:headEnd type="none" w="sm" len="sm"/>
            <a:tailEnd type="triangle" w="med" len="med"/>
          </a:ln>
        </p:spPr>
      </p:cxnSp>
      <p:cxnSp>
        <p:nvCxnSpPr>
          <p:cNvPr id="150" name="Google Shape;150;p4"/>
          <p:cNvCxnSpPr>
            <a:endCxn id="147" idx="2"/>
          </p:cNvCxnSpPr>
          <p:nvPr/>
        </p:nvCxnSpPr>
        <p:spPr>
          <a:xfrm rot="10800000" flipH="1">
            <a:off x="8644673" y="3685943"/>
            <a:ext cx="713100" cy="11400"/>
          </a:xfrm>
          <a:prstGeom prst="straightConnector1">
            <a:avLst/>
          </a:prstGeom>
          <a:noFill/>
          <a:ln w="19050" cap="flat" cmpd="sng">
            <a:solidFill>
              <a:srgbClr val="3C0FF9"/>
            </a:solidFill>
            <a:prstDash val="solid"/>
            <a:round/>
            <a:headEnd type="none" w="sm" len="sm"/>
            <a:tailEnd type="triangle" w="med" len="med"/>
          </a:ln>
        </p:spPr>
      </p:cxnSp>
      <p:cxnSp>
        <p:nvCxnSpPr>
          <p:cNvPr id="151" name="Google Shape;151;p4"/>
          <p:cNvCxnSpPr/>
          <p:nvPr/>
        </p:nvCxnSpPr>
        <p:spPr>
          <a:xfrm flipH="1">
            <a:off x="8327969" y="3000418"/>
            <a:ext cx="1" cy="245793"/>
          </a:xfrm>
          <a:prstGeom prst="straightConnector1">
            <a:avLst/>
          </a:prstGeom>
          <a:noFill/>
          <a:ln w="19050" cap="flat" cmpd="sng">
            <a:solidFill>
              <a:srgbClr val="3C0FF9"/>
            </a:solidFill>
            <a:prstDash val="dash"/>
            <a:round/>
            <a:headEnd type="none" w="sm" len="sm"/>
            <a:tailEnd type="none" w="sm" len="sm"/>
          </a:ln>
        </p:spPr>
      </p:cxnSp>
      <p:cxnSp>
        <p:nvCxnSpPr>
          <p:cNvPr id="152" name="Google Shape;152;p4"/>
          <p:cNvCxnSpPr>
            <a:stCxn id="146" idx="4"/>
            <a:endCxn id="147" idx="0"/>
          </p:cNvCxnSpPr>
          <p:nvPr/>
        </p:nvCxnSpPr>
        <p:spPr>
          <a:xfrm>
            <a:off x="9641823" y="2809519"/>
            <a:ext cx="0" cy="625800"/>
          </a:xfrm>
          <a:prstGeom prst="straightConnector1">
            <a:avLst/>
          </a:prstGeom>
          <a:noFill/>
          <a:ln w="19050" cap="flat" cmpd="sng">
            <a:solidFill>
              <a:srgbClr val="3C0FF9"/>
            </a:solidFill>
            <a:prstDash val="solid"/>
            <a:round/>
            <a:headEnd type="none" w="sm" len="sm"/>
            <a:tailEnd type="triangle" w="med" len="med"/>
          </a:ln>
        </p:spPr>
      </p:cxnSp>
      <p:cxnSp>
        <p:nvCxnSpPr>
          <p:cNvPr id="153" name="Google Shape;153;p4"/>
          <p:cNvCxnSpPr>
            <a:stCxn id="147" idx="1"/>
            <a:endCxn id="148" idx="5"/>
          </p:cNvCxnSpPr>
          <p:nvPr/>
        </p:nvCxnSpPr>
        <p:spPr>
          <a:xfrm rot="10800000">
            <a:off x="9204869" y="3318783"/>
            <a:ext cx="236100" cy="189900"/>
          </a:xfrm>
          <a:prstGeom prst="straightConnector1">
            <a:avLst/>
          </a:prstGeom>
          <a:noFill/>
          <a:ln w="19050" cap="flat" cmpd="sng">
            <a:solidFill>
              <a:srgbClr val="FF0000"/>
            </a:solidFill>
            <a:prstDash val="solid"/>
            <a:round/>
            <a:headEnd type="none" w="sm" len="sm"/>
            <a:tailEnd type="none" w="sm" len="sm"/>
          </a:ln>
        </p:spPr>
      </p:cxnSp>
      <p:cxnSp>
        <p:nvCxnSpPr>
          <p:cNvPr id="154" name="Google Shape;154;p4"/>
          <p:cNvCxnSpPr/>
          <p:nvPr/>
        </p:nvCxnSpPr>
        <p:spPr>
          <a:xfrm flipH="1">
            <a:off x="9146385" y="3257998"/>
            <a:ext cx="136591" cy="127599"/>
          </a:xfrm>
          <a:prstGeom prst="straightConnector1">
            <a:avLst/>
          </a:prstGeom>
          <a:noFill/>
          <a:ln w="19050" cap="flat" cmpd="sng">
            <a:solidFill>
              <a:srgbClr val="FF0000"/>
            </a:solidFill>
            <a:prstDash val="solid"/>
            <a:round/>
            <a:headEnd type="none" w="sm" len="sm"/>
            <a:tailEnd type="none" w="sm" len="sm"/>
          </a:ln>
        </p:spPr>
      </p:cxnSp>
      <p:cxnSp>
        <p:nvCxnSpPr>
          <p:cNvPr id="155" name="Google Shape;155;p4"/>
          <p:cNvCxnSpPr>
            <a:stCxn id="146" idx="2"/>
            <a:endCxn id="144" idx="6"/>
          </p:cNvCxnSpPr>
          <p:nvPr/>
        </p:nvCxnSpPr>
        <p:spPr>
          <a:xfrm flipH="1">
            <a:off x="8611973" y="2558835"/>
            <a:ext cx="745800" cy="7500"/>
          </a:xfrm>
          <a:prstGeom prst="straightConnector1">
            <a:avLst/>
          </a:prstGeom>
          <a:noFill/>
          <a:ln w="19050" cap="flat" cmpd="sng">
            <a:solidFill>
              <a:srgbClr val="FF0000"/>
            </a:solidFill>
            <a:prstDash val="solid"/>
            <a:round/>
            <a:headEnd type="none" w="sm" len="sm"/>
            <a:tailEnd type="none" w="sm" len="sm"/>
          </a:ln>
        </p:spPr>
      </p:cxnSp>
      <p:cxnSp>
        <p:nvCxnSpPr>
          <p:cNvPr id="156" name="Google Shape;156;p4"/>
          <p:cNvCxnSpPr/>
          <p:nvPr/>
        </p:nvCxnSpPr>
        <p:spPr>
          <a:xfrm>
            <a:off x="8622771" y="2478430"/>
            <a:ext cx="0" cy="185460"/>
          </a:xfrm>
          <a:prstGeom prst="straightConnector1">
            <a:avLst/>
          </a:prstGeom>
          <a:noFill/>
          <a:ln w="19050" cap="flat" cmpd="sng">
            <a:solidFill>
              <a:srgbClr val="FF0000"/>
            </a:solidFill>
            <a:prstDash val="solid"/>
            <a:round/>
            <a:headEnd type="none" w="sm" len="sm"/>
            <a:tailEnd type="none" w="sm" len="sm"/>
          </a:ln>
        </p:spPr>
      </p:cxnSp>
      <p:cxnSp>
        <p:nvCxnSpPr>
          <p:cNvPr id="157" name="Google Shape;157;p4"/>
          <p:cNvCxnSpPr>
            <a:stCxn id="145" idx="7"/>
            <a:endCxn id="148" idx="3"/>
          </p:cNvCxnSpPr>
          <p:nvPr/>
        </p:nvCxnSpPr>
        <p:spPr>
          <a:xfrm rot="10800000" flipH="1">
            <a:off x="8550550" y="3318828"/>
            <a:ext cx="252600" cy="192600"/>
          </a:xfrm>
          <a:prstGeom prst="straightConnector1">
            <a:avLst/>
          </a:prstGeom>
          <a:noFill/>
          <a:ln w="19050" cap="flat" cmpd="sng">
            <a:solidFill>
              <a:srgbClr val="3C0FF9"/>
            </a:solidFill>
            <a:prstDash val="solid"/>
            <a:round/>
            <a:headEnd type="none" w="sm" len="sm"/>
            <a:tailEnd type="triangle" w="med" len="med"/>
          </a:ln>
        </p:spPr>
      </p:cxnSp>
      <p:sp>
        <p:nvSpPr>
          <p:cNvPr id="158" name="Google Shape;158;p4"/>
          <p:cNvSpPr txBox="1"/>
          <p:nvPr/>
        </p:nvSpPr>
        <p:spPr>
          <a:xfrm>
            <a:off x="4928554" y="2289770"/>
            <a:ext cx="2258869" cy="3037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0C0"/>
                </a:solidFill>
                <a:latin typeface="Times New Roman"/>
                <a:ea typeface="Times New Roman"/>
                <a:cs typeface="Times New Roman"/>
                <a:sym typeface="Times New Roman"/>
              </a:rPr>
              <a:t>Inference algorithms</a:t>
            </a:r>
            <a:endParaRPr/>
          </a:p>
        </p:txBody>
      </p:sp>
      <p:pic>
        <p:nvPicPr>
          <p:cNvPr id="159" name="Google Shape;159;p4" descr="Decision Tree | Pathmind"/>
          <p:cNvPicPr preferRelativeResize="0"/>
          <p:nvPr/>
        </p:nvPicPr>
        <p:blipFill rotWithShape="1">
          <a:blip r:embed="rId9">
            <a:alphaModFix/>
          </a:blip>
          <a:srcRect/>
          <a:stretch/>
        </p:blipFill>
        <p:spPr>
          <a:xfrm>
            <a:off x="4936269" y="2817134"/>
            <a:ext cx="1242086" cy="1033671"/>
          </a:xfrm>
          <a:prstGeom prst="rect">
            <a:avLst/>
          </a:prstGeom>
          <a:noFill/>
          <a:ln>
            <a:noFill/>
          </a:ln>
        </p:spPr>
      </p:pic>
      <p:pic>
        <p:nvPicPr>
          <p:cNvPr id="160" name="Google Shape;160;p4" descr="Ultimate Guide to the State of AI Technology in 2021"/>
          <p:cNvPicPr preferRelativeResize="0"/>
          <p:nvPr/>
        </p:nvPicPr>
        <p:blipFill rotWithShape="1">
          <a:blip r:embed="rId10">
            <a:alphaModFix/>
          </a:blip>
          <a:srcRect/>
          <a:stretch/>
        </p:blipFill>
        <p:spPr>
          <a:xfrm>
            <a:off x="4552276" y="3954821"/>
            <a:ext cx="2197187" cy="1106403"/>
          </a:xfrm>
          <a:prstGeom prst="rect">
            <a:avLst/>
          </a:prstGeom>
          <a:noFill/>
          <a:ln>
            <a:noFill/>
          </a:ln>
        </p:spPr>
      </p:pic>
      <p:sp>
        <p:nvSpPr>
          <p:cNvPr id="161" name="Google Shape;161;p4"/>
          <p:cNvSpPr/>
          <p:nvPr/>
        </p:nvSpPr>
        <p:spPr>
          <a:xfrm>
            <a:off x="3563951" y="3415817"/>
            <a:ext cx="524300" cy="1146738"/>
          </a:xfrm>
          <a:prstGeom prst="right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62" name="Google Shape;162;p4"/>
          <p:cNvSpPr/>
          <p:nvPr/>
        </p:nvSpPr>
        <p:spPr>
          <a:xfrm>
            <a:off x="7134414" y="3413731"/>
            <a:ext cx="861423" cy="1271076"/>
          </a:xfrm>
          <a:prstGeom prst="right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63" name="Google Shape;163;p4"/>
          <p:cNvSpPr/>
          <p:nvPr/>
        </p:nvSpPr>
        <p:spPr>
          <a:xfrm>
            <a:off x="7957325" y="4239948"/>
            <a:ext cx="2258869" cy="914400"/>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B0F0"/>
                </a:solidFill>
                <a:latin typeface="Gill Sans"/>
                <a:ea typeface="Gill Sans"/>
                <a:cs typeface="Gill Sans"/>
                <a:sym typeface="Gill Sans"/>
              </a:rPr>
              <a:t>Dynamics: a set of rules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5"/>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EXIST APPROACHES</a:t>
            </a:r>
            <a:endParaRPr/>
          </a:p>
        </p:txBody>
      </p:sp>
      <p:sp>
        <p:nvSpPr>
          <p:cNvPr id="170" name="Google Shape;170;p5"/>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171" name="Google Shape;171;p5"/>
          <p:cNvSpPr txBox="1"/>
          <p:nvPr/>
        </p:nvSpPr>
        <p:spPr>
          <a:xfrm>
            <a:off x="1405345" y="1478797"/>
            <a:ext cx="225886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0C0"/>
                </a:solidFill>
                <a:latin typeface="Times New Roman"/>
                <a:ea typeface="Times New Roman"/>
                <a:cs typeface="Times New Roman"/>
                <a:sym typeface="Times New Roman"/>
              </a:rPr>
              <a:t>Time-series gene expression</a:t>
            </a:r>
            <a:endParaRPr/>
          </a:p>
        </p:txBody>
      </p:sp>
      <p:sp>
        <p:nvSpPr>
          <p:cNvPr id="172" name="Google Shape;172;p5"/>
          <p:cNvSpPr txBox="1"/>
          <p:nvPr/>
        </p:nvSpPr>
        <p:spPr>
          <a:xfrm>
            <a:off x="8232077" y="1746508"/>
            <a:ext cx="225886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0C0"/>
                </a:solidFill>
                <a:latin typeface="Times New Roman"/>
                <a:ea typeface="Times New Roman"/>
                <a:cs typeface="Times New Roman"/>
                <a:sym typeface="Times New Roman"/>
              </a:rPr>
              <a:t>Prediction network structure</a:t>
            </a:r>
            <a:endParaRPr/>
          </a:p>
        </p:txBody>
      </p:sp>
      <p:sp>
        <p:nvSpPr>
          <p:cNvPr id="173" name="Google Shape;173;p5"/>
          <p:cNvSpPr/>
          <p:nvPr/>
        </p:nvSpPr>
        <p:spPr>
          <a:xfrm>
            <a:off x="4574507" y="2643161"/>
            <a:ext cx="2766418" cy="2623320"/>
          </a:xfrm>
          <a:prstGeom prst="roundRect">
            <a:avLst>
              <a:gd name="adj" fmla="val 16667"/>
            </a:avLst>
          </a:prstGeom>
          <a:noFill/>
          <a:ln w="2540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74" name="Google Shape;174;p5"/>
          <p:cNvSpPr/>
          <p:nvPr/>
        </p:nvSpPr>
        <p:spPr>
          <a:xfrm>
            <a:off x="8252773" y="2067801"/>
            <a:ext cx="2171058" cy="1981468"/>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75" name="Google Shape;175;p5"/>
          <p:cNvSpPr/>
          <p:nvPr/>
        </p:nvSpPr>
        <p:spPr>
          <a:xfrm>
            <a:off x="8339368" y="2322778"/>
            <a:ext cx="568100" cy="501368"/>
          </a:xfrm>
          <a:prstGeom prst="flowChartConnector">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176" name="Google Shape;176;p5"/>
          <p:cNvSpPr/>
          <p:nvPr/>
        </p:nvSpPr>
        <p:spPr>
          <a:xfrm>
            <a:off x="8361094" y="3445016"/>
            <a:ext cx="568100" cy="501368"/>
          </a:xfrm>
          <a:prstGeom prst="flowChartConnector">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177" name="Google Shape;177;p5"/>
          <p:cNvSpPr/>
          <p:nvPr/>
        </p:nvSpPr>
        <p:spPr>
          <a:xfrm>
            <a:off x="9653221" y="2315163"/>
            <a:ext cx="568100" cy="501368"/>
          </a:xfrm>
          <a:prstGeom prst="flowChartConnector">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178" name="Google Shape;178;p5"/>
          <p:cNvSpPr/>
          <p:nvPr/>
        </p:nvSpPr>
        <p:spPr>
          <a:xfrm>
            <a:off x="9653221" y="3442271"/>
            <a:ext cx="568100" cy="501368"/>
          </a:xfrm>
          <a:prstGeom prst="flowChartConnector">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179" name="Google Shape;179;p5"/>
          <p:cNvSpPr/>
          <p:nvPr/>
        </p:nvSpPr>
        <p:spPr>
          <a:xfrm>
            <a:off x="9015312" y="2897848"/>
            <a:ext cx="568100" cy="501368"/>
          </a:xfrm>
          <a:prstGeom prst="flowChartConnector">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cxnSp>
        <p:nvCxnSpPr>
          <p:cNvPr id="180" name="Google Shape;180;p5"/>
          <p:cNvCxnSpPr>
            <a:stCxn id="179" idx="7"/>
            <a:endCxn id="177" idx="3"/>
          </p:cNvCxnSpPr>
          <p:nvPr/>
        </p:nvCxnSpPr>
        <p:spPr>
          <a:xfrm rot="10800000" flipH="1">
            <a:off x="9500215" y="2742972"/>
            <a:ext cx="236100" cy="228300"/>
          </a:xfrm>
          <a:prstGeom prst="straightConnector1">
            <a:avLst/>
          </a:prstGeom>
          <a:noFill/>
          <a:ln w="19050" cap="flat" cmpd="sng">
            <a:solidFill>
              <a:srgbClr val="3C0FF9"/>
            </a:solidFill>
            <a:prstDash val="solid"/>
            <a:round/>
            <a:headEnd type="none" w="sm" len="sm"/>
            <a:tailEnd type="triangle" w="med" len="med"/>
          </a:ln>
        </p:spPr>
      </p:cxnSp>
      <p:cxnSp>
        <p:nvCxnSpPr>
          <p:cNvPr id="181" name="Google Shape;181;p5"/>
          <p:cNvCxnSpPr>
            <a:endCxn id="178" idx="2"/>
          </p:cNvCxnSpPr>
          <p:nvPr/>
        </p:nvCxnSpPr>
        <p:spPr>
          <a:xfrm rot="10800000" flipH="1">
            <a:off x="8940121" y="3692955"/>
            <a:ext cx="713100" cy="11400"/>
          </a:xfrm>
          <a:prstGeom prst="straightConnector1">
            <a:avLst/>
          </a:prstGeom>
          <a:noFill/>
          <a:ln w="19050" cap="flat" cmpd="sng">
            <a:solidFill>
              <a:srgbClr val="3C0FF9"/>
            </a:solidFill>
            <a:prstDash val="solid"/>
            <a:round/>
            <a:headEnd type="none" w="sm" len="sm"/>
            <a:tailEnd type="triangle" w="med" len="med"/>
          </a:ln>
        </p:spPr>
      </p:cxnSp>
      <p:cxnSp>
        <p:nvCxnSpPr>
          <p:cNvPr id="182" name="Google Shape;182;p5"/>
          <p:cNvCxnSpPr/>
          <p:nvPr/>
        </p:nvCxnSpPr>
        <p:spPr>
          <a:xfrm flipH="1">
            <a:off x="8623417" y="3007430"/>
            <a:ext cx="1" cy="245793"/>
          </a:xfrm>
          <a:prstGeom prst="straightConnector1">
            <a:avLst/>
          </a:prstGeom>
          <a:noFill/>
          <a:ln w="19050" cap="flat" cmpd="sng">
            <a:solidFill>
              <a:srgbClr val="3C0FF9"/>
            </a:solidFill>
            <a:prstDash val="dash"/>
            <a:round/>
            <a:headEnd type="none" w="sm" len="sm"/>
            <a:tailEnd type="none" w="sm" len="sm"/>
          </a:ln>
        </p:spPr>
      </p:cxnSp>
      <p:cxnSp>
        <p:nvCxnSpPr>
          <p:cNvPr id="183" name="Google Shape;183;p5"/>
          <p:cNvCxnSpPr>
            <a:stCxn id="177" idx="4"/>
            <a:endCxn id="178" idx="0"/>
          </p:cNvCxnSpPr>
          <p:nvPr/>
        </p:nvCxnSpPr>
        <p:spPr>
          <a:xfrm>
            <a:off x="9937271" y="2816531"/>
            <a:ext cx="0" cy="625800"/>
          </a:xfrm>
          <a:prstGeom prst="straightConnector1">
            <a:avLst/>
          </a:prstGeom>
          <a:noFill/>
          <a:ln w="19050" cap="flat" cmpd="sng">
            <a:solidFill>
              <a:srgbClr val="3C0FF9"/>
            </a:solidFill>
            <a:prstDash val="solid"/>
            <a:round/>
            <a:headEnd type="none" w="sm" len="sm"/>
            <a:tailEnd type="triangle" w="med" len="med"/>
          </a:ln>
        </p:spPr>
      </p:cxnSp>
      <p:cxnSp>
        <p:nvCxnSpPr>
          <p:cNvPr id="184" name="Google Shape;184;p5"/>
          <p:cNvCxnSpPr>
            <a:stCxn id="178" idx="1"/>
            <a:endCxn id="179" idx="5"/>
          </p:cNvCxnSpPr>
          <p:nvPr/>
        </p:nvCxnSpPr>
        <p:spPr>
          <a:xfrm rot="10800000">
            <a:off x="9500317" y="3325795"/>
            <a:ext cx="236100" cy="189900"/>
          </a:xfrm>
          <a:prstGeom prst="straightConnector1">
            <a:avLst/>
          </a:prstGeom>
          <a:noFill/>
          <a:ln w="19050" cap="flat" cmpd="sng">
            <a:solidFill>
              <a:srgbClr val="FF0000"/>
            </a:solidFill>
            <a:prstDash val="solid"/>
            <a:round/>
            <a:headEnd type="none" w="sm" len="sm"/>
            <a:tailEnd type="none" w="sm" len="sm"/>
          </a:ln>
        </p:spPr>
      </p:cxnSp>
      <p:cxnSp>
        <p:nvCxnSpPr>
          <p:cNvPr id="185" name="Google Shape;185;p5"/>
          <p:cNvCxnSpPr/>
          <p:nvPr/>
        </p:nvCxnSpPr>
        <p:spPr>
          <a:xfrm flipH="1">
            <a:off x="9441833" y="3265010"/>
            <a:ext cx="136591" cy="127599"/>
          </a:xfrm>
          <a:prstGeom prst="straightConnector1">
            <a:avLst/>
          </a:prstGeom>
          <a:noFill/>
          <a:ln w="19050" cap="flat" cmpd="sng">
            <a:solidFill>
              <a:srgbClr val="FF0000"/>
            </a:solidFill>
            <a:prstDash val="solid"/>
            <a:round/>
            <a:headEnd type="none" w="sm" len="sm"/>
            <a:tailEnd type="none" w="sm" len="sm"/>
          </a:ln>
        </p:spPr>
      </p:cxnSp>
      <p:cxnSp>
        <p:nvCxnSpPr>
          <p:cNvPr id="186" name="Google Shape;186;p5"/>
          <p:cNvCxnSpPr>
            <a:stCxn id="177" idx="2"/>
            <a:endCxn id="175" idx="6"/>
          </p:cNvCxnSpPr>
          <p:nvPr/>
        </p:nvCxnSpPr>
        <p:spPr>
          <a:xfrm flipH="1">
            <a:off x="8907421" y="2565847"/>
            <a:ext cx="745800" cy="7500"/>
          </a:xfrm>
          <a:prstGeom prst="straightConnector1">
            <a:avLst/>
          </a:prstGeom>
          <a:noFill/>
          <a:ln w="19050" cap="flat" cmpd="sng">
            <a:solidFill>
              <a:srgbClr val="FF0000"/>
            </a:solidFill>
            <a:prstDash val="solid"/>
            <a:round/>
            <a:headEnd type="none" w="sm" len="sm"/>
            <a:tailEnd type="none" w="sm" len="sm"/>
          </a:ln>
        </p:spPr>
      </p:cxnSp>
      <p:cxnSp>
        <p:nvCxnSpPr>
          <p:cNvPr id="187" name="Google Shape;187;p5"/>
          <p:cNvCxnSpPr/>
          <p:nvPr/>
        </p:nvCxnSpPr>
        <p:spPr>
          <a:xfrm>
            <a:off x="8918219" y="2485442"/>
            <a:ext cx="0" cy="185460"/>
          </a:xfrm>
          <a:prstGeom prst="straightConnector1">
            <a:avLst/>
          </a:prstGeom>
          <a:noFill/>
          <a:ln w="19050" cap="flat" cmpd="sng">
            <a:solidFill>
              <a:srgbClr val="FF0000"/>
            </a:solidFill>
            <a:prstDash val="solid"/>
            <a:round/>
            <a:headEnd type="none" w="sm" len="sm"/>
            <a:tailEnd type="none" w="sm" len="sm"/>
          </a:ln>
        </p:spPr>
      </p:cxnSp>
      <p:cxnSp>
        <p:nvCxnSpPr>
          <p:cNvPr id="188" name="Google Shape;188;p5"/>
          <p:cNvCxnSpPr>
            <a:stCxn id="176" idx="7"/>
            <a:endCxn id="179" idx="3"/>
          </p:cNvCxnSpPr>
          <p:nvPr/>
        </p:nvCxnSpPr>
        <p:spPr>
          <a:xfrm rot="10800000" flipH="1">
            <a:off x="8845997" y="3325840"/>
            <a:ext cx="252600" cy="192600"/>
          </a:xfrm>
          <a:prstGeom prst="straightConnector1">
            <a:avLst/>
          </a:prstGeom>
          <a:noFill/>
          <a:ln w="19050" cap="flat" cmpd="sng">
            <a:solidFill>
              <a:srgbClr val="3C0FF9"/>
            </a:solidFill>
            <a:prstDash val="solid"/>
            <a:round/>
            <a:headEnd type="none" w="sm" len="sm"/>
            <a:tailEnd type="triangle" w="med" len="med"/>
          </a:ln>
        </p:spPr>
      </p:cxnSp>
      <p:sp>
        <p:nvSpPr>
          <p:cNvPr id="189" name="Google Shape;189;p5"/>
          <p:cNvSpPr txBox="1"/>
          <p:nvPr/>
        </p:nvSpPr>
        <p:spPr>
          <a:xfrm>
            <a:off x="4928554" y="2289770"/>
            <a:ext cx="2258869" cy="3037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0C0"/>
                </a:solidFill>
                <a:latin typeface="Times New Roman"/>
                <a:ea typeface="Times New Roman"/>
                <a:cs typeface="Times New Roman"/>
                <a:sym typeface="Times New Roman"/>
              </a:rPr>
              <a:t>Inference algorithms</a:t>
            </a:r>
            <a:endParaRPr/>
          </a:p>
        </p:txBody>
      </p:sp>
      <p:pic>
        <p:nvPicPr>
          <p:cNvPr id="190" name="Google Shape;190;p5" descr="Decision Tree | Pathmind"/>
          <p:cNvPicPr preferRelativeResize="0"/>
          <p:nvPr/>
        </p:nvPicPr>
        <p:blipFill rotWithShape="1">
          <a:blip r:embed="rId8">
            <a:alphaModFix/>
          </a:blip>
          <a:srcRect/>
          <a:stretch/>
        </p:blipFill>
        <p:spPr>
          <a:xfrm>
            <a:off x="5254355" y="2803303"/>
            <a:ext cx="1377789" cy="1146604"/>
          </a:xfrm>
          <a:prstGeom prst="rect">
            <a:avLst/>
          </a:prstGeom>
          <a:noFill/>
          <a:ln>
            <a:noFill/>
          </a:ln>
        </p:spPr>
      </p:pic>
      <p:pic>
        <p:nvPicPr>
          <p:cNvPr id="191" name="Google Shape;191;p5" descr="Ultimate Guide to the State of AI Technology in 2021"/>
          <p:cNvPicPr preferRelativeResize="0"/>
          <p:nvPr/>
        </p:nvPicPr>
        <p:blipFill rotWithShape="1">
          <a:blip r:embed="rId9">
            <a:alphaModFix/>
          </a:blip>
          <a:srcRect/>
          <a:stretch/>
        </p:blipFill>
        <p:spPr>
          <a:xfrm>
            <a:off x="4859122" y="4029595"/>
            <a:ext cx="2197187" cy="1106403"/>
          </a:xfrm>
          <a:prstGeom prst="rect">
            <a:avLst/>
          </a:prstGeom>
          <a:noFill/>
          <a:ln>
            <a:noFill/>
          </a:ln>
        </p:spPr>
      </p:pic>
      <p:sp>
        <p:nvSpPr>
          <p:cNvPr id="192" name="Google Shape;192;p5"/>
          <p:cNvSpPr/>
          <p:nvPr/>
        </p:nvSpPr>
        <p:spPr>
          <a:xfrm>
            <a:off x="7377897" y="3402031"/>
            <a:ext cx="861423" cy="1271076"/>
          </a:xfrm>
          <a:prstGeom prst="right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93" name="Google Shape;193;p5"/>
          <p:cNvSpPr/>
          <p:nvPr/>
        </p:nvSpPr>
        <p:spPr>
          <a:xfrm>
            <a:off x="8252773" y="4246960"/>
            <a:ext cx="2258869" cy="914400"/>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B0F0"/>
                </a:solidFill>
                <a:latin typeface="Gill Sans"/>
                <a:ea typeface="Gill Sans"/>
                <a:cs typeface="Gill Sans"/>
                <a:sym typeface="Gill Sans"/>
              </a:rPr>
              <a:t>Dynamics: a set of rules</a:t>
            </a:r>
            <a:endParaRPr/>
          </a:p>
        </p:txBody>
      </p:sp>
      <p:graphicFrame>
        <p:nvGraphicFramePr>
          <p:cNvPr id="194" name="Google Shape;194;p5"/>
          <p:cNvGraphicFramePr/>
          <p:nvPr/>
        </p:nvGraphicFramePr>
        <p:xfrm>
          <a:off x="1664082" y="4071858"/>
          <a:ext cx="1572450" cy="2194620"/>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4600">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95" name="Google Shape;195;p5"/>
          <p:cNvSpPr/>
          <p:nvPr/>
        </p:nvSpPr>
        <p:spPr>
          <a:xfrm>
            <a:off x="3299769" y="2218479"/>
            <a:ext cx="1263779" cy="1478926"/>
          </a:xfrm>
          <a:prstGeom prst="rightArrow">
            <a:avLst>
              <a:gd name="adj1" fmla="val 50000"/>
              <a:gd name="adj2" fmla="val 50000"/>
            </a:avLst>
          </a:prstGeom>
          <a:solidFill>
            <a:srgbClr val="0070C0"/>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Gill Sans"/>
                <a:ea typeface="Gill Sans"/>
                <a:cs typeface="Gill Sans"/>
                <a:sym typeface="Gill Sans"/>
              </a:rPr>
              <a:t>Real valued used methods</a:t>
            </a:r>
            <a:endParaRPr/>
          </a:p>
        </p:txBody>
      </p:sp>
      <p:sp>
        <p:nvSpPr>
          <p:cNvPr id="196" name="Google Shape;196;p5"/>
          <p:cNvSpPr/>
          <p:nvPr/>
        </p:nvSpPr>
        <p:spPr>
          <a:xfrm>
            <a:off x="1701054" y="3532294"/>
            <a:ext cx="1572492" cy="509963"/>
          </a:xfrm>
          <a:prstGeom prst="down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lt1"/>
                </a:solidFill>
                <a:latin typeface="Gill Sans"/>
                <a:ea typeface="Gill Sans"/>
                <a:cs typeface="Gill Sans"/>
                <a:sym typeface="Gill Sans"/>
              </a:rPr>
              <a:t>discretization</a:t>
            </a:r>
            <a:endParaRPr/>
          </a:p>
        </p:txBody>
      </p:sp>
      <p:sp>
        <p:nvSpPr>
          <p:cNvPr id="197" name="Google Shape;197;p5"/>
          <p:cNvSpPr/>
          <p:nvPr/>
        </p:nvSpPr>
        <p:spPr>
          <a:xfrm>
            <a:off x="3262185" y="4134148"/>
            <a:ext cx="1312322" cy="1377564"/>
          </a:xfrm>
          <a:prstGeom prst="right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Gill Sans"/>
                <a:ea typeface="Gill Sans"/>
                <a:cs typeface="Gill Sans"/>
                <a:sym typeface="Gill Sans"/>
              </a:rPr>
              <a:t>Boolean models</a:t>
            </a:r>
            <a:endParaRPr/>
          </a:p>
        </p:txBody>
      </p:sp>
      <p:sp>
        <p:nvSpPr>
          <p:cNvPr id="198" name="Google Shape;198;p5"/>
          <p:cNvSpPr txBox="1"/>
          <p:nvPr/>
        </p:nvSpPr>
        <p:spPr>
          <a:xfrm>
            <a:off x="3308450" y="1943214"/>
            <a:ext cx="180030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70C0"/>
                </a:solidFill>
                <a:latin typeface="Gill Sans"/>
                <a:ea typeface="Gill Sans"/>
                <a:cs typeface="Gill Sans"/>
                <a:sym typeface="Gill Sans"/>
              </a:rPr>
              <a:t>* Genie3, tigress, mrnet…</a:t>
            </a:r>
            <a:endParaRPr/>
          </a:p>
        </p:txBody>
      </p:sp>
      <p:sp>
        <p:nvSpPr>
          <p:cNvPr id="199" name="Google Shape;199;p5"/>
          <p:cNvSpPr txBox="1"/>
          <p:nvPr/>
        </p:nvSpPr>
        <p:spPr>
          <a:xfrm>
            <a:off x="3287873" y="5558201"/>
            <a:ext cx="1166345"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6037"/>
                </a:solidFill>
                <a:latin typeface="Gill Sans"/>
                <a:ea typeface="Gill Sans"/>
                <a:cs typeface="Gill Sans"/>
                <a:sym typeface="Gill Sans"/>
              </a:rPr>
              <a:t>* mibni, gabni…</a:t>
            </a:r>
            <a:endParaRPr/>
          </a:p>
        </p:txBody>
      </p:sp>
      <p:graphicFrame>
        <p:nvGraphicFramePr>
          <p:cNvPr id="200" name="Google Shape;200;p5"/>
          <p:cNvGraphicFramePr/>
          <p:nvPr/>
        </p:nvGraphicFramePr>
        <p:xfrm>
          <a:off x="1701054" y="2008214"/>
          <a:ext cx="1572450" cy="2194620"/>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2050">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0.5631</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0.2465</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0.6158</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0.5778</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0.0124</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0.0915</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0.1949</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0.2306</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0.1854</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8F7F4"/>
            </a:gs>
            <a:gs pos="100000">
              <a:srgbClr val="D7D5CB"/>
            </a:gs>
          </a:gsLst>
          <a:path path="circle">
            <a:fillToRect l="50000" t="50000" r="50000" b="50000"/>
          </a:path>
          <a:tileRect/>
        </a:gradFill>
        <a:effectLst/>
      </p:bgPr>
    </p:bg>
    <p:spTree>
      <p:nvGrpSpPr>
        <p:cNvPr id="1" name="Shape 205"/>
        <p:cNvGrpSpPr/>
        <p:nvPr/>
      </p:nvGrpSpPr>
      <p:grpSpPr>
        <a:xfrm>
          <a:off x="0" y="0"/>
          <a:ext cx="0" cy="0"/>
          <a:chOff x="0" y="0"/>
          <a:chExt cx="0" cy="0"/>
        </a:xfrm>
      </p:grpSpPr>
      <p:sp>
        <p:nvSpPr>
          <p:cNvPr id="206" name="Google Shape;206;p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MOTIVATION</a:t>
            </a:r>
            <a:endParaRPr/>
          </a:p>
        </p:txBody>
      </p:sp>
      <p:sp>
        <p:nvSpPr>
          <p:cNvPr id="207" name="Google Shape;207;p6"/>
          <p:cNvSpPr txBox="1">
            <a:spLocks noGrp="1"/>
          </p:cNvSpPr>
          <p:nvPr>
            <p:ph type="sldNum" idx="12"/>
          </p:nvPr>
        </p:nvSpPr>
        <p:spPr>
          <a:xfrm>
            <a:off x="11292222" y="5519254"/>
            <a:ext cx="811019" cy="503578"/>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None/>
            </a:pPr>
            <a:fld id="{00000000-1234-1234-1234-123412341234}" type="slidenum">
              <a:rPr lang="en-US"/>
              <a:t>6</a:t>
            </a:fld>
            <a:endParaRPr/>
          </a:p>
        </p:txBody>
      </p:sp>
      <p:grpSp>
        <p:nvGrpSpPr>
          <p:cNvPr id="208" name="Google Shape;208;p6"/>
          <p:cNvGrpSpPr/>
          <p:nvPr/>
        </p:nvGrpSpPr>
        <p:grpSpPr>
          <a:xfrm>
            <a:off x="1451725" y="2340435"/>
            <a:ext cx="9602874" cy="3324494"/>
            <a:chOff x="750" y="0"/>
            <a:chExt cx="9602874" cy="3324494"/>
          </a:xfrm>
        </p:grpSpPr>
        <p:sp>
          <p:nvSpPr>
            <p:cNvPr id="209" name="Google Shape;209;p6"/>
            <p:cNvSpPr/>
            <p:nvPr/>
          </p:nvSpPr>
          <p:spPr>
            <a:xfrm>
              <a:off x="750" y="0"/>
              <a:ext cx="3038884" cy="3324494"/>
            </a:xfrm>
            <a:prstGeom prst="rect">
              <a:avLst/>
            </a:prstGeom>
            <a:gradFill>
              <a:gsLst>
                <a:gs pos="0">
                  <a:srgbClr val="F05736"/>
                </a:gs>
                <a:gs pos="69000">
                  <a:srgbClr val="E13103"/>
                </a:gs>
                <a:gs pos="100000">
                  <a:srgbClr val="D62E02"/>
                </a:gs>
              </a:gsLst>
              <a:lin ang="5400000" scaled="0"/>
            </a:gra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6"/>
            <p:cNvSpPr txBox="1"/>
            <p:nvPr/>
          </p:nvSpPr>
          <p:spPr>
            <a:xfrm>
              <a:off x="750" y="1329797"/>
              <a:ext cx="3038884" cy="1994696"/>
            </a:xfrm>
            <a:prstGeom prst="rect">
              <a:avLst/>
            </a:prstGeom>
            <a:noFill/>
            <a:ln>
              <a:noFill/>
            </a:ln>
          </p:spPr>
          <p:txBody>
            <a:bodyPr spcFirstLastPara="1" wrap="square" lIns="300150" tIns="0" rIns="300150" bIns="330200" anchor="t" anchorCtr="0">
              <a:noAutofit/>
            </a:bodyPr>
            <a:lstStyle/>
            <a:p>
              <a:pPr marL="0" marR="0" lvl="0" indent="0" algn="l" rtl="0">
                <a:lnSpc>
                  <a:spcPct val="90000"/>
                </a:lnSpc>
                <a:spcBef>
                  <a:spcPts val="0"/>
                </a:spcBef>
                <a:spcAft>
                  <a:spcPts val="0"/>
                </a:spcAft>
                <a:buClr>
                  <a:schemeClr val="lt1"/>
                </a:buClr>
                <a:buSzPts val="2300"/>
                <a:buFont typeface="Gill Sans"/>
                <a:buNone/>
              </a:pPr>
              <a:r>
                <a:rPr lang="en-US" sz="2300">
                  <a:solidFill>
                    <a:schemeClr val="lt1"/>
                  </a:solidFill>
                  <a:latin typeface="Gill Sans"/>
                  <a:ea typeface="Gill Sans"/>
                  <a:cs typeface="Gill Sans"/>
                  <a:sym typeface="Gill Sans"/>
                </a:rPr>
                <a:t>Speed up the inference process and be less noise-sensitive of the real-valued use methods.</a:t>
              </a:r>
              <a:endParaRPr/>
            </a:p>
          </p:txBody>
        </p:sp>
        <p:sp>
          <p:nvSpPr>
            <p:cNvPr id="211" name="Google Shape;211;p6"/>
            <p:cNvSpPr/>
            <p:nvPr/>
          </p:nvSpPr>
          <p:spPr>
            <a:xfrm>
              <a:off x="750" y="0"/>
              <a:ext cx="3038884" cy="132979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txBox="1"/>
            <p:nvPr/>
          </p:nvSpPr>
          <p:spPr>
            <a:xfrm>
              <a:off x="750" y="0"/>
              <a:ext cx="3038884" cy="1329797"/>
            </a:xfrm>
            <a:prstGeom prst="rect">
              <a:avLst/>
            </a:prstGeom>
            <a:noFill/>
            <a:ln>
              <a:noFill/>
            </a:ln>
          </p:spPr>
          <p:txBody>
            <a:bodyPr spcFirstLastPara="1" wrap="square" lIns="300150" tIns="165100" rIns="300150" bIns="165100" anchor="ctr" anchorCtr="0">
              <a:noAutofit/>
            </a:bodyPr>
            <a:lstStyle/>
            <a:p>
              <a:pPr marL="0" marR="0" lvl="0" indent="0" algn="l" rtl="0">
                <a:lnSpc>
                  <a:spcPct val="90000"/>
                </a:lnSpc>
                <a:spcBef>
                  <a:spcPts val="0"/>
                </a:spcBef>
                <a:spcAft>
                  <a:spcPts val="0"/>
                </a:spcAft>
                <a:buClr>
                  <a:schemeClr val="lt1"/>
                </a:buClr>
                <a:buSzPts val="6600"/>
                <a:buFont typeface="Gill Sans"/>
                <a:buNone/>
              </a:pPr>
              <a:r>
                <a:rPr lang="en-US" sz="6600">
                  <a:solidFill>
                    <a:schemeClr val="lt1"/>
                  </a:solidFill>
                  <a:latin typeface="Gill Sans"/>
                  <a:ea typeface="Gill Sans"/>
                  <a:cs typeface="Gill Sans"/>
                  <a:sym typeface="Gill Sans"/>
                </a:rPr>
                <a:t>01</a:t>
              </a:r>
              <a:endParaRPr/>
            </a:p>
          </p:txBody>
        </p:sp>
        <p:sp>
          <p:nvSpPr>
            <p:cNvPr id="213" name="Google Shape;213;p6"/>
            <p:cNvSpPr/>
            <p:nvPr/>
          </p:nvSpPr>
          <p:spPr>
            <a:xfrm>
              <a:off x="3282745" y="0"/>
              <a:ext cx="3038884" cy="3324494"/>
            </a:xfrm>
            <a:prstGeom prst="rect">
              <a:avLst/>
            </a:prstGeom>
            <a:gradFill>
              <a:gsLst>
                <a:gs pos="0">
                  <a:srgbClr val="F05736"/>
                </a:gs>
                <a:gs pos="69000">
                  <a:srgbClr val="E13103"/>
                </a:gs>
                <a:gs pos="100000">
                  <a:srgbClr val="D62E02"/>
                </a:gs>
              </a:gsLst>
              <a:lin ang="5400000" scaled="0"/>
            </a:gra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6"/>
            <p:cNvSpPr txBox="1"/>
            <p:nvPr/>
          </p:nvSpPr>
          <p:spPr>
            <a:xfrm>
              <a:off x="3282745" y="1329797"/>
              <a:ext cx="3038884" cy="1994696"/>
            </a:xfrm>
            <a:prstGeom prst="rect">
              <a:avLst/>
            </a:prstGeom>
            <a:noFill/>
            <a:ln>
              <a:noFill/>
            </a:ln>
          </p:spPr>
          <p:txBody>
            <a:bodyPr spcFirstLastPara="1" wrap="square" lIns="300150" tIns="0" rIns="300150" bIns="330200" anchor="t" anchorCtr="0">
              <a:noAutofit/>
            </a:bodyPr>
            <a:lstStyle/>
            <a:p>
              <a:pPr marL="0" marR="0" lvl="0" indent="0" algn="l" rtl="0">
                <a:lnSpc>
                  <a:spcPct val="90000"/>
                </a:lnSpc>
                <a:spcBef>
                  <a:spcPts val="0"/>
                </a:spcBef>
                <a:spcAft>
                  <a:spcPts val="0"/>
                </a:spcAft>
                <a:buClr>
                  <a:schemeClr val="lt1"/>
                </a:buClr>
                <a:buSzPts val="2300"/>
                <a:buFont typeface="Gill Sans"/>
                <a:buNone/>
              </a:pPr>
              <a:r>
                <a:rPr lang="en-US" sz="2300">
                  <a:solidFill>
                    <a:schemeClr val="lt1"/>
                  </a:solidFill>
                  <a:latin typeface="Gill Sans"/>
                  <a:ea typeface="Gill Sans"/>
                  <a:cs typeface="Gill Sans"/>
                  <a:sym typeface="Gill Sans"/>
                </a:rPr>
                <a:t>Reduce information loss of Boolean models.</a:t>
              </a:r>
              <a:endParaRPr/>
            </a:p>
          </p:txBody>
        </p:sp>
        <p:sp>
          <p:nvSpPr>
            <p:cNvPr id="215" name="Google Shape;215;p6"/>
            <p:cNvSpPr/>
            <p:nvPr/>
          </p:nvSpPr>
          <p:spPr>
            <a:xfrm>
              <a:off x="3282745" y="0"/>
              <a:ext cx="3038884" cy="132979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6"/>
            <p:cNvSpPr txBox="1"/>
            <p:nvPr/>
          </p:nvSpPr>
          <p:spPr>
            <a:xfrm>
              <a:off x="3282745" y="0"/>
              <a:ext cx="3038884" cy="1329797"/>
            </a:xfrm>
            <a:prstGeom prst="rect">
              <a:avLst/>
            </a:prstGeom>
            <a:noFill/>
            <a:ln>
              <a:noFill/>
            </a:ln>
          </p:spPr>
          <p:txBody>
            <a:bodyPr spcFirstLastPara="1" wrap="square" lIns="300150" tIns="165100" rIns="300150" bIns="165100" anchor="ctr" anchorCtr="0">
              <a:noAutofit/>
            </a:bodyPr>
            <a:lstStyle/>
            <a:p>
              <a:pPr marL="0" marR="0" lvl="0" indent="0" algn="l" rtl="0">
                <a:lnSpc>
                  <a:spcPct val="90000"/>
                </a:lnSpc>
                <a:spcBef>
                  <a:spcPts val="0"/>
                </a:spcBef>
                <a:spcAft>
                  <a:spcPts val="0"/>
                </a:spcAft>
                <a:buClr>
                  <a:schemeClr val="lt1"/>
                </a:buClr>
                <a:buSzPts val="6600"/>
                <a:buFont typeface="Gill Sans"/>
                <a:buNone/>
              </a:pPr>
              <a:r>
                <a:rPr lang="en-US" sz="6600">
                  <a:solidFill>
                    <a:schemeClr val="lt1"/>
                  </a:solidFill>
                  <a:latin typeface="Gill Sans"/>
                  <a:ea typeface="Gill Sans"/>
                  <a:cs typeface="Gill Sans"/>
                  <a:sym typeface="Gill Sans"/>
                </a:rPr>
                <a:t>02</a:t>
              </a:r>
              <a:endParaRPr/>
            </a:p>
          </p:txBody>
        </p:sp>
        <p:sp>
          <p:nvSpPr>
            <p:cNvPr id="217" name="Google Shape;217;p6"/>
            <p:cNvSpPr/>
            <p:nvPr/>
          </p:nvSpPr>
          <p:spPr>
            <a:xfrm>
              <a:off x="6564740" y="0"/>
              <a:ext cx="3038884" cy="3324494"/>
            </a:xfrm>
            <a:prstGeom prst="rect">
              <a:avLst/>
            </a:prstGeom>
            <a:gradFill>
              <a:gsLst>
                <a:gs pos="0">
                  <a:srgbClr val="F05736"/>
                </a:gs>
                <a:gs pos="69000">
                  <a:srgbClr val="E13103"/>
                </a:gs>
                <a:gs pos="100000">
                  <a:srgbClr val="D62E02"/>
                </a:gs>
              </a:gsLst>
              <a:lin ang="5400000" scaled="0"/>
            </a:gra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6"/>
            <p:cNvSpPr txBox="1"/>
            <p:nvPr/>
          </p:nvSpPr>
          <p:spPr>
            <a:xfrm>
              <a:off x="6564740" y="1329797"/>
              <a:ext cx="3038884" cy="1994696"/>
            </a:xfrm>
            <a:prstGeom prst="rect">
              <a:avLst/>
            </a:prstGeom>
            <a:noFill/>
            <a:ln>
              <a:noFill/>
            </a:ln>
          </p:spPr>
          <p:txBody>
            <a:bodyPr spcFirstLastPara="1" wrap="square" lIns="300150" tIns="0" rIns="300150" bIns="330200" anchor="t" anchorCtr="0">
              <a:noAutofit/>
            </a:bodyPr>
            <a:lstStyle/>
            <a:p>
              <a:pPr marL="0" marR="0" lvl="0" indent="0" algn="l" rtl="0">
                <a:lnSpc>
                  <a:spcPct val="90000"/>
                </a:lnSpc>
                <a:spcBef>
                  <a:spcPts val="0"/>
                </a:spcBef>
                <a:spcAft>
                  <a:spcPts val="0"/>
                </a:spcAft>
                <a:buClr>
                  <a:schemeClr val="lt1"/>
                </a:buClr>
                <a:buSzPts val="2300"/>
                <a:buFont typeface="Gill Sans"/>
                <a:buNone/>
              </a:pPr>
              <a:r>
                <a:rPr lang="en-US" sz="2300">
                  <a:solidFill>
                    <a:schemeClr val="lt1"/>
                  </a:solidFill>
                  <a:latin typeface="Gill Sans"/>
                  <a:ea typeface="Gill Sans"/>
                  <a:cs typeface="Gill Sans"/>
                  <a:sym typeface="Gill Sans"/>
                </a:rPr>
                <a:t>Enhance not only structural but also dynamics accuracy.</a:t>
              </a:r>
              <a:endParaRPr/>
            </a:p>
          </p:txBody>
        </p:sp>
        <p:sp>
          <p:nvSpPr>
            <p:cNvPr id="219" name="Google Shape;219;p6"/>
            <p:cNvSpPr/>
            <p:nvPr/>
          </p:nvSpPr>
          <p:spPr>
            <a:xfrm>
              <a:off x="6564740" y="0"/>
              <a:ext cx="3038884" cy="132979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6"/>
            <p:cNvSpPr txBox="1"/>
            <p:nvPr/>
          </p:nvSpPr>
          <p:spPr>
            <a:xfrm>
              <a:off x="6564740" y="0"/>
              <a:ext cx="3038884" cy="1329797"/>
            </a:xfrm>
            <a:prstGeom prst="rect">
              <a:avLst/>
            </a:prstGeom>
            <a:noFill/>
            <a:ln>
              <a:noFill/>
            </a:ln>
          </p:spPr>
          <p:txBody>
            <a:bodyPr spcFirstLastPara="1" wrap="square" lIns="300150" tIns="165100" rIns="300150" bIns="165100" anchor="ctr" anchorCtr="0">
              <a:noAutofit/>
            </a:bodyPr>
            <a:lstStyle/>
            <a:p>
              <a:pPr marL="0" marR="0" lvl="0" indent="0" algn="l" rtl="0">
                <a:lnSpc>
                  <a:spcPct val="90000"/>
                </a:lnSpc>
                <a:spcBef>
                  <a:spcPts val="0"/>
                </a:spcBef>
                <a:spcAft>
                  <a:spcPts val="0"/>
                </a:spcAft>
                <a:buClr>
                  <a:schemeClr val="lt1"/>
                </a:buClr>
                <a:buSzPts val="6600"/>
                <a:buFont typeface="Gill Sans"/>
                <a:buNone/>
              </a:pPr>
              <a:r>
                <a:rPr lang="en-US" sz="6600">
                  <a:solidFill>
                    <a:schemeClr val="lt1"/>
                  </a:solidFill>
                  <a:latin typeface="Gill Sans"/>
                  <a:ea typeface="Gill Sans"/>
                  <a:cs typeface="Gill Sans"/>
                  <a:sym typeface="Gill Sans"/>
                </a:rPr>
                <a:t>03</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PROPOSED MODEL</a:t>
            </a:r>
            <a:endParaRPr/>
          </a:p>
        </p:txBody>
      </p:sp>
      <p:sp>
        <p:nvSpPr>
          <p:cNvPr id="227" name="Google Shape;227;p7"/>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A discretization network model</a:t>
            </a:r>
            <a:endParaRPr/>
          </a:p>
          <a:p>
            <a:pPr marL="228600" lvl="0" indent="-228600" algn="l" rtl="0">
              <a:lnSpc>
                <a:spcPct val="120000"/>
              </a:lnSpc>
              <a:spcBef>
                <a:spcPts val="1000"/>
              </a:spcBef>
              <a:spcAft>
                <a:spcPts val="0"/>
              </a:spcAft>
              <a:buSzPts val="2000"/>
              <a:buChar char="•"/>
            </a:pPr>
            <a:r>
              <a:rPr lang="en-US"/>
              <a:t>Inference algorithm</a:t>
            </a:r>
            <a:endParaRPr/>
          </a:p>
          <a:p>
            <a:pPr marL="228600" lvl="0" indent="-228600" algn="l" rtl="0">
              <a:lnSpc>
                <a:spcPct val="120000"/>
              </a:lnSpc>
              <a:spcBef>
                <a:spcPts val="1000"/>
              </a:spcBef>
              <a:spcAft>
                <a:spcPts val="0"/>
              </a:spcAft>
              <a:buSzPts val="2000"/>
              <a:buChar char="•"/>
            </a:pPr>
            <a:r>
              <a:rPr lang="en-US"/>
              <a:t>Evaluation modules</a:t>
            </a:r>
            <a:endParaRPr/>
          </a:p>
        </p:txBody>
      </p:sp>
      <p:sp>
        <p:nvSpPr>
          <p:cNvPr id="228" name="Google Shape;228;p7"/>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DISCRETIZATION NETWORK MODEL</a:t>
            </a:r>
            <a:endParaRPr/>
          </a:p>
        </p:txBody>
      </p:sp>
      <p:sp>
        <p:nvSpPr>
          <p:cNvPr id="235" name="Google Shape;235;p8"/>
          <p:cNvSpPr txBox="1">
            <a:spLocks noGrp="1"/>
          </p:cNvSpPr>
          <p:nvPr>
            <p:ph type="body" idx="1"/>
          </p:nvPr>
        </p:nvSpPr>
        <p:spPr>
          <a:xfrm>
            <a:off x="1451579" y="2015732"/>
            <a:ext cx="7635271" cy="3450613"/>
          </a:xfrm>
          <a:prstGeom prst="rect">
            <a:avLst/>
          </a:prstGeom>
          <a:blipFill rotWithShape="1">
            <a:blip r:embed="rId3">
              <a:alphaModFix/>
            </a:blip>
            <a:stretch>
              <a:fillRect l="-557" t="-882"/>
            </a:stretch>
          </a:blip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a:t>
            </a:r>
            <a:endParaRPr/>
          </a:p>
        </p:txBody>
      </p:sp>
      <p:sp>
        <p:nvSpPr>
          <p:cNvPr id="236" name="Google Shape;236;p8"/>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
        <p:nvSpPr>
          <p:cNvPr id="237" name="Google Shape;237;p8"/>
          <p:cNvSpPr/>
          <p:nvPr/>
        </p:nvSpPr>
        <p:spPr>
          <a:xfrm>
            <a:off x="9559290" y="2140476"/>
            <a:ext cx="411480" cy="409575"/>
          </a:xfrm>
          <a:prstGeom prst="ellipse">
            <a:avLst/>
          </a:prstGeom>
          <a:blipFill rotWithShape="1">
            <a:blip r:embed="rId4">
              <a:alphaModFix/>
            </a:blip>
            <a:stretch>
              <a:fillRect l="-422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38" name="Google Shape;238;p8"/>
          <p:cNvSpPr/>
          <p:nvPr/>
        </p:nvSpPr>
        <p:spPr>
          <a:xfrm>
            <a:off x="10732801" y="2010915"/>
            <a:ext cx="411480" cy="409575"/>
          </a:xfrm>
          <a:prstGeom prst="ellipse">
            <a:avLst/>
          </a:prstGeom>
          <a:blipFill rotWithShape="1">
            <a:blip r:embed="rId5">
              <a:alphaModFix/>
            </a:blip>
            <a:stretch>
              <a:fillRect l="-57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39" name="Google Shape;239;p8"/>
          <p:cNvSpPr/>
          <p:nvPr/>
        </p:nvSpPr>
        <p:spPr>
          <a:xfrm>
            <a:off x="8627269" y="2852737"/>
            <a:ext cx="411480" cy="409575"/>
          </a:xfrm>
          <a:prstGeom prst="ellipse">
            <a:avLst/>
          </a:prstGeom>
          <a:blipFill rotWithShape="1">
            <a:blip r:embed="rId6">
              <a:alphaModFix/>
            </a:blip>
            <a:stretch>
              <a:fillRect l="-56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40" name="Google Shape;240;p8"/>
          <p:cNvSpPr/>
          <p:nvPr/>
        </p:nvSpPr>
        <p:spPr>
          <a:xfrm>
            <a:off x="9994122" y="4876800"/>
            <a:ext cx="411480" cy="409575"/>
          </a:xfrm>
          <a:prstGeom prst="ellipse">
            <a:avLst/>
          </a:prstGeom>
          <a:blipFill rotWithShape="1">
            <a:blip r:embed="rId7">
              <a:alphaModFix/>
            </a:blip>
            <a:stretch>
              <a:fillRect l="-1549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41" name="Google Shape;241;p8"/>
          <p:cNvSpPr/>
          <p:nvPr/>
        </p:nvSpPr>
        <p:spPr>
          <a:xfrm>
            <a:off x="11396694" y="2797000"/>
            <a:ext cx="411480" cy="409575"/>
          </a:xfrm>
          <a:prstGeom prst="ellipse">
            <a:avLst/>
          </a:prstGeom>
          <a:blipFill rotWithShape="1">
            <a:blip r:embed="rId8">
              <a:alphaModFix/>
            </a:blip>
            <a:stretch>
              <a:fillRect l="-57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42" name="Google Shape;242;p8"/>
          <p:cNvSpPr/>
          <p:nvPr/>
        </p:nvSpPr>
        <p:spPr>
          <a:xfrm>
            <a:off x="11442415" y="4438650"/>
            <a:ext cx="411480" cy="409575"/>
          </a:xfrm>
          <a:prstGeom prst="ellipse">
            <a:avLst/>
          </a:prstGeom>
          <a:blipFill rotWithShape="1">
            <a:blip r:embed="rId9">
              <a:alphaModFix/>
            </a:blip>
            <a:stretch>
              <a:fillRect l="-56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43" name="Google Shape;243;p8"/>
          <p:cNvSpPr/>
          <p:nvPr/>
        </p:nvSpPr>
        <p:spPr>
          <a:xfrm>
            <a:off x="10236518" y="3887262"/>
            <a:ext cx="411480" cy="409575"/>
          </a:xfrm>
          <a:prstGeom prst="ellipse">
            <a:avLst/>
          </a:prstGeom>
          <a:blipFill rotWithShape="1">
            <a:blip r:embed="rId10">
              <a:alphaModFix/>
            </a:blip>
            <a:stretch>
              <a:fillRect l="-56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44" name="Google Shape;244;p8"/>
          <p:cNvSpPr/>
          <p:nvPr/>
        </p:nvSpPr>
        <p:spPr>
          <a:xfrm>
            <a:off x="9096375" y="3865474"/>
            <a:ext cx="411480" cy="409575"/>
          </a:xfrm>
          <a:prstGeom prst="ellipse">
            <a:avLst/>
          </a:prstGeom>
          <a:blipFill rotWithShape="1">
            <a:blip r:embed="rId11">
              <a:alphaModFix/>
            </a:blip>
            <a:stretch>
              <a:fillRect l="-56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45" name="Google Shape;245;p8"/>
          <p:cNvSpPr/>
          <p:nvPr/>
        </p:nvSpPr>
        <p:spPr>
          <a:xfrm>
            <a:off x="10810139" y="3322415"/>
            <a:ext cx="411480" cy="409575"/>
          </a:xfrm>
          <a:prstGeom prst="ellipse">
            <a:avLst/>
          </a:prstGeom>
          <a:blipFill rotWithShape="1">
            <a:blip r:embed="rId12">
              <a:alphaModFix/>
            </a:blip>
            <a:stretch>
              <a:fillRect l="-56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46" name="Google Shape;246;p8"/>
          <p:cNvSpPr/>
          <p:nvPr/>
        </p:nvSpPr>
        <p:spPr>
          <a:xfrm>
            <a:off x="10059353" y="2836775"/>
            <a:ext cx="411480" cy="409575"/>
          </a:xfrm>
          <a:prstGeom prst="ellipse">
            <a:avLst/>
          </a:prstGeom>
          <a:blipFill rotWithShape="1">
            <a:blip r:embed="rId13">
              <a:alphaModFix/>
            </a:blip>
            <a:stretch>
              <a:fillRect l="-56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cxnSp>
        <p:nvCxnSpPr>
          <p:cNvPr id="247" name="Google Shape;247;p8"/>
          <p:cNvCxnSpPr>
            <a:stCxn id="238" idx="2"/>
            <a:endCxn id="237" idx="6"/>
          </p:cNvCxnSpPr>
          <p:nvPr/>
        </p:nvCxnSpPr>
        <p:spPr>
          <a:xfrm flipH="1">
            <a:off x="9970801" y="2215703"/>
            <a:ext cx="762000" cy="129600"/>
          </a:xfrm>
          <a:prstGeom prst="straightConnector1">
            <a:avLst/>
          </a:prstGeom>
          <a:noFill/>
          <a:ln w="34925" cap="flat" cmpd="sng">
            <a:solidFill>
              <a:srgbClr val="F38915"/>
            </a:solidFill>
            <a:prstDash val="solid"/>
            <a:round/>
            <a:headEnd type="none" w="sm" len="sm"/>
            <a:tailEnd type="oval" w="med" len="med"/>
          </a:ln>
        </p:spPr>
      </p:cxnSp>
      <p:cxnSp>
        <p:nvCxnSpPr>
          <p:cNvPr id="248" name="Google Shape;248;p8"/>
          <p:cNvCxnSpPr>
            <a:stCxn id="237" idx="5"/>
            <a:endCxn id="246" idx="1"/>
          </p:cNvCxnSpPr>
          <p:nvPr/>
        </p:nvCxnSpPr>
        <p:spPr>
          <a:xfrm>
            <a:off x="9910510" y="2490070"/>
            <a:ext cx="209100" cy="406800"/>
          </a:xfrm>
          <a:prstGeom prst="straightConnector1">
            <a:avLst/>
          </a:prstGeom>
          <a:noFill/>
          <a:ln w="34925" cap="flat" cmpd="sng">
            <a:solidFill>
              <a:srgbClr val="0C0CEE"/>
            </a:solidFill>
            <a:prstDash val="solid"/>
            <a:round/>
            <a:headEnd type="none" w="sm" len="sm"/>
            <a:tailEnd type="triangle" w="med" len="med"/>
          </a:ln>
        </p:spPr>
      </p:cxnSp>
      <p:cxnSp>
        <p:nvCxnSpPr>
          <p:cNvPr id="249" name="Google Shape;249;p8"/>
          <p:cNvCxnSpPr>
            <a:stCxn id="246" idx="2"/>
            <a:endCxn id="239" idx="7"/>
          </p:cNvCxnSpPr>
          <p:nvPr/>
        </p:nvCxnSpPr>
        <p:spPr>
          <a:xfrm rot="10800000">
            <a:off x="8978453" y="2912863"/>
            <a:ext cx="1080900" cy="128700"/>
          </a:xfrm>
          <a:prstGeom prst="straightConnector1">
            <a:avLst/>
          </a:prstGeom>
          <a:noFill/>
          <a:ln w="34925" cap="flat" cmpd="sng">
            <a:solidFill>
              <a:srgbClr val="F38915"/>
            </a:solidFill>
            <a:prstDash val="solid"/>
            <a:round/>
            <a:headEnd type="none" w="sm" len="sm"/>
            <a:tailEnd type="oval" w="med" len="med"/>
          </a:ln>
        </p:spPr>
      </p:cxnSp>
      <p:cxnSp>
        <p:nvCxnSpPr>
          <p:cNvPr id="250" name="Google Shape;250;p8"/>
          <p:cNvCxnSpPr>
            <a:stCxn id="244" idx="1"/>
            <a:endCxn id="239" idx="4"/>
          </p:cNvCxnSpPr>
          <p:nvPr/>
        </p:nvCxnSpPr>
        <p:spPr>
          <a:xfrm rot="10800000">
            <a:off x="8832935" y="3262455"/>
            <a:ext cx="323700" cy="663000"/>
          </a:xfrm>
          <a:prstGeom prst="straightConnector1">
            <a:avLst/>
          </a:prstGeom>
          <a:noFill/>
          <a:ln w="34925" cap="flat" cmpd="sng">
            <a:solidFill>
              <a:srgbClr val="F38915"/>
            </a:solidFill>
            <a:prstDash val="solid"/>
            <a:round/>
            <a:headEnd type="none" w="sm" len="sm"/>
            <a:tailEnd type="oval" w="med" len="med"/>
          </a:ln>
        </p:spPr>
      </p:cxnSp>
      <p:cxnSp>
        <p:nvCxnSpPr>
          <p:cNvPr id="251" name="Google Shape;251;p8"/>
          <p:cNvCxnSpPr>
            <a:stCxn id="239" idx="5"/>
            <a:endCxn id="243" idx="1"/>
          </p:cNvCxnSpPr>
          <p:nvPr/>
        </p:nvCxnSpPr>
        <p:spPr>
          <a:xfrm>
            <a:off x="8978489" y="3202331"/>
            <a:ext cx="1318200" cy="744900"/>
          </a:xfrm>
          <a:prstGeom prst="straightConnector1">
            <a:avLst/>
          </a:prstGeom>
          <a:noFill/>
          <a:ln w="34925" cap="flat" cmpd="sng">
            <a:solidFill>
              <a:srgbClr val="0C0CEE"/>
            </a:solidFill>
            <a:prstDash val="solid"/>
            <a:round/>
            <a:headEnd type="none" w="sm" len="sm"/>
            <a:tailEnd type="triangle" w="med" len="med"/>
          </a:ln>
        </p:spPr>
      </p:cxnSp>
      <p:cxnSp>
        <p:nvCxnSpPr>
          <p:cNvPr id="252" name="Google Shape;252;p8"/>
          <p:cNvCxnSpPr>
            <a:stCxn id="243" idx="2"/>
            <a:endCxn id="244" idx="6"/>
          </p:cNvCxnSpPr>
          <p:nvPr/>
        </p:nvCxnSpPr>
        <p:spPr>
          <a:xfrm rot="10800000">
            <a:off x="9507818" y="4070150"/>
            <a:ext cx="728700" cy="21900"/>
          </a:xfrm>
          <a:prstGeom prst="straightConnector1">
            <a:avLst/>
          </a:prstGeom>
          <a:noFill/>
          <a:ln w="34925" cap="flat" cmpd="sng">
            <a:solidFill>
              <a:srgbClr val="0C0CEE"/>
            </a:solidFill>
            <a:prstDash val="solid"/>
            <a:round/>
            <a:headEnd type="none" w="sm" len="sm"/>
            <a:tailEnd type="triangle" w="med" len="med"/>
          </a:ln>
        </p:spPr>
      </p:cxnSp>
      <p:cxnSp>
        <p:nvCxnSpPr>
          <p:cNvPr id="253" name="Google Shape;253;p8"/>
          <p:cNvCxnSpPr>
            <a:stCxn id="244" idx="5"/>
            <a:endCxn id="240" idx="1"/>
          </p:cNvCxnSpPr>
          <p:nvPr/>
        </p:nvCxnSpPr>
        <p:spPr>
          <a:xfrm>
            <a:off x="9447595" y="4215068"/>
            <a:ext cx="606900" cy="721800"/>
          </a:xfrm>
          <a:prstGeom prst="straightConnector1">
            <a:avLst/>
          </a:prstGeom>
          <a:noFill/>
          <a:ln w="34925" cap="flat" cmpd="sng">
            <a:solidFill>
              <a:srgbClr val="F38915"/>
            </a:solidFill>
            <a:prstDash val="solid"/>
            <a:round/>
            <a:headEnd type="none" w="sm" len="sm"/>
            <a:tailEnd type="oval" w="med" len="med"/>
          </a:ln>
        </p:spPr>
      </p:cxnSp>
      <p:cxnSp>
        <p:nvCxnSpPr>
          <p:cNvPr id="254" name="Google Shape;254;p8"/>
          <p:cNvCxnSpPr>
            <a:stCxn id="242" idx="3"/>
            <a:endCxn id="240" idx="6"/>
          </p:cNvCxnSpPr>
          <p:nvPr/>
        </p:nvCxnSpPr>
        <p:spPr>
          <a:xfrm flipH="1">
            <a:off x="10405575" y="4788244"/>
            <a:ext cx="1097100" cy="293400"/>
          </a:xfrm>
          <a:prstGeom prst="straightConnector1">
            <a:avLst/>
          </a:prstGeom>
          <a:noFill/>
          <a:ln w="34925" cap="flat" cmpd="sng">
            <a:solidFill>
              <a:srgbClr val="0C0CEE"/>
            </a:solidFill>
            <a:prstDash val="solid"/>
            <a:round/>
            <a:headEnd type="none" w="sm" len="sm"/>
            <a:tailEnd type="triangle" w="med" len="med"/>
          </a:ln>
        </p:spPr>
      </p:cxnSp>
      <p:sp>
        <p:nvSpPr>
          <p:cNvPr id="255" name="Google Shape;255;p8"/>
          <p:cNvSpPr/>
          <p:nvPr/>
        </p:nvSpPr>
        <p:spPr>
          <a:xfrm>
            <a:off x="10658475" y="3181350"/>
            <a:ext cx="1071548" cy="904875"/>
          </a:xfrm>
          <a:custGeom>
            <a:avLst/>
            <a:gdLst/>
            <a:ahLst/>
            <a:cxnLst/>
            <a:rect l="l" t="t" r="r" b="b"/>
            <a:pathLst>
              <a:path w="1071548" h="904875" extrusionOk="0">
                <a:moveTo>
                  <a:pt x="0" y="904875"/>
                </a:moveTo>
                <a:cubicBezTo>
                  <a:pt x="384969" y="899318"/>
                  <a:pt x="769938" y="893762"/>
                  <a:pt x="942975" y="742950"/>
                </a:cubicBezTo>
                <a:cubicBezTo>
                  <a:pt x="1116012" y="592138"/>
                  <a:pt x="1077118" y="296069"/>
                  <a:pt x="1038225" y="0"/>
                </a:cubicBezTo>
              </a:path>
            </a:pathLst>
          </a:custGeom>
          <a:noFill/>
          <a:ln w="34925" cap="flat" cmpd="sng">
            <a:solidFill>
              <a:srgbClr val="F389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56" name="Google Shape;256;p8"/>
          <p:cNvSpPr/>
          <p:nvPr/>
        </p:nvSpPr>
        <p:spPr>
          <a:xfrm>
            <a:off x="10481309" y="2428875"/>
            <a:ext cx="443865" cy="1436599"/>
          </a:xfrm>
          <a:custGeom>
            <a:avLst/>
            <a:gdLst/>
            <a:ahLst/>
            <a:cxnLst/>
            <a:rect l="l" t="t" r="r" b="b"/>
            <a:pathLst>
              <a:path w="457200" h="1419225" extrusionOk="0">
                <a:moveTo>
                  <a:pt x="0" y="1419225"/>
                </a:moveTo>
                <a:cubicBezTo>
                  <a:pt x="61912" y="1175543"/>
                  <a:pt x="123825" y="931862"/>
                  <a:pt x="200025" y="695325"/>
                </a:cubicBezTo>
                <a:cubicBezTo>
                  <a:pt x="276225" y="458788"/>
                  <a:pt x="366712" y="229394"/>
                  <a:pt x="457200" y="0"/>
                </a:cubicBezTo>
              </a:path>
            </a:pathLst>
          </a:custGeom>
          <a:noFill/>
          <a:ln w="34925" cap="flat" cmpd="sng">
            <a:solidFill>
              <a:srgbClr val="0C0C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57" name="Google Shape;257;p8"/>
          <p:cNvSpPr/>
          <p:nvPr/>
        </p:nvSpPr>
        <p:spPr>
          <a:xfrm>
            <a:off x="9305925" y="3443854"/>
            <a:ext cx="1514475" cy="404246"/>
          </a:xfrm>
          <a:custGeom>
            <a:avLst/>
            <a:gdLst/>
            <a:ahLst/>
            <a:cxnLst/>
            <a:rect l="l" t="t" r="r" b="b"/>
            <a:pathLst>
              <a:path w="1514475" h="404246" extrusionOk="0">
                <a:moveTo>
                  <a:pt x="0" y="404246"/>
                </a:moveTo>
                <a:cubicBezTo>
                  <a:pt x="183356" y="248671"/>
                  <a:pt x="366713" y="93096"/>
                  <a:pt x="619125" y="32771"/>
                </a:cubicBezTo>
                <a:cubicBezTo>
                  <a:pt x="871537" y="-27554"/>
                  <a:pt x="1193006" y="7371"/>
                  <a:pt x="1514475" y="42296"/>
                </a:cubicBezTo>
              </a:path>
            </a:pathLst>
          </a:custGeom>
          <a:noFill/>
          <a:ln w="34925" cap="flat" cmpd="sng">
            <a:solidFill>
              <a:srgbClr val="0C0C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258" name="Google Shape;258;p8"/>
          <p:cNvCxnSpPr>
            <a:stCxn id="241" idx="2"/>
            <a:endCxn id="246" idx="6"/>
          </p:cNvCxnSpPr>
          <p:nvPr/>
        </p:nvCxnSpPr>
        <p:spPr>
          <a:xfrm flipH="1">
            <a:off x="10470894" y="3001788"/>
            <a:ext cx="925800" cy="39900"/>
          </a:xfrm>
          <a:prstGeom prst="straightConnector1">
            <a:avLst/>
          </a:prstGeom>
          <a:noFill/>
          <a:ln w="34925" cap="flat" cmpd="sng">
            <a:solidFill>
              <a:srgbClr val="0C0CEE"/>
            </a:solidFill>
            <a:prstDash val="solid"/>
            <a:round/>
            <a:headEnd type="none" w="sm" len="sm"/>
            <a:tailEnd type="triangle" w="med" len="med"/>
          </a:ln>
        </p:spPr>
      </p:cxnSp>
      <p:sp>
        <p:nvSpPr>
          <p:cNvPr id="259" name="Google Shape;259;p8"/>
          <p:cNvSpPr/>
          <p:nvPr/>
        </p:nvSpPr>
        <p:spPr>
          <a:xfrm>
            <a:off x="11106150" y="2323374"/>
            <a:ext cx="95829" cy="1010376"/>
          </a:xfrm>
          <a:custGeom>
            <a:avLst/>
            <a:gdLst/>
            <a:ahLst/>
            <a:cxnLst/>
            <a:rect l="l" t="t" r="r" b="b"/>
            <a:pathLst>
              <a:path w="95829" h="1010376" extrusionOk="0">
                <a:moveTo>
                  <a:pt x="0" y="726"/>
                </a:moveTo>
                <a:cubicBezTo>
                  <a:pt x="11112" y="-1655"/>
                  <a:pt x="22225" y="-4036"/>
                  <a:pt x="38100" y="95976"/>
                </a:cubicBezTo>
                <a:cubicBezTo>
                  <a:pt x="53975" y="195988"/>
                  <a:pt x="101600" y="448401"/>
                  <a:pt x="95250" y="600801"/>
                </a:cubicBezTo>
                <a:cubicBezTo>
                  <a:pt x="88900" y="753201"/>
                  <a:pt x="44450" y="881788"/>
                  <a:pt x="0" y="1010376"/>
                </a:cubicBezTo>
              </a:path>
            </a:pathLst>
          </a:custGeom>
          <a:noFill/>
          <a:ln w="34925" cap="flat" cmpd="sng">
            <a:solidFill>
              <a:srgbClr val="F389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60" name="Google Shape;260;p8"/>
          <p:cNvSpPr/>
          <p:nvPr/>
        </p:nvSpPr>
        <p:spPr>
          <a:xfrm>
            <a:off x="9888204" y="3257550"/>
            <a:ext cx="1570371" cy="1420084"/>
          </a:xfrm>
          <a:custGeom>
            <a:avLst/>
            <a:gdLst/>
            <a:ahLst/>
            <a:cxnLst/>
            <a:rect l="l" t="t" r="r" b="b"/>
            <a:pathLst>
              <a:path w="1570371" h="1420084" extrusionOk="0">
                <a:moveTo>
                  <a:pt x="370221" y="0"/>
                </a:moveTo>
                <a:cubicBezTo>
                  <a:pt x="199564" y="196850"/>
                  <a:pt x="28908" y="393700"/>
                  <a:pt x="8271" y="619125"/>
                </a:cubicBezTo>
                <a:cubicBezTo>
                  <a:pt x="-12367" y="844550"/>
                  <a:pt x="-13954" y="1231900"/>
                  <a:pt x="246396" y="1352550"/>
                </a:cubicBezTo>
                <a:cubicBezTo>
                  <a:pt x="506746" y="1473200"/>
                  <a:pt x="1038558" y="1408112"/>
                  <a:pt x="1570371" y="1343025"/>
                </a:cubicBezTo>
              </a:path>
            </a:pathLst>
          </a:custGeom>
          <a:noFill/>
          <a:ln w="34925" cap="flat" cmpd="sng">
            <a:solidFill>
              <a:srgbClr val="F3891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THE DISCRETIZATION NETWORK INFERENCE</a:t>
            </a:r>
            <a:endParaRPr/>
          </a:p>
        </p:txBody>
      </p:sp>
      <p:sp>
        <p:nvSpPr>
          <p:cNvPr id="267" name="Google Shape;267;p9"/>
          <p:cNvSpPr txBox="1">
            <a:spLocks noGrp="1"/>
          </p:cNvSpPr>
          <p:nvPr>
            <p:ph type="body" idx="1"/>
          </p:nvPr>
        </p:nvSpPr>
        <p:spPr>
          <a:xfrm>
            <a:off x="1451579" y="2015732"/>
            <a:ext cx="9603275" cy="3613114"/>
          </a:xfrm>
          <a:prstGeom prst="rect">
            <a:avLst/>
          </a:prstGeom>
          <a:blipFill rotWithShape="1">
            <a:blip r:embed="rId3">
              <a:alphaModFix/>
            </a:blip>
            <a:stretch>
              <a:fillRect l="-570" t="-843" b="-506"/>
            </a:stretch>
          </a:blip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a:t>
            </a:r>
            <a:endParaRPr/>
          </a:p>
        </p:txBody>
      </p:sp>
      <p:sp>
        <p:nvSpPr>
          <p:cNvPr id="268" name="Google Shape;268;p9"/>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STRUCTURE PERFORMANCE METRICS</a:t>
            </a:r>
            <a:endParaRPr/>
          </a:p>
        </p:txBody>
      </p:sp>
      <p:sp>
        <p:nvSpPr>
          <p:cNvPr id="275" name="Google Shape;275;p10"/>
          <p:cNvSpPr txBox="1">
            <a:spLocks noGrp="1"/>
          </p:cNvSpPr>
          <p:nvPr>
            <p:ph type="body" idx="1"/>
          </p:nvPr>
        </p:nvSpPr>
        <p:spPr>
          <a:xfrm>
            <a:off x="1451579" y="2015732"/>
            <a:ext cx="9603275" cy="3613114"/>
          </a:xfrm>
          <a:prstGeom prst="rect">
            <a:avLst/>
          </a:prstGeom>
          <a:blipFill rotWithShape="1">
            <a:blip r:embed="rId3">
              <a:alphaModFix/>
            </a:blip>
            <a:stretch>
              <a:fillRect l="-443" t="-167" r="-61"/>
            </a:stretch>
          </a:blip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a:t>
            </a:r>
            <a:endParaRPr/>
          </a:p>
        </p:txBody>
      </p:sp>
      <p:sp>
        <p:nvSpPr>
          <p:cNvPr id="276" name="Google Shape;276;p10"/>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1"/>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METHODOLOGY</a:t>
            </a:r>
            <a:endParaRPr/>
          </a:p>
        </p:txBody>
      </p:sp>
      <p:sp>
        <p:nvSpPr>
          <p:cNvPr id="283" name="Google Shape;283;p11"/>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84" name="Google Shape;284;p11"/>
          <p:cNvGrpSpPr/>
          <p:nvPr/>
        </p:nvGrpSpPr>
        <p:grpSpPr>
          <a:xfrm>
            <a:off x="6656124" y="2178240"/>
            <a:ext cx="1960333" cy="3321170"/>
            <a:chOff x="5370389" y="2361635"/>
            <a:chExt cx="1960333" cy="3321170"/>
          </a:xfrm>
        </p:grpSpPr>
        <p:sp>
          <p:nvSpPr>
            <p:cNvPr id="285" name="Google Shape;285;p11"/>
            <p:cNvSpPr/>
            <p:nvPr/>
          </p:nvSpPr>
          <p:spPr>
            <a:xfrm>
              <a:off x="5370389" y="2361635"/>
              <a:ext cx="1960333" cy="3321170"/>
            </a:xfrm>
            <a:prstGeom prst="roundRect">
              <a:avLst>
                <a:gd name="adj" fmla="val 16667"/>
              </a:avLst>
            </a:prstGeom>
            <a:noFill/>
            <a:ln w="2540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86" name="Google Shape;286;p11"/>
            <p:cNvSpPr/>
            <p:nvPr/>
          </p:nvSpPr>
          <p:spPr>
            <a:xfrm>
              <a:off x="5760174" y="2509023"/>
              <a:ext cx="1187777" cy="784728"/>
            </a:xfrm>
            <a:prstGeom prst="rect">
              <a:avLst/>
            </a:prstGeom>
            <a:solidFill>
              <a:srgbClr val="E1896D"/>
            </a:solidFill>
            <a:ln w="1905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00B050"/>
                  </a:solidFill>
                  <a:latin typeface="Times New Roman"/>
                  <a:ea typeface="Times New Roman"/>
                  <a:cs typeface="Times New Roman"/>
                  <a:sym typeface="Times New Roman"/>
                </a:rPr>
                <a:t>MIFS</a:t>
              </a:r>
              <a:endParaRPr/>
            </a:p>
          </p:txBody>
        </p:sp>
        <p:sp>
          <p:nvSpPr>
            <p:cNvPr id="287" name="Google Shape;287;p11"/>
            <p:cNvSpPr/>
            <p:nvPr/>
          </p:nvSpPr>
          <p:spPr>
            <a:xfrm>
              <a:off x="5760174" y="3556185"/>
              <a:ext cx="1187778" cy="784728"/>
            </a:xfrm>
            <a:prstGeom prst="rect">
              <a:avLst/>
            </a:prstGeom>
            <a:solidFill>
              <a:srgbClr val="FFD047"/>
            </a:solidFill>
            <a:ln w="1905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FF0000"/>
                  </a:solidFill>
                  <a:latin typeface="Times New Roman"/>
                  <a:ea typeface="Times New Roman"/>
                  <a:cs typeface="Times New Roman"/>
                  <a:sym typeface="Times New Roman"/>
                </a:rPr>
                <a:t>SWAP</a:t>
              </a:r>
              <a:endParaRPr/>
            </a:p>
          </p:txBody>
        </p:sp>
        <p:sp>
          <p:nvSpPr>
            <p:cNvPr id="288" name="Google Shape;288;p11"/>
            <p:cNvSpPr/>
            <p:nvPr/>
          </p:nvSpPr>
          <p:spPr>
            <a:xfrm>
              <a:off x="5756666" y="4608396"/>
              <a:ext cx="1187778" cy="784728"/>
            </a:xfrm>
            <a:prstGeom prst="rect">
              <a:avLst/>
            </a:prstGeom>
            <a:solidFill>
              <a:srgbClr val="FFE4B5"/>
            </a:solidFill>
            <a:ln w="1905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rgbClr val="7030A0"/>
                  </a:solidFill>
                  <a:latin typeface="Times New Roman"/>
                  <a:ea typeface="Times New Roman"/>
                  <a:cs typeface="Times New Roman"/>
                  <a:sym typeface="Times New Roman"/>
                </a:rPr>
                <a:t>Regulatory genes and rules</a:t>
              </a:r>
              <a:endParaRPr/>
            </a:p>
          </p:txBody>
        </p:sp>
        <p:cxnSp>
          <p:nvCxnSpPr>
            <p:cNvPr id="289" name="Google Shape;289;p11"/>
            <p:cNvCxnSpPr>
              <a:endCxn id="287" idx="0"/>
            </p:cNvCxnSpPr>
            <p:nvPr/>
          </p:nvCxnSpPr>
          <p:spPr>
            <a:xfrm>
              <a:off x="6350463" y="3302085"/>
              <a:ext cx="3600" cy="254100"/>
            </a:xfrm>
            <a:prstGeom prst="straightConnector1">
              <a:avLst/>
            </a:prstGeom>
            <a:noFill/>
            <a:ln w="25400" cap="flat" cmpd="sng">
              <a:solidFill>
                <a:schemeClr val="accent1"/>
              </a:solidFill>
              <a:prstDash val="solid"/>
              <a:round/>
              <a:headEnd type="none" w="sm" len="sm"/>
              <a:tailEnd type="triangle" w="med" len="med"/>
            </a:ln>
          </p:spPr>
        </p:cxnSp>
        <p:cxnSp>
          <p:nvCxnSpPr>
            <p:cNvPr id="290" name="Google Shape;290;p11"/>
            <p:cNvCxnSpPr>
              <a:endCxn id="288" idx="0"/>
            </p:cNvCxnSpPr>
            <p:nvPr/>
          </p:nvCxnSpPr>
          <p:spPr>
            <a:xfrm>
              <a:off x="6350555" y="4358796"/>
              <a:ext cx="0" cy="249600"/>
            </a:xfrm>
            <a:prstGeom prst="straightConnector1">
              <a:avLst/>
            </a:prstGeom>
            <a:noFill/>
            <a:ln w="25400" cap="flat" cmpd="sng">
              <a:solidFill>
                <a:schemeClr val="accent1"/>
              </a:solidFill>
              <a:prstDash val="solid"/>
              <a:round/>
              <a:headEnd type="none" w="sm" len="sm"/>
              <a:tailEnd type="triangle" w="med" len="med"/>
            </a:ln>
          </p:spPr>
        </p:cxnSp>
      </p:grpSp>
      <p:grpSp>
        <p:nvGrpSpPr>
          <p:cNvPr id="291" name="Google Shape;291;p11"/>
          <p:cNvGrpSpPr/>
          <p:nvPr/>
        </p:nvGrpSpPr>
        <p:grpSpPr>
          <a:xfrm>
            <a:off x="9320735" y="1840625"/>
            <a:ext cx="1747241" cy="1647248"/>
            <a:chOff x="7608731" y="3122571"/>
            <a:chExt cx="1747241" cy="1647248"/>
          </a:xfrm>
        </p:grpSpPr>
        <p:sp>
          <p:nvSpPr>
            <p:cNvPr id="292" name="Google Shape;292;p11"/>
            <p:cNvSpPr/>
            <p:nvPr/>
          </p:nvSpPr>
          <p:spPr>
            <a:xfrm>
              <a:off x="7608731" y="3122571"/>
              <a:ext cx="1747241" cy="1647248"/>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93" name="Google Shape;293;p11"/>
            <p:cNvSpPr/>
            <p:nvPr/>
          </p:nvSpPr>
          <p:spPr>
            <a:xfrm>
              <a:off x="7699514" y="3231586"/>
              <a:ext cx="457200" cy="457200"/>
            </a:xfrm>
            <a:prstGeom prst="flowChartConnector">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94" name="Google Shape;294;p11"/>
            <p:cNvSpPr/>
            <p:nvPr/>
          </p:nvSpPr>
          <p:spPr>
            <a:xfrm>
              <a:off x="7716999" y="4254960"/>
              <a:ext cx="457200" cy="457200"/>
            </a:xfrm>
            <a:prstGeom prst="flowChartConnector">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95" name="Google Shape;295;p11"/>
            <p:cNvSpPr/>
            <p:nvPr/>
          </p:nvSpPr>
          <p:spPr>
            <a:xfrm>
              <a:off x="8756887" y="3224642"/>
              <a:ext cx="457200" cy="457200"/>
            </a:xfrm>
            <a:prstGeom prst="flowChartConnector">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96" name="Google Shape;296;p11"/>
            <p:cNvSpPr/>
            <p:nvPr/>
          </p:nvSpPr>
          <p:spPr>
            <a:xfrm>
              <a:off x="8756887" y="4252457"/>
              <a:ext cx="457200" cy="457200"/>
            </a:xfrm>
            <a:prstGeom prst="flowChartConnector">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297" name="Google Shape;297;p11"/>
            <p:cNvSpPr/>
            <p:nvPr/>
          </p:nvSpPr>
          <p:spPr>
            <a:xfrm>
              <a:off x="8243506" y="3755995"/>
              <a:ext cx="457200" cy="457200"/>
            </a:xfrm>
            <a:prstGeom prst="flowChartConnector">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cxnSp>
          <p:nvCxnSpPr>
            <p:cNvPr id="298" name="Google Shape;298;p11"/>
            <p:cNvCxnSpPr>
              <a:stCxn id="297" idx="7"/>
              <a:endCxn id="295" idx="3"/>
            </p:cNvCxnSpPr>
            <p:nvPr/>
          </p:nvCxnSpPr>
          <p:spPr>
            <a:xfrm rot="10800000" flipH="1">
              <a:off x="8633751" y="3614750"/>
              <a:ext cx="190200" cy="208200"/>
            </a:xfrm>
            <a:prstGeom prst="straightConnector1">
              <a:avLst/>
            </a:prstGeom>
            <a:noFill/>
            <a:ln w="19050" cap="flat" cmpd="sng">
              <a:solidFill>
                <a:srgbClr val="3C0FF9"/>
              </a:solidFill>
              <a:prstDash val="solid"/>
              <a:round/>
              <a:headEnd type="none" w="sm" len="sm"/>
              <a:tailEnd type="triangle" w="med" len="med"/>
            </a:ln>
          </p:spPr>
        </p:cxnSp>
        <p:cxnSp>
          <p:nvCxnSpPr>
            <p:cNvPr id="299" name="Google Shape;299;p11"/>
            <p:cNvCxnSpPr>
              <a:endCxn id="296" idx="2"/>
            </p:cNvCxnSpPr>
            <p:nvPr/>
          </p:nvCxnSpPr>
          <p:spPr>
            <a:xfrm rot="10800000" flipH="1">
              <a:off x="8182987" y="4481057"/>
              <a:ext cx="573900" cy="10500"/>
            </a:xfrm>
            <a:prstGeom prst="straightConnector1">
              <a:avLst/>
            </a:prstGeom>
            <a:noFill/>
            <a:ln w="19050" cap="flat" cmpd="sng">
              <a:solidFill>
                <a:srgbClr val="3C0FF9"/>
              </a:solidFill>
              <a:prstDash val="solid"/>
              <a:round/>
              <a:headEnd type="none" w="sm" len="sm"/>
              <a:tailEnd type="triangle" w="med" len="med"/>
            </a:ln>
          </p:spPr>
        </p:cxnSp>
        <p:cxnSp>
          <p:nvCxnSpPr>
            <p:cNvPr id="300" name="Google Shape;300;p11"/>
            <p:cNvCxnSpPr/>
            <p:nvPr/>
          </p:nvCxnSpPr>
          <p:spPr>
            <a:xfrm flipH="1">
              <a:off x="7928113" y="3855924"/>
              <a:ext cx="1" cy="224140"/>
            </a:xfrm>
            <a:prstGeom prst="straightConnector1">
              <a:avLst/>
            </a:prstGeom>
            <a:noFill/>
            <a:ln w="19050" cap="flat" cmpd="sng">
              <a:solidFill>
                <a:srgbClr val="3C0FF9"/>
              </a:solidFill>
              <a:prstDash val="dash"/>
              <a:round/>
              <a:headEnd type="none" w="sm" len="sm"/>
              <a:tailEnd type="none" w="sm" len="sm"/>
            </a:ln>
          </p:spPr>
        </p:cxnSp>
        <p:cxnSp>
          <p:nvCxnSpPr>
            <p:cNvPr id="301" name="Google Shape;301;p11"/>
            <p:cNvCxnSpPr>
              <a:stCxn id="295" idx="4"/>
              <a:endCxn id="296" idx="0"/>
            </p:cNvCxnSpPr>
            <p:nvPr/>
          </p:nvCxnSpPr>
          <p:spPr>
            <a:xfrm>
              <a:off x="8985487" y="3681842"/>
              <a:ext cx="0" cy="570600"/>
            </a:xfrm>
            <a:prstGeom prst="straightConnector1">
              <a:avLst/>
            </a:prstGeom>
            <a:noFill/>
            <a:ln w="19050" cap="flat" cmpd="sng">
              <a:solidFill>
                <a:srgbClr val="3C0FF9"/>
              </a:solidFill>
              <a:prstDash val="solid"/>
              <a:round/>
              <a:headEnd type="none" w="sm" len="sm"/>
              <a:tailEnd type="triangle" w="med" len="med"/>
            </a:ln>
          </p:spPr>
        </p:cxnSp>
        <p:cxnSp>
          <p:nvCxnSpPr>
            <p:cNvPr id="302" name="Google Shape;302;p11"/>
            <p:cNvCxnSpPr>
              <a:stCxn id="296" idx="1"/>
              <a:endCxn id="297" idx="5"/>
            </p:cNvCxnSpPr>
            <p:nvPr/>
          </p:nvCxnSpPr>
          <p:spPr>
            <a:xfrm rot="10800000">
              <a:off x="8633642" y="4146312"/>
              <a:ext cx="190200" cy="173100"/>
            </a:xfrm>
            <a:prstGeom prst="straightConnector1">
              <a:avLst/>
            </a:prstGeom>
            <a:noFill/>
            <a:ln w="19050" cap="flat" cmpd="sng">
              <a:solidFill>
                <a:srgbClr val="FF0000"/>
              </a:solidFill>
              <a:prstDash val="solid"/>
              <a:round/>
              <a:headEnd type="none" w="sm" len="sm"/>
              <a:tailEnd type="none" w="sm" len="sm"/>
            </a:ln>
          </p:spPr>
        </p:cxnSp>
        <p:cxnSp>
          <p:nvCxnSpPr>
            <p:cNvPr id="303" name="Google Shape;303;p11"/>
            <p:cNvCxnSpPr/>
            <p:nvPr/>
          </p:nvCxnSpPr>
          <p:spPr>
            <a:xfrm flipH="1">
              <a:off x="8586765" y="4090812"/>
              <a:ext cx="109927" cy="116358"/>
            </a:xfrm>
            <a:prstGeom prst="straightConnector1">
              <a:avLst/>
            </a:prstGeom>
            <a:noFill/>
            <a:ln w="19050" cap="flat" cmpd="sng">
              <a:solidFill>
                <a:srgbClr val="FF0000"/>
              </a:solidFill>
              <a:prstDash val="solid"/>
              <a:round/>
              <a:headEnd type="none" w="sm" len="sm"/>
              <a:tailEnd type="none" w="sm" len="sm"/>
            </a:ln>
          </p:spPr>
        </p:cxnSp>
        <p:cxnSp>
          <p:nvCxnSpPr>
            <p:cNvPr id="304" name="Google Shape;304;p11"/>
            <p:cNvCxnSpPr>
              <a:stCxn id="295" idx="2"/>
              <a:endCxn id="293" idx="6"/>
            </p:cNvCxnSpPr>
            <p:nvPr/>
          </p:nvCxnSpPr>
          <p:spPr>
            <a:xfrm flipH="1">
              <a:off x="8156587" y="3453242"/>
              <a:ext cx="600300" cy="6900"/>
            </a:xfrm>
            <a:prstGeom prst="straightConnector1">
              <a:avLst/>
            </a:prstGeom>
            <a:noFill/>
            <a:ln w="19050" cap="flat" cmpd="sng">
              <a:solidFill>
                <a:srgbClr val="FF0000"/>
              </a:solidFill>
              <a:prstDash val="solid"/>
              <a:round/>
              <a:headEnd type="none" w="sm" len="sm"/>
              <a:tailEnd type="none" w="sm" len="sm"/>
            </a:ln>
          </p:spPr>
        </p:cxnSp>
        <p:cxnSp>
          <p:nvCxnSpPr>
            <p:cNvPr id="305" name="Google Shape;305;p11"/>
            <p:cNvCxnSpPr/>
            <p:nvPr/>
          </p:nvCxnSpPr>
          <p:spPr>
            <a:xfrm>
              <a:off x="8165366" y="3379920"/>
              <a:ext cx="0" cy="169122"/>
            </a:xfrm>
            <a:prstGeom prst="straightConnector1">
              <a:avLst/>
            </a:prstGeom>
            <a:noFill/>
            <a:ln w="19050" cap="flat" cmpd="sng">
              <a:solidFill>
                <a:srgbClr val="FF0000"/>
              </a:solidFill>
              <a:prstDash val="solid"/>
              <a:round/>
              <a:headEnd type="none" w="sm" len="sm"/>
              <a:tailEnd type="none" w="sm" len="sm"/>
            </a:ln>
          </p:spPr>
        </p:cxnSp>
        <p:cxnSp>
          <p:nvCxnSpPr>
            <p:cNvPr id="306" name="Google Shape;306;p11"/>
            <p:cNvCxnSpPr>
              <a:stCxn id="294" idx="7"/>
              <a:endCxn id="297" idx="3"/>
            </p:cNvCxnSpPr>
            <p:nvPr/>
          </p:nvCxnSpPr>
          <p:spPr>
            <a:xfrm rot="10800000" flipH="1">
              <a:off x="8107244" y="4146116"/>
              <a:ext cx="203100" cy="175800"/>
            </a:xfrm>
            <a:prstGeom prst="straightConnector1">
              <a:avLst/>
            </a:prstGeom>
            <a:noFill/>
            <a:ln w="19050" cap="flat" cmpd="sng">
              <a:solidFill>
                <a:srgbClr val="3C0FF9"/>
              </a:solidFill>
              <a:prstDash val="solid"/>
              <a:round/>
              <a:headEnd type="none" w="sm" len="sm"/>
              <a:tailEnd type="triangle" w="med" len="med"/>
            </a:ln>
          </p:spPr>
        </p:cxnSp>
      </p:grpSp>
      <p:grpSp>
        <p:nvGrpSpPr>
          <p:cNvPr id="307" name="Google Shape;307;p11"/>
          <p:cNvGrpSpPr/>
          <p:nvPr/>
        </p:nvGrpSpPr>
        <p:grpSpPr>
          <a:xfrm>
            <a:off x="4027481" y="3487873"/>
            <a:ext cx="1939041" cy="781113"/>
            <a:chOff x="3150460" y="3309699"/>
            <a:chExt cx="1939041" cy="781113"/>
          </a:xfrm>
        </p:grpSpPr>
        <p:sp>
          <p:nvSpPr>
            <p:cNvPr id="308" name="Google Shape;308;p11"/>
            <p:cNvSpPr/>
            <p:nvPr/>
          </p:nvSpPr>
          <p:spPr>
            <a:xfrm>
              <a:off x="3150460" y="3368866"/>
              <a:ext cx="1903733" cy="721946"/>
            </a:xfrm>
            <a:prstGeom prst="roundRect">
              <a:avLst>
                <a:gd name="adj" fmla="val 16667"/>
              </a:avLst>
            </a:prstGeom>
            <a:noFill/>
            <a:ln w="25400" cap="flat" cmpd="sng">
              <a:solidFill>
                <a:srgbClr val="B43512"/>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664C00"/>
                </a:solidFill>
                <a:latin typeface="Gill Sans"/>
                <a:ea typeface="Gill Sans"/>
                <a:cs typeface="Gill Sans"/>
                <a:sym typeface="Gill Sans"/>
              </a:endParaRPr>
            </a:p>
          </p:txBody>
        </p:sp>
        <p:sp>
          <p:nvSpPr>
            <p:cNvPr id="309" name="Google Shape;309;p11"/>
            <p:cNvSpPr/>
            <p:nvPr/>
          </p:nvSpPr>
          <p:spPr>
            <a:xfrm>
              <a:off x="4237463" y="3652069"/>
              <a:ext cx="655084" cy="271863"/>
            </a:xfrm>
            <a:prstGeom prst="rect">
              <a:avLst/>
            </a:prstGeom>
            <a:solidFill>
              <a:srgbClr val="E1896D"/>
            </a:solidFill>
            <a:ln w="1905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b="1">
                  <a:solidFill>
                    <a:srgbClr val="3C0FF9"/>
                  </a:solidFill>
                  <a:latin typeface="Times New Roman"/>
                  <a:ea typeface="Times New Roman"/>
                  <a:cs typeface="Times New Roman"/>
                  <a:sym typeface="Times New Roman"/>
                </a:rPr>
                <a:t>K-mean</a:t>
              </a:r>
              <a:endParaRPr/>
            </a:p>
          </p:txBody>
        </p:sp>
        <p:sp>
          <p:nvSpPr>
            <p:cNvPr id="310" name="Google Shape;310;p11"/>
            <p:cNvSpPr/>
            <p:nvPr/>
          </p:nvSpPr>
          <p:spPr>
            <a:xfrm>
              <a:off x="3262227" y="3556185"/>
              <a:ext cx="934097" cy="470052"/>
            </a:xfrm>
            <a:prstGeom prst="diamond">
              <a:avLst/>
            </a:prstGeom>
            <a:noFill/>
            <a:ln w="15875" cap="flat" cmpd="sng">
              <a:solidFill>
                <a:srgbClr val="A93718"/>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000" b="1">
                  <a:solidFill>
                    <a:srgbClr val="FF0000"/>
                  </a:solidFill>
                  <a:latin typeface="Gill Sans"/>
                  <a:ea typeface="Gill Sans"/>
                  <a:cs typeface="Gill Sans"/>
                  <a:sym typeface="Gill Sans"/>
                </a:rPr>
                <a:t>Validity index</a:t>
              </a:r>
              <a:endParaRPr/>
            </a:p>
          </p:txBody>
        </p:sp>
        <p:cxnSp>
          <p:nvCxnSpPr>
            <p:cNvPr id="311" name="Google Shape;311;p11"/>
            <p:cNvCxnSpPr>
              <a:stCxn id="308" idx="0"/>
            </p:cNvCxnSpPr>
            <p:nvPr/>
          </p:nvCxnSpPr>
          <p:spPr>
            <a:xfrm>
              <a:off x="4102326" y="3368866"/>
              <a:ext cx="0" cy="183300"/>
            </a:xfrm>
            <a:prstGeom prst="straightConnector1">
              <a:avLst/>
            </a:prstGeom>
            <a:noFill/>
            <a:ln w="9525" cap="flat" cmpd="dbl">
              <a:solidFill>
                <a:srgbClr val="FF0000"/>
              </a:solidFill>
              <a:prstDash val="dash"/>
              <a:round/>
              <a:headEnd type="none" w="sm" len="sm"/>
              <a:tailEnd type="none" w="sm" len="sm"/>
            </a:ln>
          </p:spPr>
        </p:cxnSp>
        <p:cxnSp>
          <p:nvCxnSpPr>
            <p:cNvPr id="312" name="Google Shape;312;p11"/>
            <p:cNvCxnSpPr/>
            <p:nvPr/>
          </p:nvCxnSpPr>
          <p:spPr>
            <a:xfrm>
              <a:off x="3694940" y="3549042"/>
              <a:ext cx="405466" cy="0"/>
            </a:xfrm>
            <a:prstGeom prst="straightConnector1">
              <a:avLst/>
            </a:prstGeom>
            <a:noFill/>
            <a:ln w="9525" cap="flat" cmpd="dbl">
              <a:solidFill>
                <a:srgbClr val="FF0000"/>
              </a:solidFill>
              <a:prstDash val="dash"/>
              <a:round/>
              <a:headEnd type="none" w="sm" len="sm"/>
              <a:tailEnd type="none" w="sm" len="sm"/>
            </a:ln>
          </p:spPr>
        </p:cxnSp>
        <p:cxnSp>
          <p:nvCxnSpPr>
            <p:cNvPr id="313" name="Google Shape;313;p11"/>
            <p:cNvCxnSpPr>
              <a:stCxn id="310" idx="3"/>
              <a:endCxn id="309" idx="1"/>
            </p:cNvCxnSpPr>
            <p:nvPr/>
          </p:nvCxnSpPr>
          <p:spPr>
            <a:xfrm rot="10800000" flipH="1">
              <a:off x="4196324" y="3787911"/>
              <a:ext cx="41100" cy="3300"/>
            </a:xfrm>
            <a:prstGeom prst="straightConnector1">
              <a:avLst/>
            </a:prstGeom>
            <a:noFill/>
            <a:ln w="9525" cap="flat" cmpd="dbl">
              <a:solidFill>
                <a:schemeClr val="accent2"/>
              </a:solidFill>
              <a:prstDash val="dash"/>
              <a:round/>
              <a:headEnd type="none" w="sm" len="sm"/>
              <a:tailEnd type="none" w="sm" len="sm"/>
            </a:ln>
          </p:spPr>
        </p:cxnSp>
        <p:cxnSp>
          <p:nvCxnSpPr>
            <p:cNvPr id="314" name="Google Shape;314;p11"/>
            <p:cNvCxnSpPr/>
            <p:nvPr/>
          </p:nvCxnSpPr>
          <p:spPr>
            <a:xfrm>
              <a:off x="4599815" y="3923932"/>
              <a:ext cx="0" cy="98288"/>
            </a:xfrm>
            <a:prstGeom prst="straightConnector1">
              <a:avLst/>
            </a:prstGeom>
            <a:noFill/>
            <a:ln w="9525" cap="flat" cmpd="dbl">
              <a:solidFill>
                <a:srgbClr val="FF0000"/>
              </a:solidFill>
              <a:prstDash val="dash"/>
              <a:round/>
              <a:headEnd type="none" w="sm" len="sm"/>
              <a:tailEnd type="none" w="sm" len="sm"/>
            </a:ln>
          </p:spPr>
        </p:cxnSp>
        <p:cxnSp>
          <p:nvCxnSpPr>
            <p:cNvPr id="315" name="Google Shape;315;p11"/>
            <p:cNvCxnSpPr/>
            <p:nvPr/>
          </p:nvCxnSpPr>
          <p:spPr>
            <a:xfrm rot="10800000" flipH="1">
              <a:off x="4100406" y="4018007"/>
              <a:ext cx="499409" cy="4213"/>
            </a:xfrm>
            <a:prstGeom prst="straightConnector1">
              <a:avLst/>
            </a:prstGeom>
            <a:noFill/>
            <a:ln w="9525" cap="flat" cmpd="dbl">
              <a:solidFill>
                <a:srgbClr val="FF0000"/>
              </a:solidFill>
              <a:prstDash val="dash"/>
              <a:round/>
              <a:headEnd type="none" w="sm" len="sm"/>
              <a:tailEnd type="none" w="sm" len="sm"/>
            </a:ln>
          </p:spPr>
        </p:cxnSp>
        <p:cxnSp>
          <p:nvCxnSpPr>
            <p:cNvPr id="316" name="Google Shape;316;p11"/>
            <p:cNvCxnSpPr>
              <a:endCxn id="308" idx="2"/>
            </p:cNvCxnSpPr>
            <p:nvPr/>
          </p:nvCxnSpPr>
          <p:spPr>
            <a:xfrm flipH="1">
              <a:off x="4102326" y="4022412"/>
              <a:ext cx="900" cy="68400"/>
            </a:xfrm>
            <a:prstGeom prst="straightConnector1">
              <a:avLst/>
            </a:prstGeom>
            <a:noFill/>
            <a:ln w="9525" cap="flat" cmpd="dbl">
              <a:solidFill>
                <a:srgbClr val="FF0000"/>
              </a:solidFill>
              <a:prstDash val="dash"/>
              <a:round/>
              <a:headEnd type="none" w="sm" len="sm"/>
              <a:tailEnd type="none" w="sm" len="sm"/>
            </a:ln>
          </p:spPr>
        </p:cxnSp>
        <p:sp>
          <p:nvSpPr>
            <p:cNvPr id="317" name="Google Shape;317;p11"/>
            <p:cNvSpPr txBox="1"/>
            <p:nvPr/>
          </p:nvSpPr>
          <p:spPr>
            <a:xfrm>
              <a:off x="3271591" y="3309699"/>
              <a:ext cx="181791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0C0"/>
                  </a:solidFill>
                  <a:latin typeface="Times New Roman"/>
                  <a:ea typeface="Times New Roman"/>
                  <a:cs typeface="Times New Roman"/>
                  <a:sym typeface="Times New Roman"/>
                </a:rPr>
                <a:t>Discretization algorithm</a:t>
              </a:r>
              <a:endParaRPr/>
            </a:p>
          </p:txBody>
        </p:sp>
      </p:grpSp>
      <p:sp>
        <p:nvSpPr>
          <p:cNvPr id="318" name="Google Shape;318;p11"/>
          <p:cNvSpPr/>
          <p:nvPr/>
        </p:nvSpPr>
        <p:spPr>
          <a:xfrm>
            <a:off x="3960973" y="1793263"/>
            <a:ext cx="2159784" cy="4258135"/>
          </a:xfrm>
          <a:prstGeom prst="roundRect">
            <a:avLst>
              <a:gd name="adj" fmla="val 16667"/>
            </a:avLst>
          </a:prstGeom>
          <a:noFill/>
          <a:ln w="2540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19" name="Google Shape;319;p11"/>
          <p:cNvSpPr txBox="1"/>
          <p:nvPr/>
        </p:nvSpPr>
        <p:spPr>
          <a:xfrm rot="-5400000">
            <a:off x="2685683" y="3945869"/>
            <a:ext cx="20235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70C0"/>
                </a:solidFill>
                <a:latin typeface="Gill Sans"/>
                <a:ea typeface="Gill Sans"/>
                <a:cs typeface="Gill Sans"/>
                <a:sym typeface="Gill Sans"/>
              </a:rPr>
              <a:t>Discretization stage</a:t>
            </a:r>
            <a:endParaRPr/>
          </a:p>
        </p:txBody>
      </p:sp>
      <p:sp>
        <p:nvSpPr>
          <p:cNvPr id="320" name="Google Shape;320;p11"/>
          <p:cNvSpPr/>
          <p:nvPr/>
        </p:nvSpPr>
        <p:spPr>
          <a:xfrm>
            <a:off x="1037669" y="1840625"/>
            <a:ext cx="1747241" cy="1647248"/>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21" name="Google Shape;321;p11"/>
          <p:cNvSpPr/>
          <p:nvPr/>
        </p:nvSpPr>
        <p:spPr>
          <a:xfrm>
            <a:off x="1128452" y="1949640"/>
            <a:ext cx="457200" cy="457200"/>
          </a:xfrm>
          <a:prstGeom prst="flowChartConnector">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322" name="Google Shape;322;p11"/>
          <p:cNvSpPr/>
          <p:nvPr/>
        </p:nvSpPr>
        <p:spPr>
          <a:xfrm>
            <a:off x="1145937" y="2973014"/>
            <a:ext cx="457200" cy="457200"/>
          </a:xfrm>
          <a:prstGeom prst="flowChartConnector">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323" name="Google Shape;323;p11"/>
          <p:cNvSpPr/>
          <p:nvPr/>
        </p:nvSpPr>
        <p:spPr>
          <a:xfrm>
            <a:off x="2185825" y="1942696"/>
            <a:ext cx="457200" cy="457200"/>
          </a:xfrm>
          <a:prstGeom prst="flowChartConnector">
            <a:avLst/>
          </a:pr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324" name="Google Shape;324;p11"/>
          <p:cNvSpPr/>
          <p:nvPr/>
        </p:nvSpPr>
        <p:spPr>
          <a:xfrm>
            <a:off x="2185825" y="2970511"/>
            <a:ext cx="457200" cy="457200"/>
          </a:xfrm>
          <a:prstGeom prst="flowChartConnector">
            <a:avLst/>
          </a:pr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325" name="Google Shape;325;p11"/>
          <p:cNvSpPr/>
          <p:nvPr/>
        </p:nvSpPr>
        <p:spPr>
          <a:xfrm>
            <a:off x="1672444" y="2474049"/>
            <a:ext cx="457200" cy="457200"/>
          </a:xfrm>
          <a:prstGeom prst="flowChartConnector">
            <a:avLst/>
          </a:prstGeom>
          <a:blipFill rotWithShape="1">
            <a:blip r:embed="rId1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cxnSp>
        <p:nvCxnSpPr>
          <p:cNvPr id="326" name="Google Shape;326;p11"/>
          <p:cNvCxnSpPr>
            <a:stCxn id="325" idx="7"/>
            <a:endCxn id="323" idx="3"/>
          </p:cNvCxnSpPr>
          <p:nvPr/>
        </p:nvCxnSpPr>
        <p:spPr>
          <a:xfrm rot="10800000" flipH="1">
            <a:off x="2062689" y="2332804"/>
            <a:ext cx="190200" cy="208200"/>
          </a:xfrm>
          <a:prstGeom prst="straightConnector1">
            <a:avLst/>
          </a:prstGeom>
          <a:noFill/>
          <a:ln w="19050" cap="flat" cmpd="sng">
            <a:solidFill>
              <a:srgbClr val="3C0FF9"/>
            </a:solidFill>
            <a:prstDash val="solid"/>
            <a:round/>
            <a:headEnd type="none" w="sm" len="sm"/>
            <a:tailEnd type="triangle" w="med" len="med"/>
          </a:ln>
        </p:spPr>
      </p:cxnSp>
      <p:cxnSp>
        <p:nvCxnSpPr>
          <p:cNvPr id="327" name="Google Shape;327;p11"/>
          <p:cNvCxnSpPr>
            <a:endCxn id="324" idx="2"/>
          </p:cNvCxnSpPr>
          <p:nvPr/>
        </p:nvCxnSpPr>
        <p:spPr>
          <a:xfrm rot="10800000" flipH="1">
            <a:off x="1611925" y="3199111"/>
            <a:ext cx="573900" cy="10500"/>
          </a:xfrm>
          <a:prstGeom prst="straightConnector1">
            <a:avLst/>
          </a:prstGeom>
          <a:noFill/>
          <a:ln w="19050" cap="flat" cmpd="sng">
            <a:solidFill>
              <a:srgbClr val="3C0FF9"/>
            </a:solidFill>
            <a:prstDash val="solid"/>
            <a:round/>
            <a:headEnd type="none" w="sm" len="sm"/>
            <a:tailEnd type="triangle" w="med" len="med"/>
          </a:ln>
        </p:spPr>
      </p:cxnSp>
      <p:cxnSp>
        <p:nvCxnSpPr>
          <p:cNvPr id="328" name="Google Shape;328;p11"/>
          <p:cNvCxnSpPr/>
          <p:nvPr/>
        </p:nvCxnSpPr>
        <p:spPr>
          <a:xfrm flipH="1">
            <a:off x="1357051" y="2573978"/>
            <a:ext cx="1" cy="224140"/>
          </a:xfrm>
          <a:prstGeom prst="straightConnector1">
            <a:avLst/>
          </a:prstGeom>
          <a:noFill/>
          <a:ln w="19050" cap="flat" cmpd="sng">
            <a:solidFill>
              <a:srgbClr val="3C0FF9"/>
            </a:solidFill>
            <a:prstDash val="dash"/>
            <a:round/>
            <a:headEnd type="none" w="sm" len="sm"/>
            <a:tailEnd type="none" w="sm" len="sm"/>
          </a:ln>
        </p:spPr>
      </p:cxnSp>
      <p:cxnSp>
        <p:nvCxnSpPr>
          <p:cNvPr id="329" name="Google Shape;329;p11"/>
          <p:cNvCxnSpPr>
            <a:stCxn id="323" idx="4"/>
            <a:endCxn id="324" idx="0"/>
          </p:cNvCxnSpPr>
          <p:nvPr/>
        </p:nvCxnSpPr>
        <p:spPr>
          <a:xfrm>
            <a:off x="2414425" y="2399896"/>
            <a:ext cx="0" cy="570600"/>
          </a:xfrm>
          <a:prstGeom prst="straightConnector1">
            <a:avLst/>
          </a:prstGeom>
          <a:noFill/>
          <a:ln w="19050" cap="flat" cmpd="sng">
            <a:solidFill>
              <a:srgbClr val="3C0FF9"/>
            </a:solidFill>
            <a:prstDash val="solid"/>
            <a:round/>
            <a:headEnd type="none" w="sm" len="sm"/>
            <a:tailEnd type="triangle" w="med" len="med"/>
          </a:ln>
        </p:spPr>
      </p:cxnSp>
      <p:cxnSp>
        <p:nvCxnSpPr>
          <p:cNvPr id="330" name="Google Shape;330;p11"/>
          <p:cNvCxnSpPr>
            <a:stCxn id="324" idx="1"/>
            <a:endCxn id="325" idx="5"/>
          </p:cNvCxnSpPr>
          <p:nvPr/>
        </p:nvCxnSpPr>
        <p:spPr>
          <a:xfrm rot="10800000">
            <a:off x="2062580" y="2864366"/>
            <a:ext cx="190200" cy="173100"/>
          </a:xfrm>
          <a:prstGeom prst="straightConnector1">
            <a:avLst/>
          </a:prstGeom>
          <a:noFill/>
          <a:ln w="19050" cap="flat" cmpd="sng">
            <a:solidFill>
              <a:srgbClr val="FF0000"/>
            </a:solidFill>
            <a:prstDash val="solid"/>
            <a:round/>
            <a:headEnd type="none" w="sm" len="sm"/>
            <a:tailEnd type="none" w="sm" len="sm"/>
          </a:ln>
        </p:spPr>
      </p:cxnSp>
      <p:cxnSp>
        <p:nvCxnSpPr>
          <p:cNvPr id="331" name="Google Shape;331;p11"/>
          <p:cNvCxnSpPr/>
          <p:nvPr/>
        </p:nvCxnSpPr>
        <p:spPr>
          <a:xfrm flipH="1">
            <a:off x="2015703" y="2808866"/>
            <a:ext cx="109927" cy="116358"/>
          </a:xfrm>
          <a:prstGeom prst="straightConnector1">
            <a:avLst/>
          </a:prstGeom>
          <a:noFill/>
          <a:ln w="19050" cap="flat" cmpd="sng">
            <a:solidFill>
              <a:srgbClr val="FF0000"/>
            </a:solidFill>
            <a:prstDash val="solid"/>
            <a:round/>
            <a:headEnd type="none" w="sm" len="sm"/>
            <a:tailEnd type="none" w="sm" len="sm"/>
          </a:ln>
        </p:spPr>
      </p:cxnSp>
      <p:cxnSp>
        <p:nvCxnSpPr>
          <p:cNvPr id="332" name="Google Shape;332;p11"/>
          <p:cNvCxnSpPr>
            <a:stCxn id="323" idx="2"/>
            <a:endCxn id="321" idx="6"/>
          </p:cNvCxnSpPr>
          <p:nvPr/>
        </p:nvCxnSpPr>
        <p:spPr>
          <a:xfrm flipH="1">
            <a:off x="1585525" y="2171296"/>
            <a:ext cx="600300" cy="6900"/>
          </a:xfrm>
          <a:prstGeom prst="straightConnector1">
            <a:avLst/>
          </a:prstGeom>
          <a:noFill/>
          <a:ln w="19050" cap="flat" cmpd="sng">
            <a:solidFill>
              <a:srgbClr val="FF0000"/>
            </a:solidFill>
            <a:prstDash val="solid"/>
            <a:round/>
            <a:headEnd type="none" w="sm" len="sm"/>
            <a:tailEnd type="none" w="sm" len="sm"/>
          </a:ln>
        </p:spPr>
      </p:cxnSp>
      <p:cxnSp>
        <p:nvCxnSpPr>
          <p:cNvPr id="333" name="Google Shape;333;p11"/>
          <p:cNvCxnSpPr/>
          <p:nvPr/>
        </p:nvCxnSpPr>
        <p:spPr>
          <a:xfrm>
            <a:off x="1594304" y="2097974"/>
            <a:ext cx="0" cy="169122"/>
          </a:xfrm>
          <a:prstGeom prst="straightConnector1">
            <a:avLst/>
          </a:prstGeom>
          <a:noFill/>
          <a:ln w="19050" cap="flat" cmpd="sng">
            <a:solidFill>
              <a:srgbClr val="FF0000"/>
            </a:solidFill>
            <a:prstDash val="solid"/>
            <a:round/>
            <a:headEnd type="none" w="sm" len="sm"/>
            <a:tailEnd type="none" w="sm" len="sm"/>
          </a:ln>
        </p:spPr>
      </p:cxnSp>
      <p:cxnSp>
        <p:nvCxnSpPr>
          <p:cNvPr id="334" name="Google Shape;334;p11"/>
          <p:cNvCxnSpPr>
            <a:stCxn id="322" idx="7"/>
            <a:endCxn id="325" idx="3"/>
          </p:cNvCxnSpPr>
          <p:nvPr/>
        </p:nvCxnSpPr>
        <p:spPr>
          <a:xfrm rot="10800000" flipH="1">
            <a:off x="1536182" y="2864169"/>
            <a:ext cx="203100" cy="175800"/>
          </a:xfrm>
          <a:prstGeom prst="straightConnector1">
            <a:avLst/>
          </a:prstGeom>
          <a:noFill/>
          <a:ln w="19050" cap="flat" cmpd="sng">
            <a:solidFill>
              <a:srgbClr val="3C0FF9"/>
            </a:solidFill>
            <a:prstDash val="solid"/>
            <a:round/>
            <a:headEnd type="none" w="sm" len="sm"/>
            <a:tailEnd type="triangle" w="med" len="med"/>
          </a:ln>
        </p:spPr>
      </p:cxnSp>
      <p:sp>
        <p:nvSpPr>
          <p:cNvPr id="335" name="Google Shape;335;p11"/>
          <p:cNvSpPr/>
          <p:nvPr/>
        </p:nvSpPr>
        <p:spPr>
          <a:xfrm>
            <a:off x="2812229" y="2121714"/>
            <a:ext cx="1309064" cy="1070071"/>
          </a:xfrm>
          <a:prstGeom prst="right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lt1"/>
                </a:solidFill>
                <a:latin typeface="Gill Sans"/>
                <a:ea typeface="Gill Sans"/>
                <a:cs typeface="Gill Sans"/>
                <a:sym typeface="Gill Sans"/>
              </a:rPr>
              <a:t>Observation values</a:t>
            </a:r>
            <a:endParaRPr/>
          </a:p>
        </p:txBody>
      </p:sp>
      <p:sp>
        <p:nvSpPr>
          <p:cNvPr id="336" name="Google Shape;336;p11"/>
          <p:cNvSpPr/>
          <p:nvPr/>
        </p:nvSpPr>
        <p:spPr>
          <a:xfrm>
            <a:off x="9868718" y="3592452"/>
            <a:ext cx="828773" cy="581475"/>
          </a:xfrm>
          <a:prstGeom prst="down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337" name="Google Shape;337;p11"/>
          <p:cNvCxnSpPr/>
          <p:nvPr/>
        </p:nvCxnSpPr>
        <p:spPr>
          <a:xfrm>
            <a:off x="5860628" y="5209729"/>
            <a:ext cx="493873" cy="0"/>
          </a:xfrm>
          <a:prstGeom prst="straightConnector1">
            <a:avLst/>
          </a:prstGeom>
          <a:noFill/>
          <a:ln w="25400" cap="flat" cmpd="sng">
            <a:solidFill>
              <a:schemeClr val="accent1"/>
            </a:solidFill>
            <a:prstDash val="solid"/>
            <a:round/>
            <a:headEnd type="none" w="sm" len="sm"/>
            <a:tailEnd type="none" w="sm" len="sm"/>
          </a:ln>
        </p:spPr>
      </p:cxnSp>
      <p:cxnSp>
        <p:nvCxnSpPr>
          <p:cNvPr id="338" name="Google Shape;338;p11"/>
          <p:cNvCxnSpPr/>
          <p:nvPr/>
        </p:nvCxnSpPr>
        <p:spPr>
          <a:xfrm rot="10800000">
            <a:off x="6354501" y="1913285"/>
            <a:ext cx="0" cy="3296444"/>
          </a:xfrm>
          <a:prstGeom prst="straightConnector1">
            <a:avLst/>
          </a:prstGeom>
          <a:noFill/>
          <a:ln w="25400" cap="flat" cmpd="sng">
            <a:solidFill>
              <a:schemeClr val="accent1"/>
            </a:solidFill>
            <a:prstDash val="solid"/>
            <a:round/>
            <a:headEnd type="none" w="sm" len="sm"/>
            <a:tailEnd type="none" w="sm" len="sm"/>
          </a:ln>
        </p:spPr>
      </p:cxnSp>
      <p:cxnSp>
        <p:nvCxnSpPr>
          <p:cNvPr id="339" name="Google Shape;339;p11"/>
          <p:cNvCxnSpPr/>
          <p:nvPr/>
        </p:nvCxnSpPr>
        <p:spPr>
          <a:xfrm>
            <a:off x="6354501" y="1913285"/>
            <a:ext cx="1281784" cy="0"/>
          </a:xfrm>
          <a:prstGeom prst="straightConnector1">
            <a:avLst/>
          </a:prstGeom>
          <a:noFill/>
          <a:ln w="25400" cap="flat" cmpd="sng">
            <a:solidFill>
              <a:schemeClr val="accent1"/>
            </a:solidFill>
            <a:prstDash val="solid"/>
            <a:round/>
            <a:headEnd type="none" w="sm" len="sm"/>
            <a:tailEnd type="none" w="sm" len="sm"/>
          </a:ln>
        </p:spPr>
      </p:cxnSp>
      <p:cxnSp>
        <p:nvCxnSpPr>
          <p:cNvPr id="340" name="Google Shape;340;p11"/>
          <p:cNvCxnSpPr>
            <a:endCxn id="285" idx="0"/>
          </p:cNvCxnSpPr>
          <p:nvPr/>
        </p:nvCxnSpPr>
        <p:spPr>
          <a:xfrm>
            <a:off x="7636291" y="1913340"/>
            <a:ext cx="0" cy="264900"/>
          </a:xfrm>
          <a:prstGeom prst="straightConnector1">
            <a:avLst/>
          </a:prstGeom>
          <a:noFill/>
          <a:ln w="25400" cap="flat" cmpd="sng">
            <a:solidFill>
              <a:schemeClr val="accent1"/>
            </a:solidFill>
            <a:prstDash val="solid"/>
            <a:round/>
            <a:headEnd type="none" w="sm" len="sm"/>
            <a:tailEnd type="triangle" w="med" len="med"/>
          </a:ln>
        </p:spPr>
      </p:cxnSp>
      <p:cxnSp>
        <p:nvCxnSpPr>
          <p:cNvPr id="341" name="Google Shape;341;p11"/>
          <p:cNvCxnSpPr>
            <a:stCxn id="288" idx="2"/>
          </p:cNvCxnSpPr>
          <p:nvPr/>
        </p:nvCxnSpPr>
        <p:spPr>
          <a:xfrm>
            <a:off x="7636290" y="5209729"/>
            <a:ext cx="0" cy="538800"/>
          </a:xfrm>
          <a:prstGeom prst="straightConnector1">
            <a:avLst/>
          </a:prstGeom>
          <a:noFill/>
          <a:ln w="25400" cap="flat" cmpd="sng">
            <a:solidFill>
              <a:schemeClr val="accent1"/>
            </a:solidFill>
            <a:prstDash val="solid"/>
            <a:round/>
            <a:headEnd type="none" w="sm" len="sm"/>
            <a:tailEnd type="none" w="sm" len="sm"/>
          </a:ln>
        </p:spPr>
      </p:cxnSp>
      <p:cxnSp>
        <p:nvCxnSpPr>
          <p:cNvPr id="342" name="Google Shape;342;p11"/>
          <p:cNvCxnSpPr/>
          <p:nvPr/>
        </p:nvCxnSpPr>
        <p:spPr>
          <a:xfrm rot="10800000" flipH="1">
            <a:off x="7635509" y="5743732"/>
            <a:ext cx="1311641" cy="9686"/>
          </a:xfrm>
          <a:prstGeom prst="straightConnector1">
            <a:avLst/>
          </a:prstGeom>
          <a:noFill/>
          <a:ln w="25400" cap="flat" cmpd="sng">
            <a:solidFill>
              <a:schemeClr val="accent1"/>
            </a:solidFill>
            <a:prstDash val="solid"/>
            <a:round/>
            <a:headEnd type="none" w="sm" len="sm"/>
            <a:tailEnd type="none" w="sm" len="sm"/>
          </a:ln>
        </p:spPr>
      </p:cxnSp>
      <p:cxnSp>
        <p:nvCxnSpPr>
          <p:cNvPr id="343" name="Google Shape;343;p11"/>
          <p:cNvCxnSpPr/>
          <p:nvPr/>
        </p:nvCxnSpPr>
        <p:spPr>
          <a:xfrm rot="10800000">
            <a:off x="8934450" y="2655825"/>
            <a:ext cx="6350" cy="3087906"/>
          </a:xfrm>
          <a:prstGeom prst="straightConnector1">
            <a:avLst/>
          </a:prstGeom>
          <a:noFill/>
          <a:ln w="25400" cap="flat" cmpd="sng">
            <a:solidFill>
              <a:schemeClr val="accent1"/>
            </a:solidFill>
            <a:prstDash val="solid"/>
            <a:round/>
            <a:headEnd type="none" w="sm" len="sm"/>
            <a:tailEnd type="none" w="sm" len="sm"/>
          </a:ln>
        </p:spPr>
      </p:cxnSp>
      <p:cxnSp>
        <p:nvCxnSpPr>
          <p:cNvPr id="344" name="Google Shape;344;p11"/>
          <p:cNvCxnSpPr>
            <a:endCxn id="292" idx="1"/>
          </p:cNvCxnSpPr>
          <p:nvPr/>
        </p:nvCxnSpPr>
        <p:spPr>
          <a:xfrm>
            <a:off x="8928035" y="2655849"/>
            <a:ext cx="392700" cy="8400"/>
          </a:xfrm>
          <a:prstGeom prst="straightConnector1">
            <a:avLst/>
          </a:prstGeom>
          <a:noFill/>
          <a:ln w="25400" cap="flat" cmpd="sng">
            <a:solidFill>
              <a:schemeClr val="accent1"/>
            </a:solidFill>
            <a:prstDash val="solid"/>
            <a:round/>
            <a:headEnd type="none" w="sm" len="sm"/>
            <a:tailEnd type="triangle" w="med" len="med"/>
          </a:ln>
        </p:spPr>
      </p:cxnSp>
      <p:sp>
        <p:nvSpPr>
          <p:cNvPr id="345" name="Google Shape;345;p11"/>
          <p:cNvSpPr txBox="1"/>
          <p:nvPr/>
        </p:nvSpPr>
        <p:spPr>
          <a:xfrm>
            <a:off x="9229571" y="1516370"/>
            <a:ext cx="192956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The prediction network</a:t>
            </a:r>
            <a:endParaRPr/>
          </a:p>
        </p:txBody>
      </p:sp>
      <p:sp>
        <p:nvSpPr>
          <p:cNvPr id="346" name="Google Shape;346;p11"/>
          <p:cNvSpPr txBox="1"/>
          <p:nvPr/>
        </p:nvSpPr>
        <p:spPr>
          <a:xfrm rot="-5400000">
            <a:off x="10234636" y="4660449"/>
            <a:ext cx="218363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Discretized values from the prediction network</a:t>
            </a:r>
            <a:endParaRPr/>
          </a:p>
        </p:txBody>
      </p:sp>
      <p:sp>
        <p:nvSpPr>
          <p:cNvPr id="347" name="Google Shape;347;p11"/>
          <p:cNvSpPr/>
          <p:nvPr/>
        </p:nvSpPr>
        <p:spPr>
          <a:xfrm>
            <a:off x="3020992" y="1316002"/>
            <a:ext cx="6178149" cy="516031"/>
          </a:xfrm>
          <a:prstGeom prst="leftRightArrow">
            <a:avLst>
              <a:gd name="adj1" fmla="val 50000"/>
              <a:gd name="adj2" fmla="val 50000"/>
            </a:avLst>
          </a:prstGeom>
          <a:solidFill>
            <a:srgbClr val="0070C0"/>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Structural accuracy</a:t>
            </a:r>
            <a:endParaRPr/>
          </a:p>
        </p:txBody>
      </p:sp>
      <p:sp>
        <p:nvSpPr>
          <p:cNvPr id="348" name="Google Shape;348;p11"/>
          <p:cNvSpPr/>
          <p:nvPr/>
        </p:nvSpPr>
        <p:spPr>
          <a:xfrm>
            <a:off x="6502739" y="5678673"/>
            <a:ext cx="2696402" cy="418565"/>
          </a:xfrm>
          <a:prstGeom prst="leftRight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Dynamics accuracy</a:t>
            </a:r>
            <a:endParaRPr/>
          </a:p>
        </p:txBody>
      </p:sp>
      <p:sp>
        <p:nvSpPr>
          <p:cNvPr id="349" name="Google Shape;349;p11"/>
          <p:cNvSpPr txBox="1"/>
          <p:nvPr/>
        </p:nvSpPr>
        <p:spPr>
          <a:xfrm>
            <a:off x="1124024" y="1540229"/>
            <a:ext cx="155645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The input network</a:t>
            </a:r>
            <a:endParaRPr/>
          </a:p>
        </p:txBody>
      </p:sp>
      <p:sp>
        <p:nvSpPr>
          <p:cNvPr id="350" name="Google Shape;350;p11"/>
          <p:cNvSpPr txBox="1"/>
          <p:nvPr/>
        </p:nvSpPr>
        <p:spPr>
          <a:xfrm>
            <a:off x="6859301" y="1890847"/>
            <a:ext cx="159627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Inference algorithm</a:t>
            </a:r>
            <a:endParaRPr/>
          </a:p>
        </p:txBody>
      </p:sp>
      <p:graphicFrame>
        <p:nvGraphicFramePr>
          <p:cNvPr id="351" name="Google Shape;351;p11"/>
          <p:cNvGraphicFramePr/>
          <p:nvPr/>
        </p:nvGraphicFramePr>
        <p:xfrm>
          <a:off x="4190674" y="1872550"/>
          <a:ext cx="3000000" cy="3000000"/>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2050">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0.5631</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0.2465</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0.6158</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0.5778</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0.0124</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0.0915</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a:t>
                      </a:r>
                      <a:endParaRPr/>
                    </a:p>
                  </a:txBody>
                  <a:tcPr marL="45725"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0.1949</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0.2306</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600" b="1"/>
                        <a:t>…</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600" b="1"/>
                        <a:t>0.1854</a:t>
                      </a:r>
                      <a:endParaRPr/>
                    </a:p>
                  </a:txBody>
                  <a:tcPr marL="9150" marR="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352" name="Google Shape;352;p11"/>
          <p:cNvGraphicFramePr/>
          <p:nvPr/>
        </p:nvGraphicFramePr>
        <p:xfrm>
          <a:off x="4240362" y="4413400"/>
          <a:ext cx="3000000" cy="3000000"/>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4600">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353" name="Google Shape;353;p11"/>
          <p:cNvGraphicFramePr/>
          <p:nvPr/>
        </p:nvGraphicFramePr>
        <p:xfrm>
          <a:off x="9429045" y="4368431"/>
          <a:ext cx="3000000" cy="3000000"/>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4600">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2"/>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DISCRETIZATION</a:t>
            </a:r>
            <a:endParaRPr/>
          </a:p>
        </p:txBody>
      </p:sp>
      <p:sp>
        <p:nvSpPr>
          <p:cNvPr id="360" name="Google Shape;360;p12"/>
          <p:cNvSpPr txBox="1">
            <a:spLocks noGrp="1"/>
          </p:cNvSpPr>
          <p:nvPr>
            <p:ph type="body" idx="1"/>
          </p:nvPr>
        </p:nvSpPr>
        <p:spPr>
          <a:xfrm>
            <a:off x="1451579" y="1597360"/>
            <a:ext cx="7146321" cy="4143040"/>
          </a:xfrm>
          <a:prstGeom prst="rect">
            <a:avLst/>
          </a:prstGeom>
          <a:blipFill rotWithShape="1">
            <a:blip r:embed="rId3">
              <a:alphaModFix/>
            </a:blip>
            <a:stretch>
              <a:fillRect l="-596" t="-881" r="-339"/>
            </a:stretch>
          </a:blip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a:t>
            </a:r>
            <a:endParaRPr/>
          </a:p>
        </p:txBody>
      </p:sp>
      <p:sp>
        <p:nvSpPr>
          <p:cNvPr id="361" name="Google Shape;361;p12"/>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62" name="Google Shape;362;p12" descr="Chart, scatter chart&#10;&#10;Description automatically generated"/>
          <p:cNvPicPr preferRelativeResize="0"/>
          <p:nvPr/>
        </p:nvPicPr>
        <p:blipFill rotWithShape="1">
          <a:blip r:embed="rId4">
            <a:alphaModFix/>
          </a:blip>
          <a:srcRect/>
          <a:stretch/>
        </p:blipFill>
        <p:spPr>
          <a:xfrm>
            <a:off x="9019639" y="1314357"/>
            <a:ext cx="2195838" cy="2195838"/>
          </a:xfrm>
          <a:prstGeom prst="rect">
            <a:avLst/>
          </a:prstGeom>
          <a:noFill/>
          <a:ln>
            <a:noFill/>
          </a:ln>
        </p:spPr>
      </p:pic>
      <p:pic>
        <p:nvPicPr>
          <p:cNvPr id="363" name="Google Shape;363;p12"/>
          <p:cNvPicPr preferRelativeResize="0"/>
          <p:nvPr/>
        </p:nvPicPr>
        <p:blipFill rotWithShape="1">
          <a:blip r:embed="rId5">
            <a:alphaModFix/>
          </a:blip>
          <a:srcRect/>
          <a:stretch/>
        </p:blipFill>
        <p:spPr>
          <a:xfrm>
            <a:off x="9022156" y="3668880"/>
            <a:ext cx="2195838" cy="2195838"/>
          </a:xfrm>
          <a:prstGeom prst="rect">
            <a:avLst/>
          </a:prstGeom>
          <a:noFill/>
          <a:ln>
            <a:noFill/>
          </a:ln>
        </p:spPr>
      </p:pic>
      <p:sp>
        <p:nvSpPr>
          <p:cNvPr id="364" name="Google Shape;364;p12"/>
          <p:cNvSpPr txBox="1"/>
          <p:nvPr/>
        </p:nvSpPr>
        <p:spPr>
          <a:xfrm rot="-5400000">
            <a:off x="7933091" y="2258387"/>
            <a:ext cx="180010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Boolean discretization</a:t>
            </a:r>
            <a:endParaRPr/>
          </a:p>
        </p:txBody>
      </p:sp>
      <p:sp>
        <p:nvSpPr>
          <p:cNvPr id="365" name="Google Shape;365;p12"/>
          <p:cNvSpPr txBox="1"/>
          <p:nvPr/>
        </p:nvSpPr>
        <p:spPr>
          <a:xfrm rot="-5400000">
            <a:off x="7813227" y="4645565"/>
            <a:ext cx="202908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Three level-discretization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1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MIFS SUBROUTINE</a:t>
            </a:r>
            <a:endParaRPr/>
          </a:p>
        </p:txBody>
      </p:sp>
      <p:sp>
        <p:nvSpPr>
          <p:cNvPr id="372" name="Google Shape;372;p13"/>
          <p:cNvSpPr txBox="1">
            <a:spLocks noGrp="1"/>
          </p:cNvSpPr>
          <p:nvPr>
            <p:ph type="body" idx="1"/>
          </p:nvPr>
        </p:nvSpPr>
        <p:spPr>
          <a:xfrm>
            <a:off x="1451579" y="2015732"/>
            <a:ext cx="9603275" cy="3450613"/>
          </a:xfrm>
          <a:prstGeom prst="rect">
            <a:avLst/>
          </a:prstGeom>
          <a:blipFill rotWithShape="1">
            <a:blip r:embed="rId3">
              <a:alphaModFix/>
            </a:blip>
            <a:stretch>
              <a:fillRect l="-570" t="-176" b="-1588"/>
            </a:stretch>
          </a:blip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a:t>
            </a:r>
            <a:endParaRPr/>
          </a:p>
        </p:txBody>
      </p:sp>
      <p:sp>
        <p:nvSpPr>
          <p:cNvPr id="373" name="Google Shape;373;p13"/>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SWAP SUBROUTINE</a:t>
            </a:r>
            <a:endParaRPr/>
          </a:p>
        </p:txBody>
      </p:sp>
      <p:sp>
        <p:nvSpPr>
          <p:cNvPr id="380" name="Google Shape;380;p14"/>
          <p:cNvSpPr txBox="1">
            <a:spLocks noGrp="1"/>
          </p:cNvSpPr>
          <p:nvPr>
            <p:ph type="body" idx="1"/>
          </p:nvPr>
        </p:nvSpPr>
        <p:spPr>
          <a:xfrm>
            <a:off x="1451579" y="2015732"/>
            <a:ext cx="9603275" cy="3450613"/>
          </a:xfrm>
          <a:prstGeom prst="rect">
            <a:avLst/>
          </a:prstGeom>
          <a:blipFill rotWithShape="1">
            <a:blip r:embed="rId3">
              <a:alphaModFix/>
            </a:blip>
            <a:stretch>
              <a:fillRect l="-569" r="-1203"/>
            </a:stretch>
          </a:blip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a:t>
            </a:r>
            <a:endParaRPr/>
          </a:p>
        </p:txBody>
      </p:sp>
      <p:sp>
        <p:nvSpPr>
          <p:cNvPr id="381" name="Google Shape;381;p14"/>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1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DATASETS</a:t>
            </a:r>
            <a:endParaRPr/>
          </a:p>
        </p:txBody>
      </p:sp>
      <p:sp>
        <p:nvSpPr>
          <p:cNvPr id="388" name="Google Shape;388;p15"/>
          <p:cNvSpPr txBox="1">
            <a:spLocks noGrp="1"/>
          </p:cNvSpPr>
          <p:nvPr>
            <p:ph type="body" idx="1"/>
          </p:nvPr>
        </p:nvSpPr>
        <p:spPr>
          <a:xfrm>
            <a:off x="1451579" y="2015732"/>
            <a:ext cx="9603275" cy="3806334"/>
          </a:xfrm>
          <a:prstGeom prst="rect">
            <a:avLst/>
          </a:prstGeom>
          <a:blipFill rotWithShape="1">
            <a:blip r:embed="rId3">
              <a:alphaModFix/>
            </a:blip>
            <a:stretch>
              <a:fillRect l="-443" t="-960"/>
            </a:stretch>
          </a:blip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a:t>
            </a:r>
            <a:endParaRPr/>
          </a:p>
        </p:txBody>
      </p:sp>
      <p:sp>
        <p:nvSpPr>
          <p:cNvPr id="389" name="Google Shape;389;p15"/>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DATASETS</a:t>
            </a:r>
            <a:endParaRPr/>
          </a:p>
        </p:txBody>
      </p:sp>
      <p:sp>
        <p:nvSpPr>
          <p:cNvPr id="396" name="Google Shape;396;p16"/>
          <p:cNvSpPr txBox="1">
            <a:spLocks noGrp="1"/>
          </p:cNvSpPr>
          <p:nvPr>
            <p:ph type="body" idx="1"/>
          </p:nvPr>
        </p:nvSpPr>
        <p:spPr>
          <a:xfrm>
            <a:off x="1451579" y="2015732"/>
            <a:ext cx="9603275" cy="4037749"/>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Artificial real-valued dataset</a:t>
            </a:r>
            <a:endParaRPr/>
          </a:p>
          <a:p>
            <a:pPr marL="685800" lvl="1" indent="-228600" algn="l" rtl="0">
              <a:lnSpc>
                <a:spcPct val="120000"/>
              </a:lnSpc>
              <a:spcBef>
                <a:spcPts val="500"/>
              </a:spcBef>
              <a:spcAft>
                <a:spcPts val="0"/>
              </a:spcAft>
              <a:buSzPts val="1800"/>
              <a:buChar char="•"/>
            </a:pPr>
            <a:r>
              <a:rPr lang="en-US"/>
              <a:t>Consists of 4 network groups of size 50, 100, 200, and 300</a:t>
            </a:r>
            <a:endParaRPr/>
          </a:p>
          <a:p>
            <a:pPr marL="685800" lvl="1" indent="-228600" algn="l" rtl="0">
              <a:lnSpc>
                <a:spcPct val="120000"/>
              </a:lnSpc>
              <a:spcBef>
                <a:spcPts val="500"/>
              </a:spcBef>
              <a:spcAft>
                <a:spcPts val="0"/>
              </a:spcAft>
              <a:buSzPts val="1800"/>
              <a:buChar char="•"/>
            </a:pPr>
            <a:r>
              <a:rPr lang="en-US"/>
              <a:t>Each group includes 20 different random networks</a:t>
            </a:r>
            <a:endParaRPr/>
          </a:p>
          <a:p>
            <a:pPr marL="685800" lvl="1" indent="-228600" algn="l" rtl="0">
              <a:lnSpc>
                <a:spcPct val="120000"/>
              </a:lnSpc>
              <a:spcBef>
                <a:spcPts val="500"/>
              </a:spcBef>
              <a:spcAft>
                <a:spcPts val="0"/>
              </a:spcAft>
              <a:buSzPts val="1800"/>
              <a:buChar char="•"/>
            </a:pPr>
            <a:r>
              <a:rPr lang="en-US"/>
              <a:t>Total of 80 networks were tested.</a:t>
            </a:r>
            <a:endParaRPr/>
          </a:p>
          <a:p>
            <a:pPr marL="685800" lvl="1" indent="-228600" algn="l" rtl="0">
              <a:lnSpc>
                <a:spcPct val="120000"/>
              </a:lnSpc>
              <a:spcBef>
                <a:spcPts val="500"/>
              </a:spcBef>
              <a:spcAft>
                <a:spcPts val="0"/>
              </a:spcAft>
              <a:buSzPts val="1800"/>
              <a:buChar char="•"/>
            </a:pPr>
            <a:r>
              <a:rPr lang="en-US" u="sng">
                <a:solidFill>
                  <a:schemeClr val="hlink"/>
                </a:solidFill>
                <a:hlinkClick r:id="rId3" action="ppaction://hlinksldjump"/>
              </a:rPr>
              <a:t>See an example.</a:t>
            </a:r>
            <a:endParaRPr/>
          </a:p>
          <a:p>
            <a:pPr marL="228600" lvl="0" indent="-228600" algn="l" rtl="0">
              <a:lnSpc>
                <a:spcPct val="120000"/>
              </a:lnSpc>
              <a:spcBef>
                <a:spcPts val="1000"/>
              </a:spcBef>
              <a:spcAft>
                <a:spcPts val="0"/>
              </a:spcAft>
              <a:buSzPts val="2000"/>
              <a:buChar char="•"/>
            </a:pPr>
            <a:r>
              <a:rPr lang="en-US"/>
              <a:t>Networks generation</a:t>
            </a:r>
            <a:endParaRPr/>
          </a:p>
          <a:p>
            <a:pPr marL="685800" lvl="1" indent="-228600" algn="l" rtl="0">
              <a:lnSpc>
                <a:spcPct val="120000"/>
              </a:lnSpc>
              <a:spcBef>
                <a:spcPts val="500"/>
              </a:spcBef>
              <a:spcAft>
                <a:spcPts val="0"/>
              </a:spcAft>
              <a:buSzPts val="1800"/>
              <a:buChar char="•"/>
            </a:pPr>
            <a:r>
              <a:rPr lang="en-US"/>
              <a:t>Real-valued time-series gene expression dataset was generated by using the Hill function.</a:t>
            </a:r>
            <a:endParaRPr/>
          </a:p>
          <a:p>
            <a:pPr marL="685800" lvl="1" indent="-228600" algn="l" rtl="0">
              <a:lnSpc>
                <a:spcPct val="120000"/>
              </a:lnSpc>
              <a:spcBef>
                <a:spcPts val="500"/>
              </a:spcBef>
              <a:spcAft>
                <a:spcPts val="0"/>
              </a:spcAft>
              <a:buSzPts val="1800"/>
              <a:buChar char="•"/>
            </a:pPr>
            <a:r>
              <a:rPr lang="en-US"/>
              <a:t>The Hill function </a:t>
            </a:r>
            <a:r>
              <a:rPr lang="en-US" u="sng">
                <a:solidFill>
                  <a:schemeClr val="hlink"/>
                </a:solidFill>
                <a:hlinkClick r:id="rId4" action="ppaction://hlinksldjump"/>
              </a:rPr>
              <a:t>description</a:t>
            </a:r>
            <a:r>
              <a:rPr lang="en-US"/>
              <a:t>.</a:t>
            </a:r>
            <a:endParaRPr/>
          </a:p>
          <a:p>
            <a:pPr marL="685800" lvl="1" indent="-228600" algn="l" rtl="0">
              <a:lnSpc>
                <a:spcPct val="120000"/>
              </a:lnSpc>
              <a:spcBef>
                <a:spcPts val="500"/>
              </a:spcBef>
              <a:spcAft>
                <a:spcPts val="0"/>
              </a:spcAft>
              <a:buSzPts val="1800"/>
              <a:buChar char="•"/>
            </a:pPr>
            <a:r>
              <a:rPr lang="en-US"/>
              <a:t>The Hill function </a:t>
            </a:r>
            <a:r>
              <a:rPr lang="en-US" u="sng">
                <a:solidFill>
                  <a:schemeClr val="hlink"/>
                </a:solidFill>
                <a:hlinkClick r:id="rId5" action="ppaction://hlinksldjump"/>
              </a:rPr>
              <a:t>parameters</a:t>
            </a:r>
            <a:r>
              <a:rPr lang="en-US"/>
              <a:t> while generating dataset.</a:t>
            </a:r>
            <a:endParaRPr/>
          </a:p>
          <a:p>
            <a:pPr marL="685800" lvl="1" indent="-114300" algn="l" rtl="0">
              <a:lnSpc>
                <a:spcPct val="120000"/>
              </a:lnSpc>
              <a:spcBef>
                <a:spcPts val="500"/>
              </a:spcBef>
              <a:spcAft>
                <a:spcPts val="0"/>
              </a:spcAft>
              <a:buSzPts val="1800"/>
              <a:buNone/>
            </a:pPr>
            <a:endParaRPr sz="1800">
              <a:latin typeface="Cambria Math"/>
              <a:ea typeface="Cambria Math"/>
              <a:cs typeface="Cambria Math"/>
              <a:sym typeface="Cambria Math"/>
            </a:endParaRPr>
          </a:p>
          <a:p>
            <a:pPr marL="685800" lvl="1" indent="-114300" algn="l" rtl="0">
              <a:lnSpc>
                <a:spcPct val="120000"/>
              </a:lnSpc>
              <a:spcBef>
                <a:spcPts val="500"/>
              </a:spcBef>
              <a:spcAft>
                <a:spcPts val="0"/>
              </a:spcAft>
              <a:buSzPts val="1800"/>
              <a:buNone/>
            </a:pPr>
            <a:endParaRPr sz="1800" i="1">
              <a:latin typeface="Cambria Math"/>
              <a:ea typeface="Cambria Math"/>
              <a:cs typeface="Cambria Math"/>
              <a:sym typeface="Cambria Math"/>
            </a:endParaRPr>
          </a:p>
          <a:p>
            <a:pPr marL="685800" lvl="1" indent="-114300" algn="l" rtl="0">
              <a:lnSpc>
                <a:spcPct val="120000"/>
              </a:lnSpc>
              <a:spcBef>
                <a:spcPts val="500"/>
              </a:spcBef>
              <a:spcAft>
                <a:spcPts val="0"/>
              </a:spcAft>
              <a:buSzPts val="1800"/>
              <a:buNone/>
            </a:pPr>
            <a:endParaRPr/>
          </a:p>
        </p:txBody>
      </p:sp>
      <p:sp>
        <p:nvSpPr>
          <p:cNvPr id="397" name="Google Shape;397;p16"/>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1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COMPARISON METHODS</a:t>
            </a:r>
            <a:endParaRPr/>
          </a:p>
        </p:txBody>
      </p:sp>
      <p:sp>
        <p:nvSpPr>
          <p:cNvPr id="404" name="Google Shape;404;p17"/>
          <p:cNvSpPr txBox="1">
            <a:spLocks noGrp="1"/>
          </p:cNvSpPr>
          <p:nvPr>
            <p:ph type="body" idx="1"/>
          </p:nvPr>
        </p:nvSpPr>
        <p:spPr>
          <a:xfrm>
            <a:off x="1451579" y="2015732"/>
            <a:ext cx="9603275" cy="4037749"/>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u="sng">
                <a:solidFill>
                  <a:schemeClr val="hlink"/>
                </a:solidFill>
                <a:hlinkClick r:id="rId3"/>
              </a:rPr>
              <a:t>DBN</a:t>
            </a:r>
            <a:r>
              <a:rPr lang="en-US"/>
              <a:t> selects potential regulators by determining the time points of the initial changes in the expression (up- or down-regulation) of genes.</a:t>
            </a:r>
            <a:endParaRPr/>
          </a:p>
          <a:p>
            <a:pPr marL="228600" lvl="0" indent="-228600" algn="l" rtl="0">
              <a:lnSpc>
                <a:spcPct val="120000"/>
              </a:lnSpc>
              <a:spcBef>
                <a:spcPts val="1000"/>
              </a:spcBef>
              <a:spcAft>
                <a:spcPts val="0"/>
              </a:spcAft>
              <a:buSzPts val="2000"/>
              <a:buChar char="•"/>
            </a:pPr>
            <a:r>
              <a:rPr lang="en-US" u="sng">
                <a:solidFill>
                  <a:schemeClr val="hlink"/>
                </a:solidFill>
                <a:hlinkClick r:id="rId4"/>
              </a:rPr>
              <a:t>MICRAT</a:t>
            </a:r>
            <a:r>
              <a:rPr lang="en-US"/>
              <a:t> builds an undirected graph representing the associations between genes based on the maximal information coefficient and determines the directions of the edge by using average entropy.</a:t>
            </a:r>
            <a:endParaRPr/>
          </a:p>
          <a:p>
            <a:pPr marL="228600" lvl="0" indent="-228600" algn="l" rtl="0">
              <a:lnSpc>
                <a:spcPct val="120000"/>
              </a:lnSpc>
              <a:spcBef>
                <a:spcPts val="1000"/>
              </a:spcBef>
              <a:spcAft>
                <a:spcPts val="0"/>
              </a:spcAft>
              <a:buSzPts val="2000"/>
              <a:buChar char="•"/>
            </a:pPr>
            <a:r>
              <a:rPr lang="en-US" u="sng">
                <a:solidFill>
                  <a:schemeClr val="hlink"/>
                </a:solidFill>
                <a:hlinkClick r:id="rId5"/>
              </a:rPr>
              <a:t>GENIE3</a:t>
            </a:r>
            <a:r>
              <a:rPr lang="en-US"/>
              <a:t> is an approach inferring regulatory networks from expression data using tree-based methods and showed the best performance in the </a:t>
            </a:r>
            <a:r>
              <a:rPr lang="en-US" u="sng">
                <a:solidFill>
                  <a:schemeClr val="hlink"/>
                </a:solidFill>
                <a:hlinkClick r:id="rId6" action="ppaction://hlinksldjump"/>
              </a:rPr>
              <a:t>DREAM4 In-silico </a:t>
            </a:r>
            <a:r>
              <a:rPr lang="en-US"/>
              <a:t>multifactorial challenge.</a:t>
            </a:r>
            <a:endParaRPr/>
          </a:p>
          <a:p>
            <a:pPr marL="228600" lvl="0" indent="-228600" algn="l" rtl="0">
              <a:lnSpc>
                <a:spcPct val="120000"/>
              </a:lnSpc>
              <a:spcBef>
                <a:spcPts val="1000"/>
              </a:spcBef>
              <a:spcAft>
                <a:spcPts val="0"/>
              </a:spcAft>
              <a:buSzPts val="2000"/>
              <a:buChar char="•"/>
            </a:pPr>
            <a:r>
              <a:rPr lang="en-US" u="sng">
                <a:solidFill>
                  <a:schemeClr val="hlink"/>
                </a:solidFill>
                <a:hlinkClick r:id="rId7"/>
              </a:rPr>
              <a:t>MIBNI</a:t>
            </a:r>
            <a:r>
              <a:rPr lang="en-US"/>
              <a:t> is our previous study that used Boolean values to infer the network. </a:t>
            </a:r>
            <a:endParaRPr/>
          </a:p>
        </p:txBody>
      </p:sp>
      <p:sp>
        <p:nvSpPr>
          <p:cNvPr id="405" name="Google Shape;405;p17"/>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1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EXPERIMENTS</a:t>
            </a:r>
            <a:endParaRPr/>
          </a:p>
        </p:txBody>
      </p:sp>
      <p:sp>
        <p:nvSpPr>
          <p:cNvPr id="412" name="Google Shape;412;p18"/>
          <p:cNvSpPr txBox="1">
            <a:spLocks noGrp="1"/>
          </p:cNvSpPr>
          <p:nvPr>
            <p:ph type="body" idx="1"/>
          </p:nvPr>
        </p:nvSpPr>
        <p:spPr>
          <a:xfrm>
            <a:off x="1451579" y="2015732"/>
            <a:ext cx="9603275" cy="3450613"/>
          </a:xfrm>
          <a:prstGeom prst="rect">
            <a:avLst/>
          </a:prstGeom>
          <a:blipFill rotWithShape="1">
            <a:blip r:embed="rId3">
              <a:alphaModFix/>
            </a:blip>
            <a:stretch>
              <a:fillRect l="-570" t="-176"/>
            </a:stretch>
          </a:blip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a:t>
            </a:r>
            <a:endParaRPr/>
          </a:p>
        </p:txBody>
      </p:sp>
      <p:sp>
        <p:nvSpPr>
          <p:cNvPr id="413" name="Google Shape;413;p18"/>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1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RESULTS</a:t>
            </a:r>
            <a:endParaRPr/>
          </a:p>
        </p:txBody>
      </p:sp>
      <p:sp>
        <p:nvSpPr>
          <p:cNvPr id="420" name="Google Shape;420;p19"/>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Proportion of three-level analysis</a:t>
            </a:r>
            <a:endParaRPr/>
          </a:p>
          <a:p>
            <a:pPr marL="228600" lvl="0" indent="-228600" algn="l" rtl="0">
              <a:lnSpc>
                <a:spcPct val="120000"/>
              </a:lnSpc>
              <a:spcBef>
                <a:spcPts val="1000"/>
              </a:spcBef>
              <a:spcAft>
                <a:spcPts val="0"/>
              </a:spcAft>
              <a:buSzPts val="2000"/>
              <a:buChar char="•"/>
            </a:pPr>
            <a:r>
              <a:rPr lang="en-US"/>
              <a:t>Case study : Artificial discretized dataset</a:t>
            </a:r>
            <a:endParaRPr/>
          </a:p>
          <a:p>
            <a:pPr marL="228600" lvl="0" indent="-228600" algn="l" rtl="0">
              <a:lnSpc>
                <a:spcPct val="120000"/>
              </a:lnSpc>
              <a:spcBef>
                <a:spcPts val="1000"/>
              </a:spcBef>
              <a:spcAft>
                <a:spcPts val="0"/>
              </a:spcAft>
              <a:buSzPts val="2000"/>
              <a:buChar char="•"/>
            </a:pPr>
            <a:r>
              <a:rPr lang="en-US"/>
              <a:t>Case study : Artificial real-valued dataset</a:t>
            </a:r>
            <a:endParaRPr/>
          </a:p>
          <a:p>
            <a:pPr marL="228600" lvl="0" indent="-228600" algn="l" rtl="0">
              <a:lnSpc>
                <a:spcPct val="120000"/>
              </a:lnSpc>
              <a:spcBef>
                <a:spcPts val="1000"/>
              </a:spcBef>
              <a:spcAft>
                <a:spcPts val="0"/>
              </a:spcAft>
              <a:buSzPts val="2000"/>
              <a:buChar char="•"/>
            </a:pPr>
            <a:r>
              <a:rPr lang="en-US"/>
              <a:t>Running time</a:t>
            </a:r>
            <a:endParaRPr/>
          </a:p>
          <a:p>
            <a:pPr marL="228600" lvl="0" indent="-101600" algn="l" rtl="0">
              <a:lnSpc>
                <a:spcPct val="120000"/>
              </a:lnSpc>
              <a:spcBef>
                <a:spcPts val="1000"/>
              </a:spcBef>
              <a:spcAft>
                <a:spcPts val="0"/>
              </a:spcAft>
              <a:buSzPts val="2000"/>
              <a:buNone/>
            </a:pPr>
            <a:endParaRPr/>
          </a:p>
          <a:p>
            <a:pPr marL="228600" lvl="0" indent="-101600" algn="l" rtl="0">
              <a:lnSpc>
                <a:spcPct val="120000"/>
              </a:lnSpc>
              <a:spcBef>
                <a:spcPts val="1000"/>
              </a:spcBef>
              <a:spcAft>
                <a:spcPts val="0"/>
              </a:spcAft>
              <a:buSzPts val="2000"/>
              <a:buNone/>
            </a:pPr>
            <a:endParaRPr/>
          </a:p>
        </p:txBody>
      </p:sp>
      <p:sp>
        <p:nvSpPr>
          <p:cNvPr id="421" name="Google Shape;421;p19"/>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2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PROPORTION OF THREE-LEVEL ANALYSIS</a:t>
            </a:r>
            <a:br>
              <a:rPr lang="en-US"/>
            </a:br>
            <a:endParaRPr/>
          </a:p>
        </p:txBody>
      </p:sp>
      <p:pic>
        <p:nvPicPr>
          <p:cNvPr id="428" name="Google Shape;428;p20" descr="Chart, box and whisker chart&#10;&#10;Description automatically generated"/>
          <p:cNvPicPr preferRelativeResize="0">
            <a:picLocks noGrp="1"/>
          </p:cNvPicPr>
          <p:nvPr>
            <p:ph type="body" idx="1"/>
          </p:nvPr>
        </p:nvPicPr>
        <p:blipFill rotWithShape="1">
          <a:blip r:embed="rId3">
            <a:alphaModFix/>
          </a:blip>
          <a:srcRect/>
          <a:stretch/>
        </p:blipFill>
        <p:spPr>
          <a:xfrm>
            <a:off x="3423667" y="2046706"/>
            <a:ext cx="6074372" cy="3651322"/>
          </a:xfrm>
          <a:prstGeom prst="rect">
            <a:avLst/>
          </a:prstGeom>
          <a:noFill/>
          <a:ln>
            <a:noFill/>
          </a:ln>
        </p:spPr>
      </p:pic>
      <p:sp>
        <p:nvSpPr>
          <p:cNvPr id="429" name="Google Shape;429;p20"/>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430" name="Google Shape;430;p20"/>
          <p:cNvSpPr txBox="1"/>
          <p:nvPr/>
        </p:nvSpPr>
        <p:spPr>
          <a:xfrm>
            <a:off x="4097449" y="5678428"/>
            <a:ext cx="472680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i="1">
                <a:solidFill>
                  <a:schemeClr val="dk1"/>
                </a:solidFill>
                <a:latin typeface="Times New Roman"/>
                <a:ea typeface="Times New Roman"/>
                <a:cs typeface="Times New Roman"/>
                <a:sym typeface="Times New Roman"/>
              </a:rPr>
              <a:t>The proportion of three-level discretized genes in the networks.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21"/>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CASE STUDY : ARTIFICIAL DISCRETIZED DATASET</a:t>
            </a:r>
            <a:br>
              <a:rPr lang="en-US"/>
            </a:br>
            <a:endParaRPr/>
          </a:p>
        </p:txBody>
      </p:sp>
      <p:sp>
        <p:nvSpPr>
          <p:cNvPr id="437" name="Google Shape;437;p21"/>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pic>
        <p:nvPicPr>
          <p:cNvPr id="438" name="Google Shape;438;p21" descr="Chart, line chart&#10;&#10;Description automatically generated"/>
          <p:cNvPicPr preferRelativeResize="0"/>
          <p:nvPr/>
        </p:nvPicPr>
        <p:blipFill rotWithShape="1">
          <a:blip r:embed="rId3">
            <a:alphaModFix/>
          </a:blip>
          <a:srcRect/>
          <a:stretch/>
        </p:blipFill>
        <p:spPr>
          <a:xfrm>
            <a:off x="2411561" y="1561937"/>
            <a:ext cx="7337541" cy="3675936"/>
          </a:xfrm>
          <a:prstGeom prst="rect">
            <a:avLst/>
          </a:prstGeom>
          <a:noFill/>
          <a:ln>
            <a:noFill/>
          </a:ln>
        </p:spPr>
      </p:pic>
      <p:sp>
        <p:nvSpPr>
          <p:cNvPr id="439" name="Google Shape;439;p21"/>
          <p:cNvSpPr txBox="1"/>
          <p:nvPr/>
        </p:nvSpPr>
        <p:spPr>
          <a:xfrm>
            <a:off x="2494198" y="5273296"/>
            <a:ext cx="7254904"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i="1">
                <a:solidFill>
                  <a:schemeClr val="dk1"/>
                </a:solidFill>
                <a:latin typeface="Times New Roman"/>
                <a:ea typeface="Times New Roman"/>
                <a:cs typeface="Times New Roman"/>
                <a:sym typeface="Times New Roman"/>
              </a:rPr>
              <a:t>The performance of MIDNI on the artificial discretized dataset. The x-axis means the network size denoted by the number of genes in the network. For each size, the y-axis shows the average value of each performance metric over 20 random networks.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22"/>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CASE STUDY : ARTIFICIAL DISCRETIZED DATASET</a:t>
            </a:r>
            <a:br>
              <a:rPr lang="en-US"/>
            </a:br>
            <a:endParaRPr/>
          </a:p>
        </p:txBody>
      </p:sp>
      <p:sp>
        <p:nvSpPr>
          <p:cNvPr id="446" name="Google Shape;446;p22"/>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22</a:t>
            </a:fld>
            <a:endParaRPr/>
          </a:p>
        </p:txBody>
      </p:sp>
      <p:sp>
        <p:nvSpPr>
          <p:cNvPr id="447" name="Google Shape;447;p22"/>
          <p:cNvSpPr txBox="1"/>
          <p:nvPr/>
        </p:nvSpPr>
        <p:spPr>
          <a:xfrm>
            <a:off x="2720984" y="5435281"/>
            <a:ext cx="725490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i="1">
                <a:solidFill>
                  <a:schemeClr val="dk1"/>
                </a:solidFill>
                <a:latin typeface="Times New Roman"/>
                <a:ea typeface="Times New Roman"/>
                <a:cs typeface="Times New Roman"/>
                <a:sym typeface="Times New Roman"/>
              </a:rPr>
              <a:t>Inference performance according to the number of incoming links (D) in the gold-standard network.</a:t>
            </a:r>
            <a:endParaRPr/>
          </a:p>
        </p:txBody>
      </p:sp>
      <p:pic>
        <p:nvPicPr>
          <p:cNvPr id="448" name="Google Shape;448;p22" descr="Chart, line chart&#10;&#10;Description automatically generated"/>
          <p:cNvPicPr preferRelativeResize="0"/>
          <p:nvPr/>
        </p:nvPicPr>
        <p:blipFill rotWithShape="1">
          <a:blip r:embed="rId3">
            <a:alphaModFix/>
          </a:blip>
          <a:srcRect/>
          <a:stretch/>
        </p:blipFill>
        <p:spPr>
          <a:xfrm>
            <a:off x="2521490" y="1520398"/>
            <a:ext cx="7156648" cy="380395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23"/>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CASE STUDY : ARTIFICIAL REAL-VALUED DATASET</a:t>
            </a:r>
            <a:endParaRPr/>
          </a:p>
        </p:txBody>
      </p:sp>
      <p:sp>
        <p:nvSpPr>
          <p:cNvPr id="455" name="Google Shape;455;p23"/>
          <p:cNvSpPr txBox="1">
            <a:spLocks noGrp="1"/>
          </p:cNvSpPr>
          <p:nvPr>
            <p:ph type="body" idx="1"/>
          </p:nvPr>
        </p:nvSpPr>
        <p:spPr>
          <a:xfrm>
            <a:off x="1451579" y="1359243"/>
            <a:ext cx="9603275" cy="410710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Structural accuracy</a:t>
            </a:r>
            <a:endParaRPr/>
          </a:p>
        </p:txBody>
      </p:sp>
      <p:sp>
        <p:nvSpPr>
          <p:cNvPr id="456" name="Google Shape;456;p23"/>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23</a:t>
            </a:fld>
            <a:endParaRPr/>
          </a:p>
        </p:txBody>
      </p:sp>
      <p:pic>
        <p:nvPicPr>
          <p:cNvPr id="457" name="Google Shape;457;p23" descr="Graphical user interface, chart, line chart&#10;&#10;Description automatically generated"/>
          <p:cNvPicPr preferRelativeResize="0"/>
          <p:nvPr/>
        </p:nvPicPr>
        <p:blipFill rotWithShape="1">
          <a:blip r:embed="rId3">
            <a:alphaModFix/>
          </a:blip>
          <a:srcRect/>
          <a:stretch/>
        </p:blipFill>
        <p:spPr>
          <a:xfrm>
            <a:off x="2648048" y="1843173"/>
            <a:ext cx="6895903" cy="42545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4"/>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CASE STUDY : ARTIFICIAL REAL-VALUED DATASET</a:t>
            </a:r>
            <a:endParaRPr/>
          </a:p>
        </p:txBody>
      </p:sp>
      <p:sp>
        <p:nvSpPr>
          <p:cNvPr id="464" name="Google Shape;464;p24"/>
          <p:cNvSpPr txBox="1">
            <a:spLocks noGrp="1"/>
          </p:cNvSpPr>
          <p:nvPr>
            <p:ph type="body" idx="1"/>
          </p:nvPr>
        </p:nvSpPr>
        <p:spPr>
          <a:xfrm>
            <a:off x="1451579" y="1359243"/>
            <a:ext cx="9603275" cy="410710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Dynamics accuracy</a:t>
            </a:r>
            <a:endParaRPr/>
          </a:p>
        </p:txBody>
      </p:sp>
      <p:sp>
        <p:nvSpPr>
          <p:cNvPr id="465" name="Google Shape;465;p24"/>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24</a:t>
            </a:fld>
            <a:endParaRPr/>
          </a:p>
        </p:txBody>
      </p:sp>
      <p:pic>
        <p:nvPicPr>
          <p:cNvPr id="466" name="Google Shape;466;p24" descr="Chart, line chart&#10;&#10;Description automatically generated"/>
          <p:cNvPicPr preferRelativeResize="0"/>
          <p:nvPr/>
        </p:nvPicPr>
        <p:blipFill rotWithShape="1">
          <a:blip r:embed="rId3">
            <a:alphaModFix/>
          </a:blip>
          <a:srcRect/>
          <a:stretch/>
        </p:blipFill>
        <p:spPr>
          <a:xfrm>
            <a:off x="2526704" y="1873506"/>
            <a:ext cx="7432842" cy="425891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25"/>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RUNNING TIME</a:t>
            </a:r>
            <a:endParaRPr/>
          </a:p>
        </p:txBody>
      </p:sp>
      <p:sp>
        <p:nvSpPr>
          <p:cNvPr id="473" name="Google Shape;473;p25"/>
          <p:cNvSpPr txBox="1">
            <a:spLocks noGrp="1"/>
          </p:cNvSpPr>
          <p:nvPr>
            <p:ph type="body" idx="1"/>
          </p:nvPr>
        </p:nvSpPr>
        <p:spPr>
          <a:xfrm>
            <a:off x="1451579" y="1751556"/>
            <a:ext cx="9603275" cy="3714790"/>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The experiments are conducted on a PC with AMD Ryzen 5 3400G 3.70 GHz CPU and 16 GB RAM</a:t>
            </a:r>
            <a:endParaRPr/>
          </a:p>
        </p:txBody>
      </p:sp>
      <p:sp>
        <p:nvSpPr>
          <p:cNvPr id="474" name="Google Shape;474;p25"/>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25</a:t>
            </a:fld>
            <a:endParaRPr/>
          </a:p>
        </p:txBody>
      </p:sp>
      <p:pic>
        <p:nvPicPr>
          <p:cNvPr id="475" name="Google Shape;475;p25" descr="Chart, line chart&#10;&#10;Description automatically generated"/>
          <p:cNvPicPr preferRelativeResize="0"/>
          <p:nvPr/>
        </p:nvPicPr>
        <p:blipFill rotWithShape="1">
          <a:blip r:embed="rId3">
            <a:alphaModFix/>
          </a:blip>
          <a:srcRect/>
          <a:stretch/>
        </p:blipFill>
        <p:spPr>
          <a:xfrm>
            <a:off x="3044696" y="2564368"/>
            <a:ext cx="5860305" cy="347761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2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CONCLUSION</a:t>
            </a:r>
            <a:endParaRPr/>
          </a:p>
        </p:txBody>
      </p:sp>
      <p:sp>
        <p:nvSpPr>
          <p:cNvPr id="482" name="Google Shape;482;p26"/>
          <p:cNvSpPr txBox="1">
            <a:spLocks noGrp="1"/>
          </p:cNvSpPr>
          <p:nvPr>
            <p:ph type="body" idx="1"/>
          </p:nvPr>
        </p:nvSpPr>
        <p:spPr>
          <a:xfrm>
            <a:off x="1451579" y="2015732"/>
            <a:ext cx="9603275" cy="352146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20000"/>
              </a:lnSpc>
              <a:spcBef>
                <a:spcPts val="0"/>
              </a:spcBef>
              <a:spcAft>
                <a:spcPts val="0"/>
              </a:spcAft>
              <a:buSzPts val="2000"/>
              <a:buChar char="•"/>
            </a:pPr>
            <a:r>
              <a:rPr lang="en-US"/>
              <a:t>Infer regulatory network using multiple level of discretization for the input data</a:t>
            </a:r>
            <a:endParaRPr/>
          </a:p>
          <a:p>
            <a:pPr marL="228600" lvl="0" indent="-228600" algn="l" rtl="0">
              <a:lnSpc>
                <a:spcPct val="120000"/>
              </a:lnSpc>
              <a:spcBef>
                <a:spcPts val="1000"/>
              </a:spcBef>
              <a:spcAft>
                <a:spcPts val="0"/>
              </a:spcAft>
              <a:buSzPts val="2000"/>
              <a:buChar char="•"/>
            </a:pPr>
            <a:r>
              <a:rPr lang="en-US"/>
              <a:t>Outperform the compared methods in terms of both structural and dynamical accuracies.</a:t>
            </a:r>
            <a:endParaRPr/>
          </a:p>
          <a:p>
            <a:pPr marL="228600" lvl="0" indent="-228600" algn="l" rtl="0">
              <a:lnSpc>
                <a:spcPct val="120000"/>
              </a:lnSpc>
              <a:spcBef>
                <a:spcPts val="1000"/>
              </a:spcBef>
              <a:spcAft>
                <a:spcPts val="0"/>
              </a:spcAft>
              <a:buSzPts val="2000"/>
              <a:buChar char="•"/>
            </a:pPr>
            <a:r>
              <a:rPr lang="en-US"/>
              <a:t>Cope with dense and large networks.</a:t>
            </a:r>
            <a:endParaRPr/>
          </a:p>
          <a:p>
            <a:pPr marL="228600" lvl="0" indent="-228600" algn="l" rtl="0">
              <a:lnSpc>
                <a:spcPct val="120000"/>
              </a:lnSpc>
              <a:spcBef>
                <a:spcPts val="1000"/>
              </a:spcBef>
              <a:spcAft>
                <a:spcPts val="0"/>
              </a:spcAft>
              <a:buSzPts val="2000"/>
              <a:buChar char="•"/>
            </a:pPr>
            <a:r>
              <a:rPr lang="en-US"/>
              <a:t>Be comparable to others in terms of inference time.</a:t>
            </a:r>
            <a:endParaRPr/>
          </a:p>
          <a:p>
            <a:pPr marL="228600" lvl="0" indent="-228600" algn="l" rtl="0">
              <a:lnSpc>
                <a:spcPct val="120000"/>
              </a:lnSpc>
              <a:spcBef>
                <a:spcPts val="1000"/>
              </a:spcBef>
              <a:spcAft>
                <a:spcPts val="0"/>
              </a:spcAft>
              <a:buSzPts val="2000"/>
              <a:buChar char="•"/>
            </a:pPr>
            <a:r>
              <a:rPr lang="en-US"/>
              <a:t>Limitation:</a:t>
            </a:r>
            <a:endParaRPr/>
          </a:p>
          <a:p>
            <a:pPr marL="685800" lvl="1" indent="-228600" algn="l" rtl="0">
              <a:lnSpc>
                <a:spcPct val="120000"/>
              </a:lnSpc>
              <a:spcBef>
                <a:spcPts val="500"/>
              </a:spcBef>
              <a:spcAft>
                <a:spcPts val="0"/>
              </a:spcAft>
              <a:buSzPts val="1800"/>
              <a:buChar char="•"/>
            </a:pPr>
            <a:r>
              <a:rPr lang="en-US"/>
              <a:t>Using the correlation coefficient to determine the type and direction of interactions.</a:t>
            </a:r>
            <a:endParaRPr/>
          </a:p>
          <a:p>
            <a:pPr marL="685800" lvl="1" indent="-228600" algn="l" rtl="0">
              <a:lnSpc>
                <a:spcPct val="120000"/>
              </a:lnSpc>
              <a:spcBef>
                <a:spcPts val="500"/>
              </a:spcBef>
              <a:spcAft>
                <a:spcPts val="0"/>
              </a:spcAft>
              <a:buSzPts val="1800"/>
              <a:buChar char="•"/>
            </a:pPr>
            <a:r>
              <a:rPr lang="en-US"/>
              <a:t>MIFS and SWAP subroutines are greedy algorithms.</a:t>
            </a:r>
            <a:endParaRPr/>
          </a:p>
        </p:txBody>
      </p:sp>
      <p:sp>
        <p:nvSpPr>
          <p:cNvPr id="483" name="Google Shape;483;p26"/>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2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FUTURE WORKS</a:t>
            </a:r>
            <a:endParaRPr/>
          </a:p>
        </p:txBody>
      </p:sp>
      <p:sp>
        <p:nvSpPr>
          <p:cNvPr id="490" name="Google Shape;490;p27"/>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120000"/>
              </a:lnSpc>
              <a:spcBef>
                <a:spcPts val="0"/>
              </a:spcBef>
              <a:spcAft>
                <a:spcPts val="0"/>
              </a:spcAft>
              <a:buSzPct val="100000"/>
              <a:buChar char="•"/>
            </a:pPr>
            <a:r>
              <a:rPr lang="en-US"/>
              <a:t>Develop a new subroutine that can adapt to multimodal problem where there are a lot of optimal solutions.</a:t>
            </a:r>
            <a:endParaRPr/>
          </a:p>
          <a:p>
            <a:pPr marL="228600" lvl="0" indent="-228600" algn="l" rtl="0">
              <a:lnSpc>
                <a:spcPct val="120000"/>
              </a:lnSpc>
              <a:spcBef>
                <a:spcPts val="1000"/>
              </a:spcBef>
              <a:spcAft>
                <a:spcPts val="0"/>
              </a:spcAft>
              <a:buSzPct val="100000"/>
              <a:buChar char="•"/>
            </a:pPr>
            <a:r>
              <a:rPr lang="en-US"/>
              <a:t>Apply other metric to determine the interaction direction of genes during the inference instead of correlation coefficient which is relatively simple and inadequate for enhancing the accuracy.</a:t>
            </a:r>
            <a:endParaRPr/>
          </a:p>
          <a:p>
            <a:pPr marL="228600" lvl="0" indent="-228600" algn="l" rtl="0">
              <a:lnSpc>
                <a:spcPct val="120000"/>
              </a:lnSpc>
              <a:spcBef>
                <a:spcPts val="1000"/>
              </a:spcBef>
              <a:spcAft>
                <a:spcPts val="0"/>
              </a:spcAft>
              <a:buSzPct val="100000"/>
              <a:buChar char="•"/>
            </a:pPr>
            <a:r>
              <a:rPr lang="en-US"/>
              <a:t>Speed up the inference process by applying optimized search algorithms or parallel computation techniques.</a:t>
            </a:r>
            <a:endParaRPr/>
          </a:p>
          <a:p>
            <a:pPr marL="228600" lvl="0" indent="-228600" algn="l" rtl="0">
              <a:lnSpc>
                <a:spcPct val="120000"/>
              </a:lnSpc>
              <a:spcBef>
                <a:spcPts val="1000"/>
              </a:spcBef>
              <a:spcAft>
                <a:spcPts val="0"/>
              </a:spcAft>
              <a:buSzPct val="100000"/>
              <a:buChar char="•"/>
            </a:pPr>
            <a:r>
              <a:rPr lang="en-US"/>
              <a:t>Conduct an experiment of data representation by using other algorithms to compare with K-mean.</a:t>
            </a:r>
            <a:endParaRPr/>
          </a:p>
          <a:p>
            <a:pPr marL="228600" lvl="0" indent="-228600" algn="l" rtl="0">
              <a:lnSpc>
                <a:spcPct val="120000"/>
              </a:lnSpc>
              <a:spcBef>
                <a:spcPts val="1000"/>
              </a:spcBef>
              <a:spcAft>
                <a:spcPts val="0"/>
              </a:spcAft>
              <a:buSzPct val="100000"/>
              <a:buChar char="•"/>
            </a:pPr>
            <a:r>
              <a:rPr lang="en-US"/>
              <a:t>Try to infer the network with other kind of data like the steady state (in this study using only time-series) and combine with prior knowledge data to improve the inference accuracy.</a:t>
            </a:r>
            <a:endParaRPr/>
          </a:p>
        </p:txBody>
      </p:sp>
      <p:sp>
        <p:nvSpPr>
          <p:cNvPr id="491" name="Google Shape;491;p27"/>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2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THANK YOU FOR LISTENING</a:t>
            </a:r>
            <a:endParaRPr/>
          </a:p>
        </p:txBody>
      </p:sp>
      <p:sp>
        <p:nvSpPr>
          <p:cNvPr id="497" name="Google Shape;497;p28"/>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28</a:t>
            </a:fld>
            <a:endParaRPr/>
          </a:p>
        </p:txBody>
      </p:sp>
      <p:pic>
        <p:nvPicPr>
          <p:cNvPr id="498" name="Google Shape;498;p28" descr="Ask Questions Icon PNG Transparent Background, Free Download #5459 -  FreeIconsPNG"/>
          <p:cNvPicPr preferRelativeResize="0">
            <a:picLocks noGrp="1"/>
          </p:cNvPicPr>
          <p:nvPr>
            <p:ph type="body" idx="1"/>
          </p:nvPr>
        </p:nvPicPr>
        <p:blipFill rotWithShape="1">
          <a:blip r:embed="rId3">
            <a:alphaModFix/>
          </a:blip>
          <a:srcRect/>
          <a:stretch/>
        </p:blipFill>
        <p:spPr>
          <a:xfrm>
            <a:off x="3737018" y="2246902"/>
            <a:ext cx="4949782" cy="303736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29"/>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THE SETUP IN GENERATION OF DATASETS</a:t>
            </a:r>
            <a:endParaRPr/>
          </a:p>
        </p:txBody>
      </p:sp>
      <p:sp>
        <p:nvSpPr>
          <p:cNvPr id="505" name="Google Shape;505;p29"/>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29</a:t>
            </a:fld>
            <a:endParaRPr/>
          </a:p>
        </p:txBody>
      </p:sp>
      <p:pic>
        <p:nvPicPr>
          <p:cNvPr id="506" name="Google Shape;506;p29"/>
          <p:cNvPicPr preferRelativeResize="0"/>
          <p:nvPr/>
        </p:nvPicPr>
        <p:blipFill rotWithShape="1">
          <a:blip r:embed="rId3">
            <a:alphaModFix/>
          </a:blip>
          <a:srcRect/>
          <a:stretch/>
        </p:blipFill>
        <p:spPr>
          <a:xfrm>
            <a:off x="2059839" y="1426623"/>
            <a:ext cx="8280119" cy="4202223"/>
          </a:xfrm>
          <a:prstGeom prst="rect">
            <a:avLst/>
          </a:prstGeom>
          <a:noFill/>
          <a:ln>
            <a:noFill/>
          </a:ln>
        </p:spPr>
      </p:pic>
      <p:pic>
        <p:nvPicPr>
          <p:cNvPr id="507" name="Google Shape;507;p29" descr="Home Icon - Free Icons: Easy to Download and Use">
            <a:hlinkClick r:id="rId4" action="ppaction://hlinksldjump"/>
          </p:cNvPr>
          <p:cNvPicPr preferRelativeResize="0"/>
          <p:nvPr/>
        </p:nvPicPr>
        <p:blipFill rotWithShape="1">
          <a:blip r:embed="rId5">
            <a:alphaModFix/>
          </a:blip>
          <a:srcRect/>
          <a:stretch/>
        </p:blipFill>
        <p:spPr>
          <a:xfrm>
            <a:off x="11575" y="-1584"/>
            <a:ext cx="601883" cy="60188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0"/>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THE HILL FUNCTION</a:t>
            </a:r>
            <a:endParaRPr/>
          </a:p>
        </p:txBody>
      </p:sp>
      <p:sp>
        <p:nvSpPr>
          <p:cNvPr id="514" name="Google Shape;514;p30"/>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30</a:t>
            </a:fld>
            <a:endParaRPr/>
          </a:p>
        </p:txBody>
      </p:sp>
      <p:pic>
        <p:nvPicPr>
          <p:cNvPr id="515" name="Google Shape;515;p30" descr="Home Icon - Free Icons: Easy to Download and Use">
            <a:hlinkClick r:id="rId3" action="ppaction://hlinksldjump"/>
          </p:cNvPr>
          <p:cNvPicPr preferRelativeResize="0"/>
          <p:nvPr/>
        </p:nvPicPr>
        <p:blipFill rotWithShape="1">
          <a:blip r:embed="rId4">
            <a:alphaModFix/>
          </a:blip>
          <a:srcRect/>
          <a:stretch/>
        </p:blipFill>
        <p:spPr>
          <a:xfrm>
            <a:off x="11575" y="-1584"/>
            <a:ext cx="601883" cy="601883"/>
          </a:xfrm>
          <a:prstGeom prst="rect">
            <a:avLst/>
          </a:prstGeom>
          <a:noFill/>
          <a:ln>
            <a:noFill/>
          </a:ln>
        </p:spPr>
      </p:pic>
      <p:sp>
        <p:nvSpPr>
          <p:cNvPr id="516" name="Google Shape;516;p30"/>
          <p:cNvSpPr txBox="1">
            <a:spLocks noGrp="1"/>
          </p:cNvSpPr>
          <p:nvPr>
            <p:ph type="body" idx="1"/>
          </p:nvPr>
        </p:nvSpPr>
        <p:spPr>
          <a:xfrm>
            <a:off x="1451579" y="1751556"/>
            <a:ext cx="9603275" cy="3714790"/>
          </a:xfrm>
          <a:prstGeom prst="rect">
            <a:avLst/>
          </a:prstGeom>
          <a:blipFill rotWithShape="1">
            <a:blip r:embed="rId5">
              <a:alphaModFix/>
            </a:blip>
            <a:stretch>
              <a:fillRect l="-633"/>
            </a:stretch>
          </a:blip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n-US"/>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31"/>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ARTIFICIAL DISCRETIZED DATASET EXAMPLE</a:t>
            </a:r>
            <a:endParaRPr/>
          </a:p>
        </p:txBody>
      </p:sp>
      <p:pic>
        <p:nvPicPr>
          <p:cNvPr id="522" name="Google Shape;522;p31"/>
          <p:cNvPicPr preferRelativeResize="0">
            <a:picLocks noGrp="1"/>
          </p:cNvPicPr>
          <p:nvPr>
            <p:ph type="body" idx="1"/>
          </p:nvPr>
        </p:nvPicPr>
        <p:blipFill rotWithShape="1">
          <a:blip r:embed="rId3">
            <a:alphaModFix/>
          </a:blip>
          <a:srcRect/>
          <a:stretch/>
        </p:blipFill>
        <p:spPr>
          <a:xfrm>
            <a:off x="1151961" y="1571625"/>
            <a:ext cx="10095875" cy="4057221"/>
          </a:xfrm>
          <a:prstGeom prst="rect">
            <a:avLst/>
          </a:prstGeom>
          <a:noFill/>
          <a:ln>
            <a:noFill/>
          </a:ln>
        </p:spPr>
      </p:pic>
      <p:sp>
        <p:nvSpPr>
          <p:cNvPr id="523" name="Google Shape;523;p31"/>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31</a:t>
            </a:fld>
            <a:endParaRPr/>
          </a:p>
        </p:txBody>
      </p:sp>
      <p:pic>
        <p:nvPicPr>
          <p:cNvPr id="524" name="Google Shape;524;p31" descr="Home Icon - Free Icons: Easy to Download and Use">
            <a:hlinkClick r:id="rId4" action="ppaction://hlinksldjump"/>
          </p:cNvPr>
          <p:cNvPicPr preferRelativeResize="0"/>
          <p:nvPr/>
        </p:nvPicPr>
        <p:blipFill rotWithShape="1">
          <a:blip r:embed="rId5">
            <a:alphaModFix/>
          </a:blip>
          <a:srcRect/>
          <a:stretch/>
        </p:blipFill>
        <p:spPr>
          <a:xfrm>
            <a:off x="11575" y="-1584"/>
            <a:ext cx="601883" cy="60188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32"/>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ARTIFICIAL REAL-VALUED DATASET EXAMPLE</a:t>
            </a:r>
            <a:endParaRPr/>
          </a:p>
        </p:txBody>
      </p:sp>
      <p:pic>
        <p:nvPicPr>
          <p:cNvPr id="530" name="Google Shape;530;p32"/>
          <p:cNvPicPr preferRelativeResize="0">
            <a:picLocks noGrp="1"/>
          </p:cNvPicPr>
          <p:nvPr>
            <p:ph type="body" idx="1"/>
          </p:nvPr>
        </p:nvPicPr>
        <p:blipFill rotWithShape="1">
          <a:blip r:embed="rId3">
            <a:alphaModFix/>
          </a:blip>
          <a:srcRect/>
          <a:stretch/>
        </p:blipFill>
        <p:spPr>
          <a:xfrm>
            <a:off x="1315636" y="1493116"/>
            <a:ext cx="9768526" cy="4639308"/>
          </a:xfrm>
          <a:prstGeom prst="rect">
            <a:avLst/>
          </a:prstGeom>
          <a:noFill/>
          <a:ln>
            <a:noFill/>
          </a:ln>
        </p:spPr>
      </p:pic>
      <p:sp>
        <p:nvSpPr>
          <p:cNvPr id="531" name="Google Shape;531;p32"/>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32</a:t>
            </a:fld>
            <a:endParaRPr/>
          </a:p>
        </p:txBody>
      </p:sp>
      <p:pic>
        <p:nvPicPr>
          <p:cNvPr id="532" name="Google Shape;532;p32" descr="Home Icon - Free Icons: Easy to Download and Use">
            <a:hlinkClick r:id="rId4" action="ppaction://hlinksldjump"/>
          </p:cNvPr>
          <p:cNvPicPr preferRelativeResize="0"/>
          <p:nvPr/>
        </p:nvPicPr>
        <p:blipFill rotWithShape="1">
          <a:blip r:embed="rId5">
            <a:alphaModFix/>
          </a:blip>
          <a:srcRect/>
          <a:stretch/>
        </p:blipFill>
        <p:spPr>
          <a:xfrm>
            <a:off x="-4986" y="523391"/>
            <a:ext cx="601883" cy="601883"/>
          </a:xfrm>
          <a:prstGeom prst="rect">
            <a:avLst/>
          </a:prstGeom>
          <a:noFill/>
          <a:ln>
            <a:noFill/>
          </a:ln>
        </p:spPr>
      </p:pic>
      <p:pic>
        <p:nvPicPr>
          <p:cNvPr id="533" name="Google Shape;533;p32" descr="Home Icon - Free Icons: Easy to Download and Use">
            <a:hlinkClick r:id="rId6" action="ppaction://hlinksldjump"/>
          </p:cNvPr>
          <p:cNvPicPr preferRelativeResize="0"/>
          <p:nvPr/>
        </p:nvPicPr>
        <p:blipFill rotWithShape="1">
          <a:blip r:embed="rId5">
            <a:alphaModFix/>
          </a:blip>
          <a:srcRect/>
          <a:stretch/>
        </p:blipFill>
        <p:spPr>
          <a:xfrm>
            <a:off x="0" y="-40135"/>
            <a:ext cx="601883" cy="60188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33"/>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DREAM CHALLENGE WEBSITE</a:t>
            </a:r>
            <a:endParaRPr/>
          </a:p>
        </p:txBody>
      </p:sp>
      <p:pic>
        <p:nvPicPr>
          <p:cNvPr id="539" name="Google Shape;539;p33">
            <a:hlinkClick r:id="rId3"/>
          </p:cNvPr>
          <p:cNvPicPr preferRelativeResize="0">
            <a:picLocks noGrp="1"/>
          </p:cNvPicPr>
          <p:nvPr>
            <p:ph type="body" idx="1"/>
          </p:nvPr>
        </p:nvPicPr>
        <p:blipFill rotWithShape="1">
          <a:blip r:embed="rId4">
            <a:alphaModFix/>
          </a:blip>
          <a:srcRect/>
          <a:stretch/>
        </p:blipFill>
        <p:spPr>
          <a:xfrm>
            <a:off x="1398262" y="1524307"/>
            <a:ext cx="9811286" cy="4390295"/>
          </a:xfrm>
          <a:prstGeom prst="rect">
            <a:avLst/>
          </a:prstGeom>
          <a:noFill/>
          <a:ln>
            <a:noFill/>
          </a:ln>
        </p:spPr>
      </p:pic>
      <p:sp>
        <p:nvSpPr>
          <p:cNvPr id="540" name="Google Shape;540;p33"/>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33</a:t>
            </a:fld>
            <a:endParaRPr/>
          </a:p>
        </p:txBody>
      </p:sp>
      <p:pic>
        <p:nvPicPr>
          <p:cNvPr id="541" name="Google Shape;541;p33" descr="Home Icon - Free Icons: Easy to Download and Use">
            <a:hlinkClick r:id="rId5" action="ppaction://hlinksldjump"/>
          </p:cNvPr>
          <p:cNvPicPr preferRelativeResize="0"/>
          <p:nvPr/>
        </p:nvPicPr>
        <p:blipFill rotWithShape="1">
          <a:blip r:embed="rId6">
            <a:alphaModFix/>
          </a:blip>
          <a:srcRect/>
          <a:stretch/>
        </p:blipFill>
        <p:spPr>
          <a:xfrm>
            <a:off x="11575" y="-1584"/>
            <a:ext cx="601883" cy="60188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34"/>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EXAMPLE OF AN OUTPUT</a:t>
            </a:r>
            <a:endParaRPr/>
          </a:p>
        </p:txBody>
      </p:sp>
      <p:sp>
        <p:nvSpPr>
          <p:cNvPr id="548" name="Google Shape;548;p34"/>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34</a:t>
            </a:fld>
            <a:endParaRPr/>
          </a:p>
        </p:txBody>
      </p:sp>
      <p:pic>
        <p:nvPicPr>
          <p:cNvPr id="549" name="Google Shape;549;p34" descr="Home Icon - Free Icons: Easy to Download and Use">
            <a:hlinkClick r:id="rId3" action="ppaction://hlinksldjump"/>
          </p:cNvPr>
          <p:cNvPicPr preferRelativeResize="0"/>
          <p:nvPr/>
        </p:nvPicPr>
        <p:blipFill rotWithShape="1">
          <a:blip r:embed="rId4">
            <a:alphaModFix/>
          </a:blip>
          <a:srcRect/>
          <a:stretch/>
        </p:blipFill>
        <p:spPr>
          <a:xfrm>
            <a:off x="11575" y="-1584"/>
            <a:ext cx="601883" cy="601883"/>
          </a:xfrm>
          <a:prstGeom prst="rect">
            <a:avLst/>
          </a:prstGeom>
          <a:noFill/>
          <a:ln>
            <a:noFill/>
          </a:ln>
        </p:spPr>
      </p:pic>
      <p:pic>
        <p:nvPicPr>
          <p:cNvPr id="550" name="Google Shape;550;p34"/>
          <p:cNvPicPr preferRelativeResize="0"/>
          <p:nvPr/>
        </p:nvPicPr>
        <p:blipFill rotWithShape="1">
          <a:blip r:embed="rId5">
            <a:alphaModFix/>
          </a:blip>
          <a:srcRect/>
          <a:stretch/>
        </p:blipFill>
        <p:spPr>
          <a:xfrm>
            <a:off x="5858177" y="1294288"/>
            <a:ext cx="5265094" cy="4798438"/>
          </a:xfrm>
          <a:prstGeom prst="rect">
            <a:avLst/>
          </a:prstGeom>
          <a:noFill/>
          <a:ln>
            <a:noFill/>
          </a:ln>
        </p:spPr>
      </p:pic>
      <p:pic>
        <p:nvPicPr>
          <p:cNvPr id="551" name="Google Shape;551;p34"/>
          <p:cNvPicPr preferRelativeResize="0"/>
          <p:nvPr/>
        </p:nvPicPr>
        <p:blipFill rotWithShape="1">
          <a:blip r:embed="rId6">
            <a:alphaModFix/>
          </a:blip>
          <a:srcRect/>
          <a:stretch/>
        </p:blipFill>
        <p:spPr>
          <a:xfrm>
            <a:off x="1068730" y="1286425"/>
            <a:ext cx="4202794" cy="4764236"/>
          </a:xfrm>
          <a:prstGeom prst="rect">
            <a:avLst/>
          </a:prstGeom>
          <a:noFill/>
          <a:ln>
            <a:noFill/>
          </a:ln>
        </p:spPr>
      </p:pic>
      <p:sp>
        <p:nvSpPr>
          <p:cNvPr id="552" name="Google Shape;552;p34"/>
          <p:cNvSpPr/>
          <p:nvPr/>
        </p:nvSpPr>
        <p:spPr>
          <a:xfrm>
            <a:off x="5254906" y="3275635"/>
            <a:ext cx="603271" cy="1049235"/>
          </a:xfrm>
          <a:prstGeom prst="right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35"/>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EXAMPLE OF DIRECTED GRAPH</a:t>
            </a:r>
            <a:endParaRPr/>
          </a:p>
        </p:txBody>
      </p:sp>
      <p:sp>
        <p:nvSpPr>
          <p:cNvPr id="559" name="Google Shape;559;p35"/>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35</a:t>
            </a:fld>
            <a:endParaRPr/>
          </a:p>
        </p:txBody>
      </p:sp>
      <p:pic>
        <p:nvPicPr>
          <p:cNvPr id="560" name="Google Shape;560;p35" descr="Home Icon - Free Icons: Easy to Download and Use">
            <a:hlinkClick r:id="rId3" action="ppaction://hlinksldjump"/>
          </p:cNvPr>
          <p:cNvPicPr preferRelativeResize="0"/>
          <p:nvPr/>
        </p:nvPicPr>
        <p:blipFill rotWithShape="1">
          <a:blip r:embed="rId4">
            <a:alphaModFix/>
          </a:blip>
          <a:srcRect/>
          <a:stretch/>
        </p:blipFill>
        <p:spPr>
          <a:xfrm>
            <a:off x="11575" y="-1584"/>
            <a:ext cx="601883" cy="601883"/>
          </a:xfrm>
          <a:prstGeom prst="rect">
            <a:avLst/>
          </a:prstGeom>
          <a:noFill/>
          <a:ln>
            <a:noFill/>
          </a:ln>
        </p:spPr>
      </p:pic>
      <p:pic>
        <p:nvPicPr>
          <p:cNvPr id="561" name="Google Shape;561;p35" descr="A picture containing indoor, device&#10;&#10;Description automatically generated"/>
          <p:cNvPicPr preferRelativeResize="0"/>
          <p:nvPr/>
        </p:nvPicPr>
        <p:blipFill rotWithShape="1">
          <a:blip r:embed="rId5">
            <a:alphaModFix/>
          </a:blip>
          <a:srcRect/>
          <a:stretch/>
        </p:blipFill>
        <p:spPr>
          <a:xfrm>
            <a:off x="3746132" y="1425177"/>
            <a:ext cx="4907534" cy="433066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36"/>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MIFS SUBROUTINE</a:t>
            </a:r>
            <a:endParaRPr/>
          </a:p>
        </p:txBody>
      </p:sp>
      <p:sp>
        <p:nvSpPr>
          <p:cNvPr id="568" name="Google Shape;568;p36"/>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36</a:t>
            </a:fld>
            <a:endParaRPr/>
          </a:p>
        </p:txBody>
      </p:sp>
      <p:pic>
        <p:nvPicPr>
          <p:cNvPr id="569" name="Google Shape;569;p36" descr="Home Icon - Free Icons: Easy to Download and Use">
            <a:hlinkClick r:id="rId3" action="ppaction://hlinksldjump"/>
          </p:cNvPr>
          <p:cNvPicPr preferRelativeResize="0"/>
          <p:nvPr/>
        </p:nvPicPr>
        <p:blipFill rotWithShape="1">
          <a:blip r:embed="rId4">
            <a:alphaModFix/>
          </a:blip>
          <a:srcRect/>
          <a:stretch/>
        </p:blipFill>
        <p:spPr>
          <a:xfrm>
            <a:off x="11575" y="-1584"/>
            <a:ext cx="601883" cy="601883"/>
          </a:xfrm>
          <a:prstGeom prst="rect">
            <a:avLst/>
          </a:prstGeom>
          <a:noFill/>
          <a:ln>
            <a:noFill/>
          </a:ln>
        </p:spPr>
      </p:pic>
      <p:pic>
        <p:nvPicPr>
          <p:cNvPr id="570" name="Google Shape;570;p36"/>
          <p:cNvPicPr preferRelativeResize="0"/>
          <p:nvPr/>
        </p:nvPicPr>
        <p:blipFill rotWithShape="1">
          <a:blip r:embed="rId5">
            <a:alphaModFix/>
          </a:blip>
          <a:srcRect/>
          <a:stretch/>
        </p:blipFill>
        <p:spPr>
          <a:xfrm>
            <a:off x="2712481" y="1342926"/>
            <a:ext cx="7162456" cy="44736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37"/>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SWAP SUBROUTINE</a:t>
            </a:r>
            <a:endParaRPr/>
          </a:p>
        </p:txBody>
      </p:sp>
      <p:sp>
        <p:nvSpPr>
          <p:cNvPr id="577" name="Google Shape;577;p37"/>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37</a:t>
            </a:fld>
            <a:endParaRPr/>
          </a:p>
        </p:txBody>
      </p:sp>
      <p:pic>
        <p:nvPicPr>
          <p:cNvPr id="578" name="Google Shape;578;p37" descr="Home Icon - Free Icons: Easy to Download and Use">
            <a:hlinkClick r:id="rId3" action="ppaction://hlinksldjump"/>
          </p:cNvPr>
          <p:cNvPicPr preferRelativeResize="0"/>
          <p:nvPr/>
        </p:nvPicPr>
        <p:blipFill rotWithShape="1">
          <a:blip r:embed="rId4">
            <a:alphaModFix/>
          </a:blip>
          <a:srcRect/>
          <a:stretch/>
        </p:blipFill>
        <p:spPr>
          <a:xfrm>
            <a:off x="11575" y="-1584"/>
            <a:ext cx="601883" cy="601883"/>
          </a:xfrm>
          <a:prstGeom prst="rect">
            <a:avLst/>
          </a:prstGeom>
          <a:noFill/>
          <a:ln>
            <a:noFill/>
          </a:ln>
        </p:spPr>
      </p:pic>
      <p:pic>
        <p:nvPicPr>
          <p:cNvPr id="579" name="Google Shape;579;p37"/>
          <p:cNvPicPr preferRelativeResize="0">
            <a:picLocks noGrp="1"/>
          </p:cNvPicPr>
          <p:nvPr>
            <p:ph type="body" idx="1"/>
          </p:nvPr>
        </p:nvPicPr>
        <p:blipFill rotWithShape="1">
          <a:blip r:embed="rId5">
            <a:alphaModFix/>
          </a:blip>
          <a:srcRect/>
          <a:stretch/>
        </p:blipFill>
        <p:spPr>
          <a:xfrm>
            <a:off x="3432584" y="1429736"/>
            <a:ext cx="5187559" cy="452656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38"/>
          <p:cNvSpPr txBox="1">
            <a:spLocks noGrp="1"/>
          </p:cNvSpPr>
          <p:nvPr>
            <p:ph type="title"/>
          </p:nvPr>
        </p:nvSpPr>
        <p:spPr>
          <a:xfrm>
            <a:off x="1398262" y="548125"/>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n-US"/>
              <a:t>METHODOLOGY</a:t>
            </a:r>
            <a:endParaRPr/>
          </a:p>
        </p:txBody>
      </p:sp>
      <p:sp>
        <p:nvSpPr>
          <p:cNvPr id="586" name="Google Shape;586;p38"/>
          <p:cNvSpPr txBox="1">
            <a:spLocks noGrp="1"/>
          </p:cNvSpPr>
          <p:nvPr>
            <p:ph type="sldNum" idx="12"/>
          </p:nvPr>
        </p:nvSpPr>
        <p:spPr>
          <a:xfrm>
            <a:off x="11221619" y="5628846"/>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38</a:t>
            </a:fld>
            <a:endParaRPr/>
          </a:p>
        </p:txBody>
      </p:sp>
      <p:graphicFrame>
        <p:nvGraphicFramePr>
          <p:cNvPr id="587" name="Google Shape;587;p38"/>
          <p:cNvGraphicFramePr/>
          <p:nvPr/>
        </p:nvGraphicFramePr>
        <p:xfrm>
          <a:off x="4136037" y="1836559"/>
          <a:ext cx="2031449" cy="2268904"/>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5650">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highlight>
                          <a:srgbClr val="FF0000"/>
                        </a:highlight>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588" name="Google Shape;588;p38"/>
          <p:cNvGraphicFramePr/>
          <p:nvPr/>
        </p:nvGraphicFramePr>
        <p:xfrm>
          <a:off x="4203274" y="1913285"/>
          <a:ext cx="2031449" cy="2268904"/>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66575">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highlight>
                          <a:srgbClr val="FF0000"/>
                        </a:highlight>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589" name="Google Shape;589;p38"/>
          <p:cNvGraphicFramePr/>
          <p:nvPr/>
        </p:nvGraphicFramePr>
        <p:xfrm>
          <a:off x="4270511" y="1985867"/>
          <a:ext cx="2031449" cy="2268904"/>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2050">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BBBC9"/>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endParaRPr sz="1000" b="1">
                        <a:highlight>
                          <a:srgbClr val="FF0000"/>
                        </a:highlight>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00"/>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92D050"/>
                    </a:solidFill>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9900"/>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030A0"/>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88361C"/>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00"/>
                    </a:solidFill>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CFF66"/>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C5E00"/>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99CC"/>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000"/>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FF"/>
                    </a:solidFill>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6699"/>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D0759"/>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6600FF"/>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047"/>
                    </a:solidFill>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C66FF"/>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FFFF"/>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6FF"/>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9900"/>
                    </a:solidFill>
                  </a:tcPr>
                </a:tc>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080"/>
                    </a:solidFill>
                  </a:tcPr>
                </a:tc>
                <a:extLst>
                  <a:ext uri="{0D108BD9-81ED-4DB2-BD59-A6C34878D82A}">
                    <a16:rowId xmlns:a16="http://schemas.microsoft.com/office/drawing/2014/main" val="10005"/>
                  </a:ext>
                </a:extLst>
              </a:tr>
            </a:tbl>
          </a:graphicData>
        </a:graphic>
      </p:graphicFrame>
      <p:graphicFrame>
        <p:nvGraphicFramePr>
          <p:cNvPr id="590" name="Google Shape;590;p38"/>
          <p:cNvGraphicFramePr/>
          <p:nvPr/>
        </p:nvGraphicFramePr>
        <p:xfrm>
          <a:off x="4141822" y="4335694"/>
          <a:ext cx="2466790" cy="2688484"/>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5650">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highlight>
                          <a:srgbClr val="FF0000"/>
                        </a:highlight>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591" name="Google Shape;591;p38"/>
          <p:cNvGraphicFramePr/>
          <p:nvPr/>
        </p:nvGraphicFramePr>
        <p:xfrm>
          <a:off x="4215873" y="4421250"/>
          <a:ext cx="2466790" cy="2688484"/>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5650">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highlight>
                          <a:srgbClr val="FF0000"/>
                        </a:highlight>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592" name="Google Shape;592;p38"/>
          <p:cNvGraphicFramePr/>
          <p:nvPr/>
        </p:nvGraphicFramePr>
        <p:xfrm>
          <a:off x="4289926" y="4508548"/>
          <a:ext cx="2466790" cy="2688484"/>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2050">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extLst>
                  <a:ext uri="{0D108BD9-81ED-4DB2-BD59-A6C34878D82A}">
                    <a16:rowId xmlns:a16="http://schemas.microsoft.com/office/drawing/2014/main" val="10005"/>
                  </a:ext>
                </a:extLst>
              </a:tr>
            </a:tbl>
          </a:graphicData>
        </a:graphic>
      </p:graphicFrame>
      <p:grpSp>
        <p:nvGrpSpPr>
          <p:cNvPr id="593" name="Google Shape;593;p38"/>
          <p:cNvGrpSpPr/>
          <p:nvPr/>
        </p:nvGrpSpPr>
        <p:grpSpPr>
          <a:xfrm>
            <a:off x="6656124" y="2178240"/>
            <a:ext cx="1960333" cy="3321170"/>
            <a:chOff x="5370389" y="2361635"/>
            <a:chExt cx="1960333" cy="3321170"/>
          </a:xfrm>
        </p:grpSpPr>
        <p:sp>
          <p:nvSpPr>
            <p:cNvPr id="594" name="Google Shape;594;p38"/>
            <p:cNvSpPr/>
            <p:nvPr/>
          </p:nvSpPr>
          <p:spPr>
            <a:xfrm>
              <a:off x="5370389" y="2361635"/>
              <a:ext cx="1960333" cy="3321170"/>
            </a:xfrm>
            <a:prstGeom prst="roundRect">
              <a:avLst>
                <a:gd name="adj" fmla="val 16667"/>
              </a:avLst>
            </a:prstGeom>
            <a:noFill/>
            <a:ln w="2540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95" name="Google Shape;595;p38"/>
            <p:cNvSpPr/>
            <p:nvPr/>
          </p:nvSpPr>
          <p:spPr>
            <a:xfrm>
              <a:off x="5760174" y="2509023"/>
              <a:ext cx="1187777" cy="784728"/>
            </a:xfrm>
            <a:prstGeom prst="rect">
              <a:avLst/>
            </a:prstGeom>
            <a:solidFill>
              <a:srgbClr val="E1896D"/>
            </a:solidFill>
            <a:ln w="1905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00B050"/>
                  </a:solidFill>
                  <a:latin typeface="Times New Roman"/>
                  <a:ea typeface="Times New Roman"/>
                  <a:cs typeface="Times New Roman"/>
                  <a:sym typeface="Times New Roman"/>
                </a:rPr>
                <a:t>MIFS</a:t>
              </a:r>
              <a:endParaRPr/>
            </a:p>
          </p:txBody>
        </p:sp>
        <p:sp>
          <p:nvSpPr>
            <p:cNvPr id="596" name="Google Shape;596;p38"/>
            <p:cNvSpPr/>
            <p:nvPr/>
          </p:nvSpPr>
          <p:spPr>
            <a:xfrm>
              <a:off x="5760174" y="3556185"/>
              <a:ext cx="1187778" cy="784728"/>
            </a:xfrm>
            <a:prstGeom prst="rect">
              <a:avLst/>
            </a:prstGeom>
            <a:solidFill>
              <a:srgbClr val="FFD047"/>
            </a:solidFill>
            <a:ln w="1905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FF0000"/>
                  </a:solidFill>
                  <a:latin typeface="Times New Roman"/>
                  <a:ea typeface="Times New Roman"/>
                  <a:cs typeface="Times New Roman"/>
                  <a:sym typeface="Times New Roman"/>
                </a:rPr>
                <a:t>SWAP</a:t>
              </a:r>
              <a:endParaRPr/>
            </a:p>
          </p:txBody>
        </p:sp>
        <p:sp>
          <p:nvSpPr>
            <p:cNvPr id="597" name="Google Shape;597;p38"/>
            <p:cNvSpPr/>
            <p:nvPr/>
          </p:nvSpPr>
          <p:spPr>
            <a:xfrm>
              <a:off x="5756666" y="4608396"/>
              <a:ext cx="1187778" cy="784728"/>
            </a:xfrm>
            <a:prstGeom prst="rect">
              <a:avLst/>
            </a:prstGeom>
            <a:solidFill>
              <a:srgbClr val="FFE4B5"/>
            </a:solidFill>
            <a:ln w="1905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rgbClr val="7030A0"/>
                  </a:solidFill>
                  <a:latin typeface="Times New Roman"/>
                  <a:ea typeface="Times New Roman"/>
                  <a:cs typeface="Times New Roman"/>
                  <a:sym typeface="Times New Roman"/>
                </a:rPr>
                <a:t>Regulatory genes and rules</a:t>
              </a:r>
              <a:endParaRPr/>
            </a:p>
          </p:txBody>
        </p:sp>
        <p:cxnSp>
          <p:nvCxnSpPr>
            <p:cNvPr id="598" name="Google Shape;598;p38"/>
            <p:cNvCxnSpPr>
              <a:endCxn id="596" idx="0"/>
            </p:cNvCxnSpPr>
            <p:nvPr/>
          </p:nvCxnSpPr>
          <p:spPr>
            <a:xfrm>
              <a:off x="6350463" y="3302085"/>
              <a:ext cx="3600" cy="254100"/>
            </a:xfrm>
            <a:prstGeom prst="straightConnector1">
              <a:avLst/>
            </a:prstGeom>
            <a:noFill/>
            <a:ln w="25400" cap="flat" cmpd="sng">
              <a:solidFill>
                <a:schemeClr val="accent1"/>
              </a:solidFill>
              <a:prstDash val="solid"/>
              <a:round/>
              <a:headEnd type="none" w="sm" len="sm"/>
              <a:tailEnd type="triangle" w="med" len="med"/>
            </a:ln>
          </p:spPr>
        </p:cxnSp>
        <p:cxnSp>
          <p:nvCxnSpPr>
            <p:cNvPr id="599" name="Google Shape;599;p38"/>
            <p:cNvCxnSpPr>
              <a:endCxn id="597" idx="0"/>
            </p:cNvCxnSpPr>
            <p:nvPr/>
          </p:nvCxnSpPr>
          <p:spPr>
            <a:xfrm>
              <a:off x="6350555" y="4358796"/>
              <a:ext cx="0" cy="249600"/>
            </a:xfrm>
            <a:prstGeom prst="straightConnector1">
              <a:avLst/>
            </a:prstGeom>
            <a:noFill/>
            <a:ln w="25400" cap="flat" cmpd="sng">
              <a:solidFill>
                <a:schemeClr val="accent1"/>
              </a:solidFill>
              <a:prstDash val="solid"/>
              <a:round/>
              <a:headEnd type="none" w="sm" len="sm"/>
              <a:tailEnd type="triangle" w="med" len="med"/>
            </a:ln>
          </p:spPr>
        </p:cxnSp>
      </p:grpSp>
      <p:grpSp>
        <p:nvGrpSpPr>
          <p:cNvPr id="600" name="Google Shape;600;p38"/>
          <p:cNvGrpSpPr/>
          <p:nvPr/>
        </p:nvGrpSpPr>
        <p:grpSpPr>
          <a:xfrm>
            <a:off x="9320735" y="1840625"/>
            <a:ext cx="1747241" cy="1647248"/>
            <a:chOff x="7608731" y="3122571"/>
            <a:chExt cx="1747241" cy="1647248"/>
          </a:xfrm>
        </p:grpSpPr>
        <p:sp>
          <p:nvSpPr>
            <p:cNvPr id="601" name="Google Shape;601;p38"/>
            <p:cNvSpPr/>
            <p:nvPr/>
          </p:nvSpPr>
          <p:spPr>
            <a:xfrm>
              <a:off x="7608731" y="3122571"/>
              <a:ext cx="1747241" cy="1647248"/>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02" name="Google Shape;602;p38"/>
            <p:cNvSpPr/>
            <p:nvPr/>
          </p:nvSpPr>
          <p:spPr>
            <a:xfrm>
              <a:off x="7699514" y="3231586"/>
              <a:ext cx="457200" cy="457200"/>
            </a:xfrm>
            <a:prstGeom prst="flowChartConnector">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603" name="Google Shape;603;p38"/>
            <p:cNvSpPr/>
            <p:nvPr/>
          </p:nvSpPr>
          <p:spPr>
            <a:xfrm>
              <a:off x="7716999" y="4254960"/>
              <a:ext cx="457200" cy="457200"/>
            </a:xfrm>
            <a:prstGeom prst="flowChartConnector">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604" name="Google Shape;604;p38"/>
            <p:cNvSpPr/>
            <p:nvPr/>
          </p:nvSpPr>
          <p:spPr>
            <a:xfrm>
              <a:off x="8756887" y="3224642"/>
              <a:ext cx="457200" cy="457200"/>
            </a:xfrm>
            <a:prstGeom prst="flowChartConnector">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605" name="Google Shape;605;p38"/>
            <p:cNvSpPr/>
            <p:nvPr/>
          </p:nvSpPr>
          <p:spPr>
            <a:xfrm>
              <a:off x="8756887" y="4252457"/>
              <a:ext cx="457200" cy="457200"/>
            </a:xfrm>
            <a:prstGeom prst="flowChartConnector">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606" name="Google Shape;606;p38"/>
            <p:cNvSpPr/>
            <p:nvPr/>
          </p:nvSpPr>
          <p:spPr>
            <a:xfrm>
              <a:off x="8243506" y="3755995"/>
              <a:ext cx="457200" cy="457200"/>
            </a:xfrm>
            <a:prstGeom prst="flowChartConnector">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cxnSp>
          <p:nvCxnSpPr>
            <p:cNvPr id="607" name="Google Shape;607;p38"/>
            <p:cNvCxnSpPr>
              <a:stCxn id="606" idx="7"/>
              <a:endCxn id="604" idx="3"/>
            </p:cNvCxnSpPr>
            <p:nvPr/>
          </p:nvCxnSpPr>
          <p:spPr>
            <a:xfrm rot="10800000" flipH="1">
              <a:off x="8633751" y="3614750"/>
              <a:ext cx="190200" cy="208200"/>
            </a:xfrm>
            <a:prstGeom prst="straightConnector1">
              <a:avLst/>
            </a:prstGeom>
            <a:noFill/>
            <a:ln w="19050" cap="flat" cmpd="sng">
              <a:solidFill>
                <a:srgbClr val="3C0FF9"/>
              </a:solidFill>
              <a:prstDash val="solid"/>
              <a:round/>
              <a:headEnd type="none" w="sm" len="sm"/>
              <a:tailEnd type="triangle" w="med" len="med"/>
            </a:ln>
          </p:spPr>
        </p:cxnSp>
        <p:cxnSp>
          <p:nvCxnSpPr>
            <p:cNvPr id="608" name="Google Shape;608;p38"/>
            <p:cNvCxnSpPr>
              <a:endCxn id="605" idx="2"/>
            </p:cNvCxnSpPr>
            <p:nvPr/>
          </p:nvCxnSpPr>
          <p:spPr>
            <a:xfrm rot="10800000" flipH="1">
              <a:off x="8182987" y="4481057"/>
              <a:ext cx="573900" cy="10500"/>
            </a:xfrm>
            <a:prstGeom prst="straightConnector1">
              <a:avLst/>
            </a:prstGeom>
            <a:noFill/>
            <a:ln w="19050" cap="flat" cmpd="sng">
              <a:solidFill>
                <a:srgbClr val="3C0FF9"/>
              </a:solidFill>
              <a:prstDash val="solid"/>
              <a:round/>
              <a:headEnd type="none" w="sm" len="sm"/>
              <a:tailEnd type="triangle" w="med" len="med"/>
            </a:ln>
          </p:spPr>
        </p:cxnSp>
        <p:cxnSp>
          <p:nvCxnSpPr>
            <p:cNvPr id="609" name="Google Shape;609;p38"/>
            <p:cNvCxnSpPr/>
            <p:nvPr/>
          </p:nvCxnSpPr>
          <p:spPr>
            <a:xfrm flipH="1">
              <a:off x="7928113" y="3855924"/>
              <a:ext cx="1" cy="224140"/>
            </a:xfrm>
            <a:prstGeom prst="straightConnector1">
              <a:avLst/>
            </a:prstGeom>
            <a:noFill/>
            <a:ln w="19050" cap="flat" cmpd="sng">
              <a:solidFill>
                <a:srgbClr val="3C0FF9"/>
              </a:solidFill>
              <a:prstDash val="dash"/>
              <a:round/>
              <a:headEnd type="none" w="sm" len="sm"/>
              <a:tailEnd type="none" w="sm" len="sm"/>
            </a:ln>
          </p:spPr>
        </p:cxnSp>
        <p:cxnSp>
          <p:nvCxnSpPr>
            <p:cNvPr id="610" name="Google Shape;610;p38"/>
            <p:cNvCxnSpPr>
              <a:stCxn id="604" idx="4"/>
              <a:endCxn id="605" idx="0"/>
            </p:cNvCxnSpPr>
            <p:nvPr/>
          </p:nvCxnSpPr>
          <p:spPr>
            <a:xfrm>
              <a:off x="8985487" y="3681842"/>
              <a:ext cx="0" cy="570600"/>
            </a:xfrm>
            <a:prstGeom prst="straightConnector1">
              <a:avLst/>
            </a:prstGeom>
            <a:noFill/>
            <a:ln w="19050" cap="flat" cmpd="sng">
              <a:solidFill>
                <a:srgbClr val="3C0FF9"/>
              </a:solidFill>
              <a:prstDash val="solid"/>
              <a:round/>
              <a:headEnd type="none" w="sm" len="sm"/>
              <a:tailEnd type="triangle" w="med" len="med"/>
            </a:ln>
          </p:spPr>
        </p:cxnSp>
        <p:cxnSp>
          <p:nvCxnSpPr>
            <p:cNvPr id="611" name="Google Shape;611;p38"/>
            <p:cNvCxnSpPr>
              <a:stCxn id="605" idx="1"/>
              <a:endCxn id="606" idx="5"/>
            </p:cNvCxnSpPr>
            <p:nvPr/>
          </p:nvCxnSpPr>
          <p:spPr>
            <a:xfrm rot="10800000">
              <a:off x="8633642" y="4146312"/>
              <a:ext cx="190200" cy="173100"/>
            </a:xfrm>
            <a:prstGeom prst="straightConnector1">
              <a:avLst/>
            </a:prstGeom>
            <a:noFill/>
            <a:ln w="19050" cap="flat" cmpd="sng">
              <a:solidFill>
                <a:srgbClr val="FF0000"/>
              </a:solidFill>
              <a:prstDash val="solid"/>
              <a:round/>
              <a:headEnd type="none" w="sm" len="sm"/>
              <a:tailEnd type="none" w="sm" len="sm"/>
            </a:ln>
          </p:spPr>
        </p:cxnSp>
        <p:cxnSp>
          <p:nvCxnSpPr>
            <p:cNvPr id="612" name="Google Shape;612;p38"/>
            <p:cNvCxnSpPr/>
            <p:nvPr/>
          </p:nvCxnSpPr>
          <p:spPr>
            <a:xfrm flipH="1">
              <a:off x="8586765" y="4090812"/>
              <a:ext cx="109927" cy="116358"/>
            </a:xfrm>
            <a:prstGeom prst="straightConnector1">
              <a:avLst/>
            </a:prstGeom>
            <a:noFill/>
            <a:ln w="19050" cap="flat" cmpd="sng">
              <a:solidFill>
                <a:srgbClr val="FF0000"/>
              </a:solidFill>
              <a:prstDash val="solid"/>
              <a:round/>
              <a:headEnd type="none" w="sm" len="sm"/>
              <a:tailEnd type="none" w="sm" len="sm"/>
            </a:ln>
          </p:spPr>
        </p:cxnSp>
        <p:cxnSp>
          <p:nvCxnSpPr>
            <p:cNvPr id="613" name="Google Shape;613;p38"/>
            <p:cNvCxnSpPr>
              <a:stCxn id="604" idx="2"/>
              <a:endCxn id="602" idx="6"/>
            </p:cNvCxnSpPr>
            <p:nvPr/>
          </p:nvCxnSpPr>
          <p:spPr>
            <a:xfrm flipH="1">
              <a:off x="8156587" y="3453242"/>
              <a:ext cx="600300" cy="6900"/>
            </a:xfrm>
            <a:prstGeom prst="straightConnector1">
              <a:avLst/>
            </a:prstGeom>
            <a:noFill/>
            <a:ln w="19050" cap="flat" cmpd="sng">
              <a:solidFill>
                <a:srgbClr val="FF0000"/>
              </a:solidFill>
              <a:prstDash val="solid"/>
              <a:round/>
              <a:headEnd type="none" w="sm" len="sm"/>
              <a:tailEnd type="none" w="sm" len="sm"/>
            </a:ln>
          </p:spPr>
        </p:cxnSp>
        <p:cxnSp>
          <p:nvCxnSpPr>
            <p:cNvPr id="614" name="Google Shape;614;p38"/>
            <p:cNvCxnSpPr/>
            <p:nvPr/>
          </p:nvCxnSpPr>
          <p:spPr>
            <a:xfrm>
              <a:off x="8165366" y="3379920"/>
              <a:ext cx="0" cy="169122"/>
            </a:xfrm>
            <a:prstGeom prst="straightConnector1">
              <a:avLst/>
            </a:prstGeom>
            <a:noFill/>
            <a:ln w="19050" cap="flat" cmpd="sng">
              <a:solidFill>
                <a:srgbClr val="FF0000"/>
              </a:solidFill>
              <a:prstDash val="solid"/>
              <a:round/>
              <a:headEnd type="none" w="sm" len="sm"/>
              <a:tailEnd type="none" w="sm" len="sm"/>
            </a:ln>
          </p:spPr>
        </p:cxnSp>
        <p:cxnSp>
          <p:nvCxnSpPr>
            <p:cNvPr id="615" name="Google Shape;615;p38"/>
            <p:cNvCxnSpPr>
              <a:stCxn id="603" idx="7"/>
              <a:endCxn id="606" idx="3"/>
            </p:cNvCxnSpPr>
            <p:nvPr/>
          </p:nvCxnSpPr>
          <p:spPr>
            <a:xfrm rot="10800000" flipH="1">
              <a:off x="8107244" y="4146116"/>
              <a:ext cx="203100" cy="175800"/>
            </a:xfrm>
            <a:prstGeom prst="straightConnector1">
              <a:avLst/>
            </a:prstGeom>
            <a:noFill/>
            <a:ln w="19050" cap="flat" cmpd="sng">
              <a:solidFill>
                <a:srgbClr val="3C0FF9"/>
              </a:solidFill>
              <a:prstDash val="solid"/>
              <a:round/>
              <a:headEnd type="none" w="sm" len="sm"/>
              <a:tailEnd type="triangle" w="med" len="med"/>
            </a:ln>
          </p:spPr>
        </p:cxnSp>
      </p:grpSp>
      <p:grpSp>
        <p:nvGrpSpPr>
          <p:cNvPr id="616" name="Google Shape;616;p38"/>
          <p:cNvGrpSpPr/>
          <p:nvPr/>
        </p:nvGrpSpPr>
        <p:grpSpPr>
          <a:xfrm>
            <a:off x="4027481" y="3487873"/>
            <a:ext cx="1939041" cy="781113"/>
            <a:chOff x="3150460" y="3309699"/>
            <a:chExt cx="1939041" cy="781113"/>
          </a:xfrm>
        </p:grpSpPr>
        <p:sp>
          <p:nvSpPr>
            <p:cNvPr id="617" name="Google Shape;617;p38"/>
            <p:cNvSpPr/>
            <p:nvPr/>
          </p:nvSpPr>
          <p:spPr>
            <a:xfrm>
              <a:off x="3150460" y="3368866"/>
              <a:ext cx="1903733" cy="721946"/>
            </a:xfrm>
            <a:prstGeom prst="roundRect">
              <a:avLst>
                <a:gd name="adj" fmla="val 16667"/>
              </a:avLst>
            </a:prstGeom>
            <a:noFill/>
            <a:ln w="25400" cap="flat" cmpd="sng">
              <a:solidFill>
                <a:srgbClr val="B43512"/>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664C00"/>
                </a:solidFill>
                <a:latin typeface="Gill Sans"/>
                <a:ea typeface="Gill Sans"/>
                <a:cs typeface="Gill Sans"/>
                <a:sym typeface="Gill Sans"/>
              </a:endParaRPr>
            </a:p>
          </p:txBody>
        </p:sp>
        <p:sp>
          <p:nvSpPr>
            <p:cNvPr id="618" name="Google Shape;618;p38"/>
            <p:cNvSpPr/>
            <p:nvPr/>
          </p:nvSpPr>
          <p:spPr>
            <a:xfrm>
              <a:off x="4237463" y="3652069"/>
              <a:ext cx="655084" cy="271863"/>
            </a:xfrm>
            <a:prstGeom prst="rect">
              <a:avLst/>
            </a:prstGeom>
            <a:solidFill>
              <a:srgbClr val="E1896D"/>
            </a:solidFill>
            <a:ln w="1905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b="1">
                  <a:solidFill>
                    <a:srgbClr val="3C0FF9"/>
                  </a:solidFill>
                  <a:latin typeface="Times New Roman"/>
                  <a:ea typeface="Times New Roman"/>
                  <a:cs typeface="Times New Roman"/>
                  <a:sym typeface="Times New Roman"/>
                </a:rPr>
                <a:t>K-mean</a:t>
              </a:r>
              <a:endParaRPr/>
            </a:p>
          </p:txBody>
        </p:sp>
        <p:sp>
          <p:nvSpPr>
            <p:cNvPr id="619" name="Google Shape;619;p38"/>
            <p:cNvSpPr/>
            <p:nvPr/>
          </p:nvSpPr>
          <p:spPr>
            <a:xfrm>
              <a:off x="3262227" y="3556185"/>
              <a:ext cx="934097" cy="470052"/>
            </a:xfrm>
            <a:prstGeom prst="diamond">
              <a:avLst/>
            </a:prstGeom>
            <a:noFill/>
            <a:ln w="15875" cap="flat" cmpd="sng">
              <a:solidFill>
                <a:srgbClr val="A93718"/>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000" b="1">
                  <a:solidFill>
                    <a:srgbClr val="FF0000"/>
                  </a:solidFill>
                  <a:latin typeface="Gill Sans"/>
                  <a:ea typeface="Gill Sans"/>
                  <a:cs typeface="Gill Sans"/>
                  <a:sym typeface="Gill Sans"/>
                </a:rPr>
                <a:t>Validity index</a:t>
              </a:r>
              <a:endParaRPr/>
            </a:p>
          </p:txBody>
        </p:sp>
        <p:cxnSp>
          <p:nvCxnSpPr>
            <p:cNvPr id="620" name="Google Shape;620;p38"/>
            <p:cNvCxnSpPr>
              <a:stCxn id="617" idx="0"/>
            </p:cNvCxnSpPr>
            <p:nvPr/>
          </p:nvCxnSpPr>
          <p:spPr>
            <a:xfrm>
              <a:off x="4102326" y="3368866"/>
              <a:ext cx="0" cy="183300"/>
            </a:xfrm>
            <a:prstGeom prst="straightConnector1">
              <a:avLst/>
            </a:prstGeom>
            <a:noFill/>
            <a:ln w="9525" cap="flat" cmpd="dbl">
              <a:solidFill>
                <a:srgbClr val="FF0000"/>
              </a:solidFill>
              <a:prstDash val="dash"/>
              <a:round/>
              <a:headEnd type="none" w="sm" len="sm"/>
              <a:tailEnd type="none" w="sm" len="sm"/>
            </a:ln>
          </p:spPr>
        </p:cxnSp>
        <p:cxnSp>
          <p:nvCxnSpPr>
            <p:cNvPr id="621" name="Google Shape;621;p38"/>
            <p:cNvCxnSpPr/>
            <p:nvPr/>
          </p:nvCxnSpPr>
          <p:spPr>
            <a:xfrm>
              <a:off x="3694940" y="3549042"/>
              <a:ext cx="405466" cy="0"/>
            </a:xfrm>
            <a:prstGeom prst="straightConnector1">
              <a:avLst/>
            </a:prstGeom>
            <a:noFill/>
            <a:ln w="9525" cap="flat" cmpd="dbl">
              <a:solidFill>
                <a:srgbClr val="FF0000"/>
              </a:solidFill>
              <a:prstDash val="dash"/>
              <a:round/>
              <a:headEnd type="none" w="sm" len="sm"/>
              <a:tailEnd type="none" w="sm" len="sm"/>
            </a:ln>
          </p:spPr>
        </p:cxnSp>
        <p:cxnSp>
          <p:nvCxnSpPr>
            <p:cNvPr id="622" name="Google Shape;622;p38"/>
            <p:cNvCxnSpPr>
              <a:stCxn id="619" idx="3"/>
              <a:endCxn id="618" idx="1"/>
            </p:cNvCxnSpPr>
            <p:nvPr/>
          </p:nvCxnSpPr>
          <p:spPr>
            <a:xfrm rot="10800000" flipH="1">
              <a:off x="4196324" y="3787911"/>
              <a:ext cx="41100" cy="3300"/>
            </a:xfrm>
            <a:prstGeom prst="straightConnector1">
              <a:avLst/>
            </a:prstGeom>
            <a:noFill/>
            <a:ln w="9525" cap="flat" cmpd="dbl">
              <a:solidFill>
                <a:schemeClr val="accent2"/>
              </a:solidFill>
              <a:prstDash val="dash"/>
              <a:round/>
              <a:headEnd type="none" w="sm" len="sm"/>
              <a:tailEnd type="none" w="sm" len="sm"/>
            </a:ln>
          </p:spPr>
        </p:cxnSp>
        <p:cxnSp>
          <p:nvCxnSpPr>
            <p:cNvPr id="623" name="Google Shape;623;p38"/>
            <p:cNvCxnSpPr/>
            <p:nvPr/>
          </p:nvCxnSpPr>
          <p:spPr>
            <a:xfrm>
              <a:off x="4599815" y="3923932"/>
              <a:ext cx="0" cy="98288"/>
            </a:xfrm>
            <a:prstGeom prst="straightConnector1">
              <a:avLst/>
            </a:prstGeom>
            <a:noFill/>
            <a:ln w="9525" cap="flat" cmpd="dbl">
              <a:solidFill>
                <a:srgbClr val="FF0000"/>
              </a:solidFill>
              <a:prstDash val="dash"/>
              <a:round/>
              <a:headEnd type="none" w="sm" len="sm"/>
              <a:tailEnd type="none" w="sm" len="sm"/>
            </a:ln>
          </p:spPr>
        </p:cxnSp>
        <p:cxnSp>
          <p:nvCxnSpPr>
            <p:cNvPr id="624" name="Google Shape;624;p38"/>
            <p:cNvCxnSpPr/>
            <p:nvPr/>
          </p:nvCxnSpPr>
          <p:spPr>
            <a:xfrm rot="10800000" flipH="1">
              <a:off x="4100406" y="4018007"/>
              <a:ext cx="499409" cy="4213"/>
            </a:xfrm>
            <a:prstGeom prst="straightConnector1">
              <a:avLst/>
            </a:prstGeom>
            <a:noFill/>
            <a:ln w="9525" cap="flat" cmpd="dbl">
              <a:solidFill>
                <a:srgbClr val="FF0000"/>
              </a:solidFill>
              <a:prstDash val="dash"/>
              <a:round/>
              <a:headEnd type="none" w="sm" len="sm"/>
              <a:tailEnd type="none" w="sm" len="sm"/>
            </a:ln>
          </p:spPr>
        </p:cxnSp>
        <p:cxnSp>
          <p:nvCxnSpPr>
            <p:cNvPr id="625" name="Google Shape;625;p38"/>
            <p:cNvCxnSpPr>
              <a:endCxn id="617" idx="2"/>
            </p:cNvCxnSpPr>
            <p:nvPr/>
          </p:nvCxnSpPr>
          <p:spPr>
            <a:xfrm flipH="1">
              <a:off x="4102326" y="4022412"/>
              <a:ext cx="900" cy="68400"/>
            </a:xfrm>
            <a:prstGeom prst="straightConnector1">
              <a:avLst/>
            </a:prstGeom>
            <a:noFill/>
            <a:ln w="9525" cap="flat" cmpd="dbl">
              <a:solidFill>
                <a:srgbClr val="FF0000"/>
              </a:solidFill>
              <a:prstDash val="dash"/>
              <a:round/>
              <a:headEnd type="none" w="sm" len="sm"/>
              <a:tailEnd type="none" w="sm" len="sm"/>
            </a:ln>
          </p:spPr>
        </p:cxnSp>
        <p:sp>
          <p:nvSpPr>
            <p:cNvPr id="626" name="Google Shape;626;p38"/>
            <p:cNvSpPr txBox="1"/>
            <p:nvPr/>
          </p:nvSpPr>
          <p:spPr>
            <a:xfrm>
              <a:off x="3271591" y="3309699"/>
              <a:ext cx="181791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0070C0"/>
                  </a:solidFill>
                  <a:latin typeface="Times New Roman"/>
                  <a:ea typeface="Times New Roman"/>
                  <a:cs typeface="Times New Roman"/>
                  <a:sym typeface="Times New Roman"/>
                </a:rPr>
                <a:t>Discretization algorithm</a:t>
              </a:r>
              <a:endParaRPr/>
            </a:p>
          </p:txBody>
        </p:sp>
      </p:grpSp>
      <p:sp>
        <p:nvSpPr>
          <p:cNvPr id="627" name="Google Shape;627;p38"/>
          <p:cNvSpPr/>
          <p:nvPr/>
        </p:nvSpPr>
        <p:spPr>
          <a:xfrm>
            <a:off x="3960973" y="1793263"/>
            <a:ext cx="2159784" cy="4258135"/>
          </a:xfrm>
          <a:prstGeom prst="roundRect">
            <a:avLst>
              <a:gd name="adj" fmla="val 16667"/>
            </a:avLst>
          </a:prstGeom>
          <a:noFill/>
          <a:ln w="25400" cap="flat" cmpd="sng">
            <a:solidFill>
              <a:srgbClr val="A93718"/>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28" name="Google Shape;628;p38"/>
          <p:cNvSpPr txBox="1"/>
          <p:nvPr/>
        </p:nvSpPr>
        <p:spPr>
          <a:xfrm rot="-5400000">
            <a:off x="2685683" y="3945869"/>
            <a:ext cx="20235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70C0"/>
                </a:solidFill>
                <a:latin typeface="Gill Sans"/>
                <a:ea typeface="Gill Sans"/>
                <a:cs typeface="Gill Sans"/>
                <a:sym typeface="Gill Sans"/>
              </a:rPr>
              <a:t>Discretization stage</a:t>
            </a:r>
            <a:endParaRPr/>
          </a:p>
        </p:txBody>
      </p:sp>
      <p:sp>
        <p:nvSpPr>
          <p:cNvPr id="629" name="Google Shape;629;p38"/>
          <p:cNvSpPr/>
          <p:nvPr/>
        </p:nvSpPr>
        <p:spPr>
          <a:xfrm>
            <a:off x="1037669" y="1840625"/>
            <a:ext cx="1747241" cy="1647248"/>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30" name="Google Shape;630;p38"/>
          <p:cNvSpPr/>
          <p:nvPr/>
        </p:nvSpPr>
        <p:spPr>
          <a:xfrm>
            <a:off x="1128452" y="1949640"/>
            <a:ext cx="457200" cy="457200"/>
          </a:xfrm>
          <a:prstGeom prst="flowChartConnector">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631" name="Google Shape;631;p38"/>
          <p:cNvSpPr/>
          <p:nvPr/>
        </p:nvSpPr>
        <p:spPr>
          <a:xfrm>
            <a:off x="1145937" y="2973014"/>
            <a:ext cx="457200" cy="457200"/>
          </a:xfrm>
          <a:prstGeom prst="flowChartConnector">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632" name="Google Shape;632;p38"/>
          <p:cNvSpPr/>
          <p:nvPr/>
        </p:nvSpPr>
        <p:spPr>
          <a:xfrm>
            <a:off x="2185825" y="1942696"/>
            <a:ext cx="457200" cy="457200"/>
          </a:xfrm>
          <a:prstGeom prst="flowChartConnector">
            <a:avLst/>
          </a:pr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633" name="Google Shape;633;p38"/>
          <p:cNvSpPr/>
          <p:nvPr/>
        </p:nvSpPr>
        <p:spPr>
          <a:xfrm>
            <a:off x="2185825" y="2970511"/>
            <a:ext cx="457200" cy="457200"/>
          </a:xfrm>
          <a:prstGeom prst="flowChartConnector">
            <a:avLst/>
          </a:pr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sp>
        <p:nvSpPr>
          <p:cNvPr id="634" name="Google Shape;634;p38"/>
          <p:cNvSpPr/>
          <p:nvPr/>
        </p:nvSpPr>
        <p:spPr>
          <a:xfrm>
            <a:off x="1672444" y="2474049"/>
            <a:ext cx="457200" cy="457200"/>
          </a:xfrm>
          <a:prstGeom prst="flowChartConnector">
            <a:avLst/>
          </a:prstGeom>
          <a:blipFill rotWithShape="1">
            <a:blip r:embed="rId1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cxnSp>
        <p:nvCxnSpPr>
          <p:cNvPr id="635" name="Google Shape;635;p38"/>
          <p:cNvCxnSpPr>
            <a:stCxn id="634" idx="7"/>
            <a:endCxn id="632" idx="3"/>
          </p:cNvCxnSpPr>
          <p:nvPr/>
        </p:nvCxnSpPr>
        <p:spPr>
          <a:xfrm rot="10800000" flipH="1">
            <a:off x="2062689" y="2332804"/>
            <a:ext cx="190200" cy="208200"/>
          </a:xfrm>
          <a:prstGeom prst="straightConnector1">
            <a:avLst/>
          </a:prstGeom>
          <a:noFill/>
          <a:ln w="19050" cap="flat" cmpd="sng">
            <a:solidFill>
              <a:srgbClr val="3C0FF9"/>
            </a:solidFill>
            <a:prstDash val="solid"/>
            <a:round/>
            <a:headEnd type="none" w="sm" len="sm"/>
            <a:tailEnd type="triangle" w="med" len="med"/>
          </a:ln>
        </p:spPr>
      </p:cxnSp>
      <p:cxnSp>
        <p:nvCxnSpPr>
          <p:cNvPr id="636" name="Google Shape;636;p38"/>
          <p:cNvCxnSpPr>
            <a:endCxn id="633" idx="2"/>
          </p:cNvCxnSpPr>
          <p:nvPr/>
        </p:nvCxnSpPr>
        <p:spPr>
          <a:xfrm rot="10800000" flipH="1">
            <a:off x="1611925" y="3199111"/>
            <a:ext cx="573900" cy="10500"/>
          </a:xfrm>
          <a:prstGeom prst="straightConnector1">
            <a:avLst/>
          </a:prstGeom>
          <a:noFill/>
          <a:ln w="19050" cap="flat" cmpd="sng">
            <a:solidFill>
              <a:srgbClr val="3C0FF9"/>
            </a:solidFill>
            <a:prstDash val="solid"/>
            <a:round/>
            <a:headEnd type="none" w="sm" len="sm"/>
            <a:tailEnd type="triangle" w="med" len="med"/>
          </a:ln>
        </p:spPr>
      </p:cxnSp>
      <p:cxnSp>
        <p:nvCxnSpPr>
          <p:cNvPr id="637" name="Google Shape;637;p38"/>
          <p:cNvCxnSpPr/>
          <p:nvPr/>
        </p:nvCxnSpPr>
        <p:spPr>
          <a:xfrm flipH="1">
            <a:off x="1357051" y="2573978"/>
            <a:ext cx="1" cy="224140"/>
          </a:xfrm>
          <a:prstGeom prst="straightConnector1">
            <a:avLst/>
          </a:prstGeom>
          <a:noFill/>
          <a:ln w="19050" cap="flat" cmpd="sng">
            <a:solidFill>
              <a:srgbClr val="3C0FF9"/>
            </a:solidFill>
            <a:prstDash val="dash"/>
            <a:round/>
            <a:headEnd type="none" w="sm" len="sm"/>
            <a:tailEnd type="none" w="sm" len="sm"/>
          </a:ln>
        </p:spPr>
      </p:cxnSp>
      <p:cxnSp>
        <p:nvCxnSpPr>
          <p:cNvPr id="638" name="Google Shape;638;p38"/>
          <p:cNvCxnSpPr>
            <a:stCxn id="632" idx="4"/>
            <a:endCxn id="633" idx="0"/>
          </p:cNvCxnSpPr>
          <p:nvPr/>
        </p:nvCxnSpPr>
        <p:spPr>
          <a:xfrm>
            <a:off x="2414425" y="2399896"/>
            <a:ext cx="0" cy="570600"/>
          </a:xfrm>
          <a:prstGeom prst="straightConnector1">
            <a:avLst/>
          </a:prstGeom>
          <a:noFill/>
          <a:ln w="19050" cap="flat" cmpd="sng">
            <a:solidFill>
              <a:srgbClr val="3C0FF9"/>
            </a:solidFill>
            <a:prstDash val="solid"/>
            <a:round/>
            <a:headEnd type="none" w="sm" len="sm"/>
            <a:tailEnd type="triangle" w="med" len="med"/>
          </a:ln>
        </p:spPr>
      </p:cxnSp>
      <p:cxnSp>
        <p:nvCxnSpPr>
          <p:cNvPr id="639" name="Google Shape;639;p38"/>
          <p:cNvCxnSpPr>
            <a:stCxn id="633" idx="1"/>
            <a:endCxn id="634" idx="5"/>
          </p:cNvCxnSpPr>
          <p:nvPr/>
        </p:nvCxnSpPr>
        <p:spPr>
          <a:xfrm rot="10800000">
            <a:off x="2062580" y="2864366"/>
            <a:ext cx="190200" cy="173100"/>
          </a:xfrm>
          <a:prstGeom prst="straightConnector1">
            <a:avLst/>
          </a:prstGeom>
          <a:noFill/>
          <a:ln w="19050" cap="flat" cmpd="sng">
            <a:solidFill>
              <a:srgbClr val="FF0000"/>
            </a:solidFill>
            <a:prstDash val="solid"/>
            <a:round/>
            <a:headEnd type="none" w="sm" len="sm"/>
            <a:tailEnd type="none" w="sm" len="sm"/>
          </a:ln>
        </p:spPr>
      </p:cxnSp>
      <p:cxnSp>
        <p:nvCxnSpPr>
          <p:cNvPr id="640" name="Google Shape;640;p38"/>
          <p:cNvCxnSpPr/>
          <p:nvPr/>
        </p:nvCxnSpPr>
        <p:spPr>
          <a:xfrm flipH="1">
            <a:off x="2015703" y="2808866"/>
            <a:ext cx="109927" cy="116358"/>
          </a:xfrm>
          <a:prstGeom prst="straightConnector1">
            <a:avLst/>
          </a:prstGeom>
          <a:noFill/>
          <a:ln w="19050" cap="flat" cmpd="sng">
            <a:solidFill>
              <a:srgbClr val="FF0000"/>
            </a:solidFill>
            <a:prstDash val="solid"/>
            <a:round/>
            <a:headEnd type="none" w="sm" len="sm"/>
            <a:tailEnd type="none" w="sm" len="sm"/>
          </a:ln>
        </p:spPr>
      </p:cxnSp>
      <p:cxnSp>
        <p:nvCxnSpPr>
          <p:cNvPr id="641" name="Google Shape;641;p38"/>
          <p:cNvCxnSpPr>
            <a:stCxn id="632" idx="2"/>
            <a:endCxn id="630" idx="6"/>
          </p:cNvCxnSpPr>
          <p:nvPr/>
        </p:nvCxnSpPr>
        <p:spPr>
          <a:xfrm flipH="1">
            <a:off x="1585525" y="2171296"/>
            <a:ext cx="600300" cy="6900"/>
          </a:xfrm>
          <a:prstGeom prst="straightConnector1">
            <a:avLst/>
          </a:prstGeom>
          <a:noFill/>
          <a:ln w="19050" cap="flat" cmpd="sng">
            <a:solidFill>
              <a:srgbClr val="FF0000"/>
            </a:solidFill>
            <a:prstDash val="solid"/>
            <a:round/>
            <a:headEnd type="none" w="sm" len="sm"/>
            <a:tailEnd type="none" w="sm" len="sm"/>
          </a:ln>
        </p:spPr>
      </p:cxnSp>
      <p:cxnSp>
        <p:nvCxnSpPr>
          <p:cNvPr id="642" name="Google Shape;642;p38"/>
          <p:cNvCxnSpPr/>
          <p:nvPr/>
        </p:nvCxnSpPr>
        <p:spPr>
          <a:xfrm>
            <a:off x="1594304" y="2097974"/>
            <a:ext cx="0" cy="169122"/>
          </a:xfrm>
          <a:prstGeom prst="straightConnector1">
            <a:avLst/>
          </a:prstGeom>
          <a:noFill/>
          <a:ln w="19050" cap="flat" cmpd="sng">
            <a:solidFill>
              <a:srgbClr val="FF0000"/>
            </a:solidFill>
            <a:prstDash val="solid"/>
            <a:round/>
            <a:headEnd type="none" w="sm" len="sm"/>
            <a:tailEnd type="none" w="sm" len="sm"/>
          </a:ln>
        </p:spPr>
      </p:cxnSp>
      <p:cxnSp>
        <p:nvCxnSpPr>
          <p:cNvPr id="643" name="Google Shape;643;p38"/>
          <p:cNvCxnSpPr>
            <a:stCxn id="631" idx="7"/>
            <a:endCxn id="634" idx="3"/>
          </p:cNvCxnSpPr>
          <p:nvPr/>
        </p:nvCxnSpPr>
        <p:spPr>
          <a:xfrm rot="10800000" flipH="1">
            <a:off x="1536182" y="2864169"/>
            <a:ext cx="203100" cy="175800"/>
          </a:xfrm>
          <a:prstGeom prst="straightConnector1">
            <a:avLst/>
          </a:prstGeom>
          <a:noFill/>
          <a:ln w="19050" cap="flat" cmpd="sng">
            <a:solidFill>
              <a:srgbClr val="3C0FF9"/>
            </a:solidFill>
            <a:prstDash val="solid"/>
            <a:round/>
            <a:headEnd type="none" w="sm" len="sm"/>
            <a:tailEnd type="triangle" w="med" len="med"/>
          </a:ln>
        </p:spPr>
      </p:cxnSp>
      <p:sp>
        <p:nvSpPr>
          <p:cNvPr id="644" name="Google Shape;644;p38"/>
          <p:cNvSpPr/>
          <p:nvPr/>
        </p:nvSpPr>
        <p:spPr>
          <a:xfrm>
            <a:off x="2812229" y="2121714"/>
            <a:ext cx="1309064" cy="1070071"/>
          </a:xfrm>
          <a:prstGeom prst="right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lt1"/>
                </a:solidFill>
                <a:latin typeface="Gill Sans"/>
                <a:ea typeface="Gill Sans"/>
                <a:cs typeface="Gill Sans"/>
                <a:sym typeface="Gill Sans"/>
              </a:rPr>
              <a:t>Observation values</a:t>
            </a:r>
            <a:endParaRPr/>
          </a:p>
        </p:txBody>
      </p:sp>
      <p:graphicFrame>
        <p:nvGraphicFramePr>
          <p:cNvPr id="645" name="Google Shape;645;p38"/>
          <p:cNvGraphicFramePr/>
          <p:nvPr/>
        </p:nvGraphicFramePr>
        <p:xfrm>
          <a:off x="9347380" y="4234799"/>
          <a:ext cx="3000000" cy="3000000"/>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5650">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highlight>
                          <a:srgbClr val="FF0000"/>
                        </a:highlight>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646" name="Google Shape;646;p38"/>
          <p:cNvGraphicFramePr/>
          <p:nvPr/>
        </p:nvGraphicFramePr>
        <p:xfrm>
          <a:off x="9421431" y="4320355"/>
          <a:ext cx="3000000" cy="3000000"/>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5650">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highlight>
                          <a:srgbClr val="FF0000"/>
                        </a:highlight>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647" name="Google Shape;647;p38"/>
          <p:cNvGraphicFramePr/>
          <p:nvPr/>
        </p:nvGraphicFramePr>
        <p:xfrm>
          <a:off x="9495484" y="4407653"/>
          <a:ext cx="3000000" cy="3000000"/>
        </p:xfrm>
        <a:graphic>
          <a:graphicData uri="http://schemas.openxmlformats.org/drawingml/2006/table">
            <a:tbl>
              <a:tblPr firstRow="1" bandRow="1">
                <a:noFill/>
                <a:tableStyleId>{8A2CD171-C7B8-4654-8026-8EFD334CF92D}</a:tableStyleId>
              </a:tblPr>
              <a:tblGrid>
                <a:gridCol w="262075">
                  <a:extLst>
                    <a:ext uri="{9D8B030D-6E8A-4147-A177-3AD203B41FA5}">
                      <a16:colId xmlns:a16="http://schemas.microsoft.com/office/drawing/2014/main" val="20000"/>
                    </a:ext>
                  </a:extLst>
                </a:gridCol>
                <a:gridCol w="262075">
                  <a:extLst>
                    <a:ext uri="{9D8B030D-6E8A-4147-A177-3AD203B41FA5}">
                      <a16:colId xmlns:a16="http://schemas.microsoft.com/office/drawing/2014/main" val="20001"/>
                    </a:ext>
                  </a:extLst>
                </a:gridCol>
                <a:gridCol w="262075">
                  <a:extLst>
                    <a:ext uri="{9D8B030D-6E8A-4147-A177-3AD203B41FA5}">
                      <a16:colId xmlns:a16="http://schemas.microsoft.com/office/drawing/2014/main" val="20002"/>
                    </a:ext>
                  </a:extLst>
                </a:gridCol>
                <a:gridCol w="262075">
                  <a:extLst>
                    <a:ext uri="{9D8B030D-6E8A-4147-A177-3AD203B41FA5}">
                      <a16:colId xmlns:a16="http://schemas.microsoft.com/office/drawing/2014/main" val="20003"/>
                    </a:ext>
                  </a:extLst>
                </a:gridCol>
                <a:gridCol w="262075">
                  <a:extLst>
                    <a:ext uri="{9D8B030D-6E8A-4147-A177-3AD203B41FA5}">
                      <a16:colId xmlns:a16="http://schemas.microsoft.com/office/drawing/2014/main" val="20004"/>
                    </a:ext>
                  </a:extLst>
                </a:gridCol>
                <a:gridCol w="262075">
                  <a:extLst>
                    <a:ext uri="{9D8B030D-6E8A-4147-A177-3AD203B41FA5}">
                      <a16:colId xmlns:a16="http://schemas.microsoft.com/office/drawing/2014/main" val="20005"/>
                    </a:ext>
                  </a:extLst>
                </a:gridCol>
              </a:tblGrid>
              <a:tr h="272050">
                <a:tc>
                  <a:txBody>
                    <a:bodyPr/>
                    <a:lstStyle/>
                    <a:p>
                      <a:pPr marL="0" marR="0" lvl="0" indent="0" algn="l" rtl="0">
                        <a:spcBef>
                          <a:spcPts val="0"/>
                        </a:spcBef>
                        <a:spcAft>
                          <a:spcPts val="0"/>
                        </a:spcAft>
                        <a:buNone/>
                      </a:pPr>
                      <a:endParaRPr sz="1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r>
                        <a:rPr lang="en-US" sz="1000" b="1">
                          <a:solidFill>
                            <a:srgbClr val="FF0000"/>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DDDDD"/>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extLst>
                  <a:ext uri="{0D108BD9-81ED-4DB2-BD59-A6C34878D82A}">
                    <a16:rowId xmlns:a16="http://schemas.microsoft.com/office/drawing/2014/main" val="10001"/>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extLst>
                  <a:ext uri="{0D108BD9-81ED-4DB2-BD59-A6C34878D82A}">
                    <a16:rowId xmlns:a16="http://schemas.microsoft.com/office/drawing/2014/main" val="10002"/>
                  </a:ext>
                </a:extLst>
              </a:tr>
              <a:tr h="248525">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extLst>
                  <a:ext uri="{0D108BD9-81ED-4DB2-BD59-A6C34878D82A}">
                    <a16:rowId xmlns:a16="http://schemas.microsoft.com/office/drawing/2014/main" val="10003"/>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extLst>
                  <a:ext uri="{0D108BD9-81ED-4DB2-BD59-A6C34878D82A}">
                    <a16:rowId xmlns:a16="http://schemas.microsoft.com/office/drawing/2014/main" val="10004"/>
                  </a:ext>
                </a:extLst>
              </a:tr>
              <a:tr h="243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AE4CC"/>
                    </a:solidFill>
                  </a:tcPr>
                </a:tc>
                <a:tc>
                  <a:txBody>
                    <a:bodyPr/>
                    <a:lstStyle/>
                    <a:p>
                      <a:pPr marL="0" marR="0" lvl="0" indent="0" algn="l" rtl="0">
                        <a:spcBef>
                          <a:spcPts val="0"/>
                        </a:spcBef>
                        <a:spcAft>
                          <a:spcPts val="0"/>
                        </a:spcAft>
                        <a:buNone/>
                      </a:pPr>
                      <a:r>
                        <a:rPr lang="en-US" sz="1000" b="1"/>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None/>
                      </a:pPr>
                      <a:r>
                        <a:rPr lang="en-US" sz="1000" b="1"/>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78F"/>
                    </a:solidFill>
                  </a:tcPr>
                </a:tc>
                <a:extLst>
                  <a:ext uri="{0D108BD9-81ED-4DB2-BD59-A6C34878D82A}">
                    <a16:rowId xmlns:a16="http://schemas.microsoft.com/office/drawing/2014/main" val="10005"/>
                  </a:ext>
                </a:extLst>
              </a:tr>
            </a:tbl>
          </a:graphicData>
        </a:graphic>
      </p:graphicFrame>
      <p:sp>
        <p:nvSpPr>
          <p:cNvPr id="648" name="Google Shape;648;p38"/>
          <p:cNvSpPr/>
          <p:nvPr/>
        </p:nvSpPr>
        <p:spPr>
          <a:xfrm>
            <a:off x="9868718" y="3592452"/>
            <a:ext cx="828773" cy="581475"/>
          </a:xfrm>
          <a:prstGeom prst="down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649" name="Google Shape;649;p38"/>
          <p:cNvCxnSpPr/>
          <p:nvPr/>
        </p:nvCxnSpPr>
        <p:spPr>
          <a:xfrm>
            <a:off x="5860628" y="5209729"/>
            <a:ext cx="493873" cy="0"/>
          </a:xfrm>
          <a:prstGeom prst="straightConnector1">
            <a:avLst/>
          </a:prstGeom>
          <a:noFill/>
          <a:ln w="25400" cap="flat" cmpd="sng">
            <a:solidFill>
              <a:schemeClr val="accent1"/>
            </a:solidFill>
            <a:prstDash val="solid"/>
            <a:round/>
            <a:headEnd type="none" w="sm" len="sm"/>
            <a:tailEnd type="none" w="sm" len="sm"/>
          </a:ln>
        </p:spPr>
      </p:cxnSp>
      <p:cxnSp>
        <p:nvCxnSpPr>
          <p:cNvPr id="650" name="Google Shape;650;p38"/>
          <p:cNvCxnSpPr/>
          <p:nvPr/>
        </p:nvCxnSpPr>
        <p:spPr>
          <a:xfrm rot="10800000">
            <a:off x="6354501" y="1913285"/>
            <a:ext cx="0" cy="3296444"/>
          </a:xfrm>
          <a:prstGeom prst="straightConnector1">
            <a:avLst/>
          </a:prstGeom>
          <a:noFill/>
          <a:ln w="25400" cap="flat" cmpd="sng">
            <a:solidFill>
              <a:schemeClr val="accent1"/>
            </a:solidFill>
            <a:prstDash val="solid"/>
            <a:round/>
            <a:headEnd type="none" w="sm" len="sm"/>
            <a:tailEnd type="none" w="sm" len="sm"/>
          </a:ln>
        </p:spPr>
      </p:cxnSp>
      <p:cxnSp>
        <p:nvCxnSpPr>
          <p:cNvPr id="651" name="Google Shape;651;p38"/>
          <p:cNvCxnSpPr/>
          <p:nvPr/>
        </p:nvCxnSpPr>
        <p:spPr>
          <a:xfrm>
            <a:off x="6354501" y="1913285"/>
            <a:ext cx="1281784" cy="0"/>
          </a:xfrm>
          <a:prstGeom prst="straightConnector1">
            <a:avLst/>
          </a:prstGeom>
          <a:noFill/>
          <a:ln w="25400" cap="flat" cmpd="sng">
            <a:solidFill>
              <a:schemeClr val="accent1"/>
            </a:solidFill>
            <a:prstDash val="solid"/>
            <a:round/>
            <a:headEnd type="none" w="sm" len="sm"/>
            <a:tailEnd type="none" w="sm" len="sm"/>
          </a:ln>
        </p:spPr>
      </p:cxnSp>
      <p:cxnSp>
        <p:nvCxnSpPr>
          <p:cNvPr id="652" name="Google Shape;652;p38"/>
          <p:cNvCxnSpPr>
            <a:endCxn id="594" idx="0"/>
          </p:cNvCxnSpPr>
          <p:nvPr/>
        </p:nvCxnSpPr>
        <p:spPr>
          <a:xfrm>
            <a:off x="7636291" y="1913340"/>
            <a:ext cx="0" cy="264900"/>
          </a:xfrm>
          <a:prstGeom prst="straightConnector1">
            <a:avLst/>
          </a:prstGeom>
          <a:noFill/>
          <a:ln w="25400" cap="flat" cmpd="sng">
            <a:solidFill>
              <a:schemeClr val="accent1"/>
            </a:solidFill>
            <a:prstDash val="solid"/>
            <a:round/>
            <a:headEnd type="none" w="sm" len="sm"/>
            <a:tailEnd type="triangle" w="med" len="med"/>
          </a:ln>
        </p:spPr>
      </p:cxnSp>
      <p:cxnSp>
        <p:nvCxnSpPr>
          <p:cNvPr id="653" name="Google Shape;653;p38"/>
          <p:cNvCxnSpPr>
            <a:stCxn id="597" idx="2"/>
          </p:cNvCxnSpPr>
          <p:nvPr/>
        </p:nvCxnSpPr>
        <p:spPr>
          <a:xfrm>
            <a:off x="7636290" y="5209729"/>
            <a:ext cx="0" cy="538800"/>
          </a:xfrm>
          <a:prstGeom prst="straightConnector1">
            <a:avLst/>
          </a:prstGeom>
          <a:noFill/>
          <a:ln w="25400" cap="flat" cmpd="sng">
            <a:solidFill>
              <a:schemeClr val="accent1"/>
            </a:solidFill>
            <a:prstDash val="solid"/>
            <a:round/>
            <a:headEnd type="none" w="sm" len="sm"/>
            <a:tailEnd type="none" w="sm" len="sm"/>
          </a:ln>
        </p:spPr>
      </p:cxnSp>
      <p:cxnSp>
        <p:nvCxnSpPr>
          <p:cNvPr id="654" name="Google Shape;654;p38"/>
          <p:cNvCxnSpPr/>
          <p:nvPr/>
        </p:nvCxnSpPr>
        <p:spPr>
          <a:xfrm rot="10800000" flipH="1">
            <a:off x="7635509" y="5743732"/>
            <a:ext cx="1311641" cy="9686"/>
          </a:xfrm>
          <a:prstGeom prst="straightConnector1">
            <a:avLst/>
          </a:prstGeom>
          <a:noFill/>
          <a:ln w="25400" cap="flat" cmpd="sng">
            <a:solidFill>
              <a:schemeClr val="accent1"/>
            </a:solidFill>
            <a:prstDash val="solid"/>
            <a:round/>
            <a:headEnd type="none" w="sm" len="sm"/>
            <a:tailEnd type="none" w="sm" len="sm"/>
          </a:ln>
        </p:spPr>
      </p:cxnSp>
      <p:cxnSp>
        <p:nvCxnSpPr>
          <p:cNvPr id="655" name="Google Shape;655;p38"/>
          <p:cNvCxnSpPr/>
          <p:nvPr/>
        </p:nvCxnSpPr>
        <p:spPr>
          <a:xfrm rot="10800000">
            <a:off x="8934450" y="2655825"/>
            <a:ext cx="6350" cy="3087906"/>
          </a:xfrm>
          <a:prstGeom prst="straightConnector1">
            <a:avLst/>
          </a:prstGeom>
          <a:noFill/>
          <a:ln w="25400" cap="flat" cmpd="sng">
            <a:solidFill>
              <a:schemeClr val="accent1"/>
            </a:solidFill>
            <a:prstDash val="solid"/>
            <a:round/>
            <a:headEnd type="none" w="sm" len="sm"/>
            <a:tailEnd type="none" w="sm" len="sm"/>
          </a:ln>
        </p:spPr>
      </p:cxnSp>
      <p:cxnSp>
        <p:nvCxnSpPr>
          <p:cNvPr id="656" name="Google Shape;656;p38"/>
          <p:cNvCxnSpPr>
            <a:endCxn id="601" idx="1"/>
          </p:cNvCxnSpPr>
          <p:nvPr/>
        </p:nvCxnSpPr>
        <p:spPr>
          <a:xfrm>
            <a:off x="8928035" y="2655849"/>
            <a:ext cx="392700" cy="8400"/>
          </a:xfrm>
          <a:prstGeom prst="straightConnector1">
            <a:avLst/>
          </a:prstGeom>
          <a:noFill/>
          <a:ln w="25400" cap="flat" cmpd="sng">
            <a:solidFill>
              <a:schemeClr val="accent1"/>
            </a:solidFill>
            <a:prstDash val="solid"/>
            <a:round/>
            <a:headEnd type="none" w="sm" len="sm"/>
            <a:tailEnd type="triangle" w="med" len="med"/>
          </a:ln>
        </p:spPr>
      </p:cxnSp>
      <p:sp>
        <p:nvSpPr>
          <p:cNvPr id="657" name="Google Shape;657;p38"/>
          <p:cNvSpPr txBox="1"/>
          <p:nvPr/>
        </p:nvSpPr>
        <p:spPr>
          <a:xfrm>
            <a:off x="9229571" y="1516370"/>
            <a:ext cx="192956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The prediction network</a:t>
            </a:r>
            <a:endParaRPr/>
          </a:p>
        </p:txBody>
      </p:sp>
      <p:sp>
        <p:nvSpPr>
          <p:cNvPr id="658" name="Google Shape;658;p38"/>
          <p:cNvSpPr txBox="1"/>
          <p:nvPr/>
        </p:nvSpPr>
        <p:spPr>
          <a:xfrm rot="-5400000">
            <a:off x="10234636" y="4660449"/>
            <a:ext cx="218363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Discretized values from the prediction network</a:t>
            </a:r>
            <a:endParaRPr/>
          </a:p>
        </p:txBody>
      </p:sp>
      <p:sp>
        <p:nvSpPr>
          <p:cNvPr id="659" name="Google Shape;659;p38"/>
          <p:cNvSpPr/>
          <p:nvPr/>
        </p:nvSpPr>
        <p:spPr>
          <a:xfrm>
            <a:off x="3020992" y="1316002"/>
            <a:ext cx="6178149" cy="387835"/>
          </a:xfrm>
          <a:prstGeom prst="leftRightArrow">
            <a:avLst>
              <a:gd name="adj1" fmla="val 50000"/>
              <a:gd name="adj2" fmla="val 50000"/>
            </a:avLst>
          </a:prstGeom>
          <a:solidFill>
            <a:srgbClr val="0070C0"/>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Structure accuracy</a:t>
            </a:r>
            <a:endParaRPr/>
          </a:p>
        </p:txBody>
      </p:sp>
      <p:sp>
        <p:nvSpPr>
          <p:cNvPr id="660" name="Google Shape;660;p38"/>
          <p:cNvSpPr/>
          <p:nvPr/>
        </p:nvSpPr>
        <p:spPr>
          <a:xfrm>
            <a:off x="6502739" y="5678673"/>
            <a:ext cx="2696402" cy="418565"/>
          </a:xfrm>
          <a:prstGeom prst="leftRightArrow">
            <a:avLst>
              <a:gd name="adj1" fmla="val 50000"/>
              <a:gd name="adj2" fmla="val 50000"/>
            </a:avLst>
          </a:prstGeom>
          <a:solidFill>
            <a:schemeClr val="accent1"/>
          </a:solidFill>
          <a:ln w="15875" cap="flat" cmpd="sng">
            <a:solidFill>
              <a:srgbClr val="A937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Gill Sans"/>
                <a:ea typeface="Gill Sans"/>
                <a:cs typeface="Gill Sans"/>
                <a:sym typeface="Gill Sans"/>
              </a:rPr>
              <a:t>Dynamics accuracy</a:t>
            </a:r>
            <a:endParaRPr/>
          </a:p>
        </p:txBody>
      </p:sp>
      <p:sp>
        <p:nvSpPr>
          <p:cNvPr id="661" name="Google Shape;661;p38"/>
          <p:cNvSpPr txBox="1"/>
          <p:nvPr/>
        </p:nvSpPr>
        <p:spPr>
          <a:xfrm>
            <a:off x="1124024" y="1540229"/>
            <a:ext cx="155645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The input network</a:t>
            </a:r>
            <a:endParaRPr/>
          </a:p>
        </p:txBody>
      </p:sp>
      <p:sp>
        <p:nvSpPr>
          <p:cNvPr id="662" name="Google Shape;662;p38"/>
          <p:cNvSpPr txBox="1"/>
          <p:nvPr/>
        </p:nvSpPr>
        <p:spPr>
          <a:xfrm>
            <a:off x="6859301" y="1890847"/>
            <a:ext cx="159627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Inference algorithm</a:t>
            </a:r>
            <a:endParaRPr/>
          </a:p>
        </p:txBody>
      </p:sp>
    </p:spTree>
  </p:cSld>
  <p:clrMapOvr>
    <a:masterClrMapping/>
  </p:clrMapOvr>
</p:sld>
</file>

<file path=ppt/theme/theme1.xml><?xml version="1.0" encoding="utf-8"?>
<a:theme xmlns:a="http://schemas.openxmlformats.org/drawingml/2006/main" name="Gallery">
  <a:themeElements>
    <a:clrScheme name="Red Orange">
      <a:dk1>
        <a:srgbClr val="000000"/>
      </a:dk1>
      <a:lt1>
        <a:srgbClr val="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2946</Words>
  <Application>Microsoft Office PowerPoint</Application>
  <PresentationFormat>Widescreen</PresentationFormat>
  <Paragraphs>569</Paragraphs>
  <Slides>38</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Courier New</vt:lpstr>
      <vt:lpstr>Calibri</vt:lpstr>
      <vt:lpstr>Cambria Math</vt:lpstr>
      <vt:lpstr>Arial</vt:lpstr>
      <vt:lpstr>Teko</vt:lpstr>
      <vt:lpstr>Gill Sans</vt:lpstr>
      <vt:lpstr>Times New Roman</vt:lpstr>
      <vt:lpstr>Gallery</vt:lpstr>
      <vt:lpstr>A MUTUAL INFORMATION-BASED MULTIPLE LEVEL DISCRETIZATION NETWORK INFERENCE FROM TIME-SERIES GENE EXPRESSION PROFILES</vt:lpstr>
      <vt:lpstr>CONTENT</vt:lpstr>
      <vt:lpstr>INTRODUCTION</vt:lpstr>
      <vt:lpstr>PROBLEM FORMULATION</vt:lpstr>
      <vt:lpstr>EXIST APPROACHES</vt:lpstr>
      <vt:lpstr>MOTIVATION</vt:lpstr>
      <vt:lpstr>PROPOSED MODEL</vt:lpstr>
      <vt:lpstr>DISCRETIZATION NETWORK MODEL</vt:lpstr>
      <vt:lpstr>THE DISCRETIZATION NETWORK INFERENCE</vt:lpstr>
      <vt:lpstr>STRUCTURE PERFORMANCE METRICS</vt:lpstr>
      <vt:lpstr>METHODOLOGY</vt:lpstr>
      <vt:lpstr>DISCRETIZATION</vt:lpstr>
      <vt:lpstr>MIFS SUBROUTINE</vt:lpstr>
      <vt:lpstr>SWAP SUBROUTINE</vt:lpstr>
      <vt:lpstr>DATASETS</vt:lpstr>
      <vt:lpstr>DATASETS</vt:lpstr>
      <vt:lpstr>COMPARISON METHODS</vt:lpstr>
      <vt:lpstr>EXPERIMENTS</vt:lpstr>
      <vt:lpstr>RESULTS</vt:lpstr>
      <vt:lpstr>PROPORTION OF THREE-LEVEL ANALYSIS </vt:lpstr>
      <vt:lpstr>CASE STUDY : ARTIFICIAL DISCRETIZED DATASET </vt:lpstr>
      <vt:lpstr>CASE STUDY : ARTIFICIAL DISCRETIZED DATASET </vt:lpstr>
      <vt:lpstr>CASE STUDY : ARTIFICIAL REAL-VALUED DATASET</vt:lpstr>
      <vt:lpstr>CASE STUDY : ARTIFICIAL REAL-VALUED DATASET</vt:lpstr>
      <vt:lpstr>RUNNING TIME</vt:lpstr>
      <vt:lpstr>CONCLUSION</vt:lpstr>
      <vt:lpstr>FUTURE WORKS</vt:lpstr>
      <vt:lpstr>THANK YOU FOR LISTENING</vt:lpstr>
      <vt:lpstr>THE SETUP IN GENERATION OF DATASETS</vt:lpstr>
      <vt:lpstr>THE HILL FUNCTION</vt:lpstr>
      <vt:lpstr>ARTIFICIAL DISCRETIZED DATASET EXAMPLE</vt:lpstr>
      <vt:lpstr>ARTIFICIAL REAL-VALUED DATASET EXAMPLE</vt:lpstr>
      <vt:lpstr>DREAM CHALLENGE WEBSITE</vt:lpstr>
      <vt:lpstr>EXAMPLE OF AN OUTPUT</vt:lpstr>
      <vt:lpstr>EXAMPLE OF DIRECTED GRAPH</vt:lpstr>
      <vt:lpstr>MIFS SUBROUTINE</vt:lpstr>
      <vt:lpstr>SWAP SUBROUTINE</vt:lpstr>
      <vt:lpstr>METHODOLOGY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까오 뚜언 안</dc:creator>
  <cp:lastModifiedBy>caotuananh cao</cp:lastModifiedBy>
  <cp:revision>3</cp:revision>
  <dcterms:created xsi:type="dcterms:W3CDTF">2021-11-02T06:24:44Z</dcterms:created>
  <dcterms:modified xsi:type="dcterms:W3CDTF">2025-12-24T07:19:41Z</dcterms:modified>
</cp:coreProperties>
</file>